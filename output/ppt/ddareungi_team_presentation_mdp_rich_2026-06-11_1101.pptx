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4"/>
    <p:sldId id="273" r:id="rId25"/>
  </p:sldIdLst>
  <p:sldSz cy="6858000" cx="12191695"/>
  <p:notesSz cx="6858000" cy="12191675"/>
  <p:embeddedFontLst>
    <p:embeddedFont>
      <p:font typeface="Noto Sans KR"/>
      <p:regular r:id="rId22"/>
      <p:bold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292CB37-7CD4-4DB7-9CC5-0E02C905EFE3}">
  <a:tblStyle styleId="{3292CB37-7CD4-4DB7-9CC5-0E02C905EFE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font" Target="fonts/NotoSansKR-regular.fntdata"/><Relationship Id="rId23" Type="http://schemas.openxmlformats.org/officeDocument/2006/relationships/font" Target="fonts/NotoSansKR-bold.fntdata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eeb7f0159c_0_4:notes"/>
          <p:cNvSpPr/>
          <p:nvPr>
            <p:ph idx="2" type="sldImg"/>
          </p:nvPr>
        </p:nvSpPr>
        <p:spPr>
          <a:xfrm>
            <a:off x="685873" y="114297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g3eeb7f0159c_0_4:notes"/>
          <p:cNvSpPr txBox="1"/>
          <p:nvPr>
            <p:ph idx="1" type="body"/>
          </p:nvPr>
        </p:nvSpPr>
        <p:spPr>
          <a:xfrm>
            <a:off x="685800" y="4400433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1100">
                <a:latin typeface="Arial"/>
                <a:ea typeface="Arial"/>
                <a:cs typeface="Arial"/>
                <a:sym typeface="Arial"/>
              </a:rPr>
            </a:br>
            <a:endParaRPr/>
          </a:p>
        </p:txBody>
      </p:sp>
      <p:sp>
        <p:nvSpPr>
          <p:cNvPr id="14" name="Google Shape;14;g3eeb7f0159c_0_4:notes"/>
          <p:cNvSpPr txBox="1"/>
          <p:nvPr>
            <p:ph idx="12" type="sldNum"/>
          </p:nvPr>
        </p:nvSpPr>
        <p:spPr>
          <a:xfrm>
            <a:off x="3884613" y="8684981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" name="Google Shape;2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" name="Google Shape;5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6" name="Google Shape;76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0" name="Google Shape;10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2" name="Google Shape;12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3" name="Google Shape;173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4" name="Google Shape;244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9" name="Google Shape;259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eebf9294f4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8" name="Google Shape;288;g3eebf9294f4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eebf9294f4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3" name="Google Shape;333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2.png"/><Relationship Id="rId7" Type="http://schemas.openxmlformats.org/officeDocument/2006/relationships/image" Target="../media/image7.png"/><Relationship Id="rId8" Type="http://schemas.openxmlformats.org/officeDocument/2006/relationships/hyperlink" Target="https://github.com/handyejin/RL_PROJECT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/>
          <p:cNvSpPr txBox="1"/>
          <p:nvPr/>
        </p:nvSpPr>
        <p:spPr>
          <a:xfrm>
            <a:off x="640080" y="960120"/>
            <a:ext cx="10789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C2D47"/>
                </a:solidFill>
                <a:latin typeface="Apple SD Gothic Neo"/>
              </a:rPr>
              <a:t>수요예측과 후보 행동 구조를 이용한 서울 따릉이 재배치 강화학습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1828800"/>
            <a:ext cx="9784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6B7280"/>
                </a:solidFill>
                <a:latin typeface="Apple SD Gothic Neo"/>
              </a:rPr>
              <a:t>서울 25개 구 · 73일 chronological holdout · REINFORCE / A2C / DQN 계열 / PPO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2743200"/>
            <a:ext cx="749807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Apple SD Gothic Neo"/>
              </a:rPr>
              <a:t>박제영(A73024), 손예진(A73006), 이형진(A73031)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3127248"/>
            <a:ext cx="5943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A6ADC"/>
                </a:solidFill>
                <a:latin typeface="Apple SD Gothic Neo"/>
              </a:rPr>
              <a:t>GitHub: handyejin/RL_PROJECT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4069080"/>
            <a:ext cx="9966960" cy="11430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097280" y="4069080"/>
            <a:ext cx="54864" cy="1143000"/>
          </a:xfrm>
          <a:prstGeom prst="rect">
            <a:avLst/>
          </a:prstGeom>
          <a:solidFill>
            <a:srgbClr val="198765"/>
          </a:solidFill>
          <a:ln>
            <a:solidFill>
              <a:srgbClr val="198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261872" y="4206240"/>
            <a:ext cx="9646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발표 핵심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61872" y="4544568"/>
            <a:ext cx="9646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정류소 재고 불균형을 줄이는 순차 의사결정 문제로 따릉이 재배치를 정의하고, 수요예측 feature와 Top-K 후보 행동 구조가 강화학습 성능과 안정성에 어떤 영향을 주는지 검증한다.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발표 흐름: 문제 제기 → MDP 정의 → State/Action 개선 → 실험 설계 → 알고리즘별 결과 삽입 → 활용방안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extBox 29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팀 구성 및 역할분담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각 담당자가 수행한 구현·실험 범위를 최신 기준으로 정리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02 / 18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1417320"/>
            <a:ext cx="35204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0080" y="1417320"/>
            <a:ext cx="54864" cy="4389120"/>
          </a:xfrm>
          <a:prstGeom prst="rect">
            <a:avLst/>
          </a:prstGeom>
          <a:solidFill>
            <a:srgbClr val="2A6ADC"/>
          </a:solidFill>
          <a:ln>
            <a:solidFill>
              <a:srgbClr val="2A6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04671" y="1554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손예진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4671" y="1892808"/>
            <a:ext cx="320040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환경/데이터 전처리
State·Action·Reward 설계
Replay Viewer 및 시각화
공통 실행/README 정리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343400" y="1417320"/>
            <a:ext cx="35204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343400" y="1417320"/>
            <a:ext cx="54864" cy="4389120"/>
          </a:xfrm>
          <a:prstGeom prst="rect">
            <a:avLst/>
          </a:prstGeom>
          <a:solidFill>
            <a:srgbClr val="198765"/>
          </a:solidFill>
          <a:ln>
            <a:solidFill>
              <a:srgbClr val="198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507992" y="1554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박제영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07992" y="1892808"/>
            <a:ext cx="320040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REINFORCE with Value Baseline
A2C(1-step TD Actor-Critic)
VAE latent / Contextual Bandit
Top-K·Seed·Ablation 실험 정리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046720" y="1417320"/>
            <a:ext cx="352044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8046720" y="1417320"/>
            <a:ext cx="54864" cy="4389120"/>
          </a:xfrm>
          <a:prstGeom prst="rect">
            <a:avLst/>
          </a:prstGeom>
          <a:solidFill>
            <a:srgbClr val="D24A43"/>
          </a:solidFill>
          <a:ln>
            <a:solidFill>
              <a:srgbClr val="D2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2" y="155448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이형진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11312" y="1892808"/>
            <a:ext cx="320040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PPO / QRDQN / DQN 계열 실험
Seed 반복 및 검증 지표
통합 결과 정리
최종 발표자료 구성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역할분담은 환경·데이터, 정책 학습, 안정성 검증, 시각화/보고서 산출물 기준으로 정리했다.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Box 55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문제 정의: 왜 강화학습인가?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따릉이 재배치는 예측 문제를 넘어, 행동이 미래 상태를 바꾸는 순차 의사결정 문제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03 / 18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566928" y="1243584"/>
            <a:ext cx="361188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66928" y="1243584"/>
            <a:ext cx="54864" cy="4251960"/>
          </a:xfrm>
          <a:prstGeom prst="rect">
            <a:avLst/>
          </a:prstGeom>
          <a:solidFill>
            <a:srgbClr val="2A6ADC"/>
          </a:solidFill>
          <a:ln>
            <a:solidFill>
              <a:srgbClr val="2A6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31520" y="138074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확보한 데이터와 문제의 성격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31520" y="1719072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확보 가능 데이터:
· 정류소별 10분 대여/반납 이력
· 정류소 위치, capacity, 구 정보
· 시간/요일/날씨 정보
· ML 기반 1시간 수요예측
이 데이터로 하루 episode를 재생할 수 있고, 트럭 이동 후 다음 재고 상태를 계산할 수 있다. 그래서 단순 예측이 아니라 시뮬레이터 기반 MDP로 만들 수 있었다.</a:t>
            </a:r>
          </a:p>
        </p:txBody>
      </p:sp>
      <p:sp>
        <p:nvSpPr>
          <p:cNvPr id="64" name="Rectangle 63"/>
          <p:cNvSpPr/>
          <p:nvPr/>
        </p:nvSpPr>
        <p:spPr>
          <a:xfrm>
            <a:off x="4315968" y="1243584"/>
            <a:ext cx="361188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15968" y="1243584"/>
            <a:ext cx="54864" cy="4251960"/>
          </a:xfrm>
          <a:prstGeom prst="rect">
            <a:avLst/>
          </a:prstGeom>
          <a:solidFill>
            <a:srgbClr val="198765"/>
          </a:solidFill>
          <a:ln>
            <a:solidFill>
              <a:srgbClr val="198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480559" y="138074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왜 수요예측을 먼저 했나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80559" y="1719072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서울 전체 정류소를 그대로 action으로 두면 후보가 너무 많아진다. RL은 많은 action 중에서 시행착오로 좋은 이동을 찾아야 하므로 탐색이 매우 어려워진다.
그래서 과거 대여/반납·시간·요일·날씨로 1시간 수요를 먼저 예측하고, 이 예측값으로 ‘어디가 곧 부족/과잉이 될지’를 State와 Top-K 후보 생성에 넣었다.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65008" y="1243584"/>
            <a:ext cx="3611880" cy="425196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8065008" y="1243584"/>
            <a:ext cx="54864" cy="4251960"/>
          </a:xfrm>
          <a:prstGeom prst="rect">
            <a:avLst/>
          </a:prstGeom>
          <a:solidFill>
            <a:srgbClr val="D24A43"/>
          </a:solidFill>
          <a:ln>
            <a:solidFill>
              <a:srgbClr val="D2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8229600" y="1380744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논문 근거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229600" y="1719072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KDD 2018: hourly station-level rentals/returns 예측이 effective rebalancing의 핵심 입력이라고 설명.
Liang et al.(2024): dynamic rebalancing을 MDP로 공식화하고 reward를 lost demand의 음수로 정의.
Sutton &amp; Barto: RL은 trial-and-error search와 delayed reward가 핵심 특징.
따라서 우리는 예측값을 State로 쓰고, 재배치 선택은 RL policy로 학습했다.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786384" y="5559552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D47"/>
                </a:solidFill>
                <a:latin typeface="Apple SD Gothic Neo"/>
              </a:rPr>
              <a:t>핵심 메시지: ML은 서울 전체 수요 압력을 요약하고, RL은 그 정보를 써서 지금 이동할 정류소를 결정한다.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용어: MDP는 State-Action-Reward-Next State로 순차 의사결정을 표현하는 형식이다. Top-K는 전체 정류소 중 후보 K개만 먼저 뽑아 action을 줄이는 구조다.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TextBox 78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우리가 검증하려는 것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알고리즘 이름보다 먼저, 어떤 설계가 학습을 가능하게 했는지 확인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04 / 18</a:t>
            </a:r>
          </a:p>
        </p:txBody>
      </p:sp>
      <p:sp>
        <p:nvSpPr>
          <p:cNvPr id="82" name="Rectangle 81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777240" y="1234440"/>
            <a:ext cx="521208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777240" y="1234440"/>
            <a:ext cx="54864" cy="1170432"/>
          </a:xfrm>
          <a:prstGeom prst="rect">
            <a:avLst/>
          </a:prstGeom>
          <a:solidFill>
            <a:srgbClr val="2A6ADC"/>
          </a:solidFill>
          <a:ln>
            <a:solidFill>
              <a:srgbClr val="2A6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941832" y="137160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질문 1. 무엇을 보게 할 것인가?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941832" y="1709928"/>
            <a:ext cx="48920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현재 재고만으로 충분한가, 아니면 ML 기반 1시간 수요예측 feature가 필요한가?</a:t>
            </a:r>
          </a:p>
        </p:txBody>
      </p:sp>
      <p:sp>
        <p:nvSpPr>
          <p:cNvPr id="87" name="Rectangle 86"/>
          <p:cNvSpPr/>
          <p:nvPr/>
        </p:nvSpPr>
        <p:spPr>
          <a:xfrm>
            <a:off x="777240" y="2542032"/>
            <a:ext cx="521208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77240" y="2542032"/>
            <a:ext cx="54864" cy="1170432"/>
          </a:xfrm>
          <a:prstGeom prst="rect">
            <a:avLst/>
          </a:prstGeom>
          <a:solidFill>
            <a:srgbClr val="198765"/>
          </a:solidFill>
          <a:ln>
            <a:solidFill>
              <a:srgbClr val="198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941832" y="2679191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질문 2. 어떤 행동공간이 학습 가능한가?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941832" y="3017520"/>
            <a:ext cx="48920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서울 전체 정류소를 직접 고르면 action이 너무 커진다. 수요예측 기반 Top-K 후보 rank로 줄이면 학습이 가능한가?</a:t>
            </a:r>
          </a:p>
        </p:txBody>
      </p:sp>
      <p:sp>
        <p:nvSpPr>
          <p:cNvPr id="91" name="Rectangle 90"/>
          <p:cNvSpPr/>
          <p:nvPr/>
        </p:nvSpPr>
        <p:spPr>
          <a:xfrm>
            <a:off x="777240" y="3849624"/>
            <a:ext cx="5212080" cy="117043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777240" y="3849624"/>
            <a:ext cx="54864" cy="1170432"/>
          </a:xfrm>
          <a:prstGeom prst="rect">
            <a:avLst/>
          </a:prstGeom>
          <a:solidFill>
            <a:srgbClr val="D24A43"/>
          </a:solidFill>
          <a:ln>
            <a:solidFill>
              <a:srgbClr val="D2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941832" y="3986784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질문 3. 어떤 학습 방식이 안정적인가?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941832" y="4325112"/>
            <a:ext cx="4892040" cy="576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MC 기반 REINFORCE, TD 기반 A2C, clipped PPO, value-based DQN의 안정성을 비교한다.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6400800" y="1417320"/>
            <a:ext cx="48463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60">
                <a:solidFill>
                  <a:srgbClr val="1F2937"/>
                </a:solidFill>
                <a:latin typeface="Apple SD Gothic Neo"/>
              </a:defRPr>
            </a:pPr>
            <a:r>
              <a:t>최종 발표에서는 ‘모든 알고리즘이 항상 이겼다’가 아니라, 어떤 설계에서 어떤 알고리즘이 안정적인지 보여준다.</a:t>
            </a:r>
          </a:p>
          <a:p>
            <a:pPr>
              <a:spcAft>
                <a:spcPts val="400"/>
              </a:spcAft>
              <a:defRPr sz="1260">
                <a:solidFill>
                  <a:srgbClr val="1F2937"/>
                </a:solidFill>
                <a:latin typeface="Apple SD Gothic Neo"/>
              </a:defRPr>
            </a:pPr>
            <a:r>
              <a:t>비교 기준은 73일 holdout의 MostImbalanced 대비 Delta로 통일한다.</a:t>
            </a:r>
          </a:p>
          <a:p>
            <a:pPr>
              <a:spcAft>
                <a:spcPts val="400"/>
              </a:spcAft>
              <a:defRPr sz="1260">
                <a:solidFill>
                  <a:srgbClr val="1F2937"/>
                </a:solidFill>
                <a:latin typeface="Apple SD Gothic Neo"/>
              </a:defRPr>
            </a:pPr>
            <a:r>
              <a:t>초기 탐색 실험은 본문 결론의 근거로 쓰지 않고, 최신 공통 protocol 결과만 중심에 둔다.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86384" y="5559552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D47"/>
                </a:solidFill>
                <a:latin typeface="Apple SD Gothic Neo"/>
              </a:rPr>
              <a:t>핵심 차별점: 수요예측은 정답 행동이 아니라, 서울 전체 정류소 중 곧 불균형이 커질 후보를 압축하는 정보다.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용어: baseline은 비교 기준 정책이다. 본 발표의 baseline은 MostImbalanced로, 목표 재고에서 가장 많이 벗어난 정류소를 우선 방문하는 규칙이다.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TextBox 102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환경 및 데이터셋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서울 25개 구, 시간순 학습/평가 분할, 공공데이터 기반 전처리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05 / 18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502920" y="1161288"/>
            <a:ext cx="1417320" cy="448056"/>
          </a:xfrm>
          <a:prstGeom prst="rect">
            <a:avLst/>
          </a:prstGeom>
          <a:solidFill>
            <a:srgbClr val="1C2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48640" y="1225296"/>
            <a:ext cx="132588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ple SD Gothic Neo"/>
              </a:rPr>
              <a:t>구분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1920240" y="1161288"/>
            <a:ext cx="5715000" cy="448056"/>
          </a:xfrm>
          <a:prstGeom prst="rect">
            <a:avLst/>
          </a:prstGeom>
          <a:solidFill>
            <a:srgbClr val="1C2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1965960" y="1225296"/>
            <a:ext cx="562356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ple SD Gothic Neo"/>
              </a:rPr>
              <a:t>사이트명 / URL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7635240" y="1161288"/>
            <a:ext cx="4069080" cy="448056"/>
          </a:xfrm>
          <a:prstGeom prst="rect">
            <a:avLst/>
          </a:prstGeom>
          <a:solidFill>
            <a:srgbClr val="1C2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7680960" y="1225296"/>
            <a:ext cx="3977640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1">
                <a:solidFill>
                  <a:srgbClr val="FFFFFF"/>
                </a:solidFill>
                <a:latin typeface="Apple SD Gothic Neo"/>
              </a:rPr>
              <a:t>본 프로젝트에서의 용도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02920" y="1609344"/>
            <a:ext cx="141732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57784" y="1673352"/>
            <a:ext cx="130759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대여 이력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1920240" y="1609344"/>
            <a:ext cx="571500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1975104" y="1673352"/>
            <a:ext cx="560527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서울 열린데이터광장 OA-15182
https://data.seoul.go.kr/dataList/OA-15182/F/1/datasetView.do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635240" y="1609344"/>
            <a:ext cx="406908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690104" y="1673352"/>
            <a:ext cx="39593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정류소별 rentals/returns 집계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502920" y="2057400"/>
            <a:ext cx="141732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557784" y="2121408"/>
            <a:ext cx="130759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대여소 정보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920240" y="2057400"/>
            <a:ext cx="571500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975104" y="2121408"/>
            <a:ext cx="560527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서울 열린데이터광장 OA-13252
https://data.seoul.go.kr/dataList/OA-13252/F/1/datasetView.do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7635240" y="2057400"/>
            <a:ext cx="406908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690104" y="2121408"/>
            <a:ext cx="39593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좌표, 관리번호, capacity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502920" y="2505456"/>
            <a:ext cx="141732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557784" y="2569464"/>
            <a:ext cx="130759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실시간 재고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1920240" y="2505456"/>
            <a:ext cx="571500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1975104" y="2569464"/>
            <a:ext cx="560527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서울 열린데이터광장 OA-15493
https://data.seoul.go.kr/dataList/OA-15493/A/1/datasetView.do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7635240" y="2505456"/>
            <a:ext cx="406908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7690104" y="2569464"/>
            <a:ext cx="39593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향후 실제 운영 입력 후보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502920" y="2953512"/>
            <a:ext cx="141732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557784" y="3017520"/>
            <a:ext cx="130759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기상 정보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1920240" y="2953512"/>
            <a:ext cx="571500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1975104" y="3017520"/>
            <a:ext cx="560527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기상청 ASOS
https://data.kma.go.kr/data/grnd/selectAsosRltmList.do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7635240" y="2953512"/>
            <a:ext cx="406908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7690104" y="3017520"/>
            <a:ext cx="39593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날씨 feature / 수요예측 보조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502920" y="3401568"/>
            <a:ext cx="141732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557784" y="3465576"/>
            <a:ext cx="130759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수요예측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1920240" y="3401568"/>
            <a:ext cx="571500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1975104" y="3465576"/>
            <a:ext cx="560527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HistGradientBoostingRegressor
입력: station/time/weather/past demand/profile
출력: rentals/returns/net 1h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7635240" y="3401568"/>
            <a:ext cx="406908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7690104" y="3465576"/>
            <a:ext cx="39593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서울 전체 action 후보를 압축하는 State/Top-K feature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502920" y="3849624"/>
            <a:ext cx="141732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557784" y="3913632"/>
            <a:ext cx="130759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학습 산출물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1920240" y="3849624"/>
            <a:ext cx="571500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1975104" y="3913632"/>
            <a:ext cx="560527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data/processed_seoul_all, data/forecast_by_gu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7635240" y="3849624"/>
            <a:ext cx="4069080" cy="448056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7690104" y="3913632"/>
            <a:ext cx="3959352" cy="3566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>
                <a:solidFill>
                  <a:srgbClr val="1F2937"/>
                </a:solidFill>
                <a:latin typeface="Apple SD Gothic Neo"/>
              </a:rPr>
              <a:t>episode, forecast, cache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731520" y="5230368"/>
            <a:ext cx="10789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40" b="1">
                <a:solidFill>
                  <a:srgbClr val="1C2D47"/>
                </a:solidFill>
                <a:latin typeface="Apple SD Gothic Neo"/>
              </a:rPr>
              <a:t>수요예측 이유: 전체 정류소 action은 너무 크므로, ML이 1시간 수요 압력을 예측해 RL의 State와 Top-K 후보 생성을 돕는다.</a:t>
            </a:r>
          </a:p>
        </p:txBody>
      </p:sp>
      <p:sp>
        <p:nvSpPr>
          <p:cNvPr id="150" name="TextBox 149"/>
          <p:cNvSpPr txBox="1"/>
          <p:nvPr/>
        </p:nvSpPr>
        <p:spPr>
          <a:xfrm>
            <a:off x="731520" y="5522976"/>
            <a:ext cx="10789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C2D47"/>
                </a:solidFill>
                <a:latin typeface="Apple SD Gothic Neo"/>
              </a:rPr>
              <a:t>분할: 2025년 앞 80% train, 2025-10-20~12-31 73일 holdout eval. Random split은 미래 패턴 누수 위험이 있어 최종 비교에서 제외한다.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용어: holdout은 학습에 쓰지 않고 마지막 평가에만 남겨 둔 데이터다. 이번 기준은 2025-10-20~12-31, 73일이다.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TextBox 124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수요예측 모델링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ML forecast로 서울 전체 수요 압력을 요약하고, RL의 State와 Top-K 후보 생성에 연결</a:t>
            </a:r>
          </a:p>
        </p:txBody>
      </p:sp>
      <p:sp>
        <p:nvSpPr>
          <p:cNvPr id="127" name="TextBox 126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06 / 18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548640" y="1234440"/>
            <a:ext cx="361188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48640" y="1234440"/>
            <a:ext cx="54864" cy="4434840"/>
          </a:xfrm>
          <a:prstGeom prst="rect">
            <a:avLst/>
          </a:prstGeom>
          <a:solidFill>
            <a:srgbClr val="2A6ADC"/>
          </a:solidFill>
          <a:ln>
            <a:solidFill>
              <a:srgbClr val="2A6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713232" y="13716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입력 데이터 예시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713232" y="1709928"/>
            <a:ext cx="3291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10분 단위 정류소별 수요 집계
CSV/parquet 형태 예시:
 t              station  rentals returns
 2025-01-01    ST-1017       1       0
 2025-01-01    ST-1035       1       0
 2025-01-01    ST-1059       1       0
추가 feature:
is_weekend, holiday, 시간/요일, 과거 1h·3h 수요, 정류소별 profile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4297680" y="1234440"/>
            <a:ext cx="361188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4297680" y="1234440"/>
            <a:ext cx="54864" cy="4434840"/>
          </a:xfrm>
          <a:prstGeom prst="rect">
            <a:avLst/>
          </a:prstGeom>
          <a:solidFill>
            <a:srgbClr val="198765"/>
          </a:solidFill>
          <a:ln>
            <a:solidFill>
              <a:srgbClr val="198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4462272" y="13716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예측 모델</a:t>
            </a:r>
          </a:p>
        </p:txBody>
      </p:sp>
      <p:sp>
        <p:nvSpPr>
          <p:cNvPr id="136" name="TextBox 135"/>
          <p:cNvSpPr txBox="1"/>
          <p:nvPr/>
        </p:nvSpPr>
        <p:spPr>
          <a:xfrm>
            <a:off x="4462272" y="1709928"/>
            <a:ext cx="3291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모델: HistGradientBoostingRegressor
rentals와 returns를 별도 회귀 모델로 학습
입력 X:
station_idx, dow, hour, slot, month,
past_rent_1h, past_ret_1h,
past_rent_3h, past_ret_3h,
profile_rent_1h, profile_ret_1h
목표 y:
앞으로 6개 10분 구간, 즉 1시간 rentals/returns 합계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8046720" y="1234440"/>
            <a:ext cx="3611880" cy="443484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8046720" y="1234440"/>
            <a:ext cx="54864" cy="4434840"/>
          </a:xfrm>
          <a:prstGeom prst="rect">
            <a:avLst/>
          </a:prstGeom>
          <a:solidFill>
            <a:srgbClr val="D24A43"/>
          </a:solidFill>
          <a:ln>
            <a:solidFill>
              <a:srgbClr val="D2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8211312" y="1371600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예측 결과와 RL 연결</a:t>
            </a:r>
          </a:p>
        </p:txBody>
      </p:sp>
      <p:sp>
        <p:nvSpPr>
          <p:cNvPr id="140" name="TextBox 139"/>
          <p:cNvSpPr txBox="1"/>
          <p:nvPr/>
        </p:nvSpPr>
        <p:spPr>
          <a:xfrm>
            <a:off x="8211312" y="1709928"/>
            <a:ext cx="3291840" cy="3840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예측 산출물 예시:
 station  pred_rent pred_return pred_net
 ST-1171      0.276      0.187   -0.089
 ST-1172      0.147      0.183    0.036
 ST-1173      0.134      0.234    0.100
RL 사용처:
1. State에 미래 수요 압력 추가
2. forecast_imbalance로 Top-K 후보 생성
3. action space를 전체 정류소에서 K개 rank로 축소</a:t>
            </a:r>
          </a:p>
        </p:txBody>
      </p:sp>
      <p:sp>
        <p:nvSpPr>
          <p:cNvPr id="141" name="TextBox 140"/>
          <p:cNvSpPr txBox="1"/>
          <p:nvPr/>
        </p:nvSpPr>
        <p:spPr>
          <a:xfrm>
            <a:off x="786384" y="5632704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D47"/>
                </a:solidFill>
                <a:latin typeface="Apple SD Gothic Neo"/>
              </a:rPr>
              <a:t>핵심 메시지: 수요예측은 정답 action이 아니라, 넓은 서울 정류소 후보를 RL이 탐색 가능한 크기로 줄이는 정보 압축 단계다.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예측 대상은 실제 미래를 직접 보는 oracle이 아니라, train 기간의 과거 수요·시간 패턴으로 학습한 1시간 ahead forecast다.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TextBox 156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Hybrid 구조: 지도학습 예측 + 강화학습 정책</a:t>
            </a:r>
          </a:p>
        </p:txBody>
      </p:sp>
      <p:sp>
        <p:nvSpPr>
          <p:cNvPr id="158" name="TextBox 157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수요예측 모델과 RL agent를 분리해, 예측은 정보로 쓰고 행동은 reward로 학습</a:t>
            </a:r>
          </a:p>
        </p:txBody>
      </p:sp>
      <p:sp>
        <p:nvSpPr>
          <p:cNvPr id="159" name="TextBox 158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07 / 18</a:t>
            </a:r>
          </a:p>
        </p:txBody>
      </p:sp>
      <p:sp>
        <p:nvSpPr>
          <p:cNvPr id="160" name="Rectangle 159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66928" y="1234440"/>
            <a:ext cx="3456432" cy="4407408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566928" y="1234440"/>
            <a:ext cx="54864" cy="4407408"/>
          </a:xfrm>
          <a:prstGeom prst="rect">
            <a:avLst/>
          </a:prstGeom>
          <a:solidFill>
            <a:srgbClr val="2A6ADC"/>
          </a:solidFill>
          <a:ln>
            <a:solidFill>
              <a:srgbClr val="2A6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TextBox 162"/>
          <p:cNvSpPr txBox="1"/>
          <p:nvPr/>
        </p:nvSpPr>
        <p:spPr>
          <a:xfrm>
            <a:off x="731520" y="1371600"/>
            <a:ext cx="3136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1단계: Supervised Forecasting</a:t>
            </a:r>
          </a:p>
        </p:txBody>
      </p:sp>
      <p:sp>
        <p:nvSpPr>
          <p:cNvPr id="164" name="TextBox 163"/>
          <p:cNvSpPr txBox="1"/>
          <p:nvPr/>
        </p:nvSpPr>
        <p:spPr>
          <a:xfrm>
            <a:off x="731520" y="1709928"/>
            <a:ext cx="3136391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목표:
정류소별 향후 1시간 rentals/returns 예측
입력:
과거 대여/반납, 시간/요일, 정류소 profile, 날씨
모델:
HistGradientBoostingRegressor
산출:
pred_rentals_1h, pred_returns_1h, pred_net_1h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4370832" y="1234440"/>
            <a:ext cx="3456432" cy="4407408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4370832" y="1234440"/>
            <a:ext cx="54864" cy="4407408"/>
          </a:xfrm>
          <a:prstGeom prst="rect">
            <a:avLst/>
          </a:prstGeom>
          <a:solidFill>
            <a:srgbClr val="198765"/>
          </a:solidFill>
          <a:ln>
            <a:solidFill>
              <a:srgbClr val="198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TextBox 166"/>
          <p:cNvSpPr txBox="1"/>
          <p:nvPr/>
        </p:nvSpPr>
        <p:spPr>
          <a:xfrm>
            <a:off x="4535424" y="1371600"/>
            <a:ext cx="3136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2단계: RL Policy Learning</a:t>
            </a:r>
          </a:p>
        </p:txBody>
      </p:sp>
      <p:sp>
        <p:nvSpPr>
          <p:cNvPr id="168" name="TextBox 167"/>
          <p:cNvSpPr txBox="1"/>
          <p:nvPr/>
        </p:nvSpPr>
        <p:spPr>
          <a:xfrm>
            <a:off x="4535424" y="1709928"/>
            <a:ext cx="3136391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목표:
누적 reward가 좋은 재배치 정책 학습
입력 State:
현재 재고 + capacity + 트럭 상태 + 수요예측 feature
Action:
Top-K 후보 rank 선택
Reward:
stockout/full/travel cost 최소화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183879" y="1234440"/>
            <a:ext cx="3456432" cy="4407408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8183879" y="1234440"/>
            <a:ext cx="54864" cy="4407408"/>
          </a:xfrm>
          <a:prstGeom prst="rect">
            <a:avLst/>
          </a:prstGeom>
          <a:solidFill>
            <a:srgbClr val="D24A43"/>
          </a:solidFill>
          <a:ln>
            <a:solidFill>
              <a:srgbClr val="D2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TextBox 170"/>
          <p:cNvSpPr txBox="1"/>
          <p:nvPr/>
        </p:nvSpPr>
        <p:spPr>
          <a:xfrm>
            <a:off x="8348471" y="1371600"/>
            <a:ext cx="3136391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근거와 해석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8348471" y="1709928"/>
            <a:ext cx="3136391" cy="381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KDD 2018은 정류소별 hourly rentals/returns 예측이 effective rebalancing의 핵심 입력이라고 설명한다.
최근 PPO 기반 bike rebalancing 연구도 historical usage, station attributes, weather, demand forecasts를 state로 사용한다.
즉 예측 모델은 정책을 대체하지 않고, RL이 볼 수 있는 미래 수요 정보를 제공한다.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86384" y="5614416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D47"/>
                </a:solidFill>
                <a:latin typeface="Apple SD Gothic Neo"/>
              </a:rPr>
              <a:t>핵심 메시지: 이 프로젝트는 ‘지도학습 vs 강화학습’이 아니라, 지도학습 예측을 RL 의사결정에 연결한 Hybrid pipeline이다.</a:t>
            </a:r>
          </a:p>
        </p:txBody>
      </p:sp>
      <p:sp>
        <p:nvSpPr>
          <p:cNvPr id="174" name="Rectangle 173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TextBox 174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용어: Hybrid는 수요예측 모델이 행동을 직접 결정하지 않고, 예측값을 RL의 State/후보 생성 feature로 넘겨 정책 학습을 돕는 구조를 뜻한다.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75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MDP 설계: State · Action · Reward</a:t>
            </a:r>
          </a:p>
        </p:txBody>
      </p:sp>
      <p:sp>
        <p:nvSpPr>
          <p:cNvPr id="177" name="TextBox 176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과제 평가의 핵심: 문제를 어떤 MDP로 만들었는지 명확히 설명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08 / 18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548640" y="1261872"/>
            <a:ext cx="36118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548640" y="1261872"/>
            <a:ext cx="54864" cy="4297680"/>
          </a:xfrm>
          <a:prstGeom prst="rect">
            <a:avLst/>
          </a:prstGeom>
          <a:solidFill>
            <a:srgbClr val="2A6ADC"/>
          </a:solidFill>
          <a:ln>
            <a:solidFill>
              <a:srgbClr val="2A6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713232" y="1399031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State: 무엇을 보나</a:t>
            </a:r>
          </a:p>
        </p:txBody>
      </p:sp>
      <p:sp>
        <p:nvSpPr>
          <p:cNvPr id="183" name="TextBox 182"/>
          <p:cNvSpPr txBox="1"/>
          <p:nvPr/>
        </p:nvSpPr>
        <p:spPr>
          <a:xfrm>
            <a:off x="713232" y="1737360"/>
            <a:ext cx="32918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현재 재고 비율 bikes/capacity
정류소별 capacity
트럭 위치·적재량
시간/요일/날씨
ML 예측값: pred_rentals_1h, pred_returns_1h, pred_net_1h
구별 정류소 수가 달라 obs_dim도 다르며, 각 구별 독립 episode로 학습/평가한다.</a:t>
            </a:r>
          </a:p>
        </p:txBody>
      </p:sp>
      <p:sp>
        <p:nvSpPr>
          <p:cNvPr id="184" name="Rectangle 183"/>
          <p:cNvSpPr/>
          <p:nvPr/>
        </p:nvSpPr>
        <p:spPr>
          <a:xfrm>
            <a:off x="4297680" y="1261872"/>
            <a:ext cx="36118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297680" y="1261872"/>
            <a:ext cx="54864" cy="4297680"/>
          </a:xfrm>
          <a:prstGeom prst="rect">
            <a:avLst/>
          </a:prstGeom>
          <a:solidFill>
            <a:srgbClr val="198765"/>
          </a:solidFill>
          <a:ln>
            <a:solidFill>
              <a:srgbClr val="198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4462272" y="1399031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Action: 무엇을 선택하나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4462272" y="1737360"/>
            <a:ext cx="32918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서울 전체 정류소 직접 선택 대신 Top-K 후보 rank 선택
candidate_score = forecast_imbalance
  - 0.20 × distance
  - 1.0 × zone_penalty
Dulac-Arnold et al.(2015)는 큰 이산 action space가 기존 RL 적용을 어렵게 만든다고 지적한다. Action Elimination 연구도 불필요한 action 제거가 학습을 개선한다고 보고한다.</a:t>
            </a:r>
          </a:p>
        </p:txBody>
      </p:sp>
      <p:sp>
        <p:nvSpPr>
          <p:cNvPr id="188" name="Rectangle 187"/>
          <p:cNvSpPr/>
          <p:nvPr/>
        </p:nvSpPr>
        <p:spPr>
          <a:xfrm>
            <a:off x="8046720" y="1261872"/>
            <a:ext cx="3611880" cy="429768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8046720" y="1261872"/>
            <a:ext cx="54864" cy="4297680"/>
          </a:xfrm>
          <a:prstGeom prst="rect">
            <a:avLst/>
          </a:prstGeom>
          <a:solidFill>
            <a:srgbClr val="D24A43"/>
          </a:solidFill>
          <a:ln>
            <a:solidFill>
              <a:srgbClr val="D2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8211312" y="1399031"/>
            <a:ext cx="32918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Reward: 무엇을 줄이나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8211312" y="1737360"/>
            <a:ext cx="3291840" cy="3703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r_t = -1.0×stockout
      -0.8×full
      -0.008×travel_km
      -0.002×travel_step
평가 시 urgent_bonus=0, shaping_scale=0으로 공정 metric만 사용한다.
근거: 동적 재배치 연구의 목표는 lost demand / availability failure를 줄이는 것이다.</a:t>
            </a:r>
          </a:p>
        </p:txBody>
      </p:sp>
      <p:sp>
        <p:nvSpPr>
          <p:cNvPr id="192" name="TextBox 191"/>
          <p:cNvSpPr txBox="1"/>
          <p:nvPr/>
        </p:nvSpPr>
        <p:spPr>
          <a:xfrm>
            <a:off x="786384" y="5641848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D47"/>
                </a:solidFill>
                <a:latin typeface="Apple SD Gothic Neo"/>
              </a:rPr>
              <a:t>참고문헌 연결: State는 수요예측 연구, Action은 large discrete action space 연구, Reward는 lost demand 최소화 연구와 직접 연결된다.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용어: Top-K는 정답을 주는 알고리즘이 아니라, 전체 정류소 중 후보 K개를 뽑아 RL이 rank를 선택하게 하는 action 구조다.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Box 185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Reward가 발생하는 상황 예시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좋은 행동은 대여/반납 실패와 불필요한 이동을 줄여 누적 reward를 높인다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09 / 18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685800" y="1298448"/>
            <a:ext cx="342900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685800" y="1298448"/>
            <a:ext cx="54864" cy="3977639"/>
          </a:xfrm>
          <a:prstGeom prst="rect">
            <a:avLst/>
          </a:prstGeom>
          <a:solidFill>
            <a:srgbClr val="D24A43"/>
          </a:solidFill>
          <a:ln>
            <a:solidFill>
              <a:srgbClr val="D2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850392" y="1435607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Stockout penalty</a:t>
            </a:r>
          </a:p>
        </p:txBody>
      </p:sp>
      <p:sp>
        <p:nvSpPr>
          <p:cNvPr id="193" name="TextBox 192"/>
          <p:cNvSpPr txBox="1"/>
          <p:nvPr/>
        </p:nvSpPr>
        <p:spPr>
          <a:xfrm>
            <a:off x="850392" y="1773936"/>
            <a:ext cx="31089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정류소에 자전거가 부족해 대여 수요를 처리하지 못하면 음수 보상.
예: 출근 시간 수요가 큰 정류소를 방치하면 다음 step에서 stockout 증가.
논문 연결: lost rentals / unsatisfied demand를 줄이는 것이 BSS 운영자의 핵심 목표.</a:t>
            </a:r>
          </a:p>
        </p:txBody>
      </p:sp>
      <p:sp>
        <p:nvSpPr>
          <p:cNvPr id="194" name="Rectangle 193"/>
          <p:cNvSpPr/>
          <p:nvPr/>
        </p:nvSpPr>
        <p:spPr>
          <a:xfrm>
            <a:off x="4389120" y="1298448"/>
            <a:ext cx="342900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4389120" y="1298448"/>
            <a:ext cx="54864" cy="3977639"/>
          </a:xfrm>
          <a:prstGeom prst="rect">
            <a:avLst/>
          </a:prstGeom>
          <a:solidFill>
            <a:srgbClr val="2A6ADC"/>
          </a:solidFill>
          <a:ln>
            <a:solidFill>
              <a:srgbClr val="2A6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4553712" y="1435607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Full penalty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4553712" y="1773936"/>
            <a:ext cx="31089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거치대가 가득 차 반납 수요를 처리하지 못하면 음수 보상.
예: 반납이 몰리는 역세권을 비워두지 않으면 full 증가.
논문 연결: full or empty stations가 서비스 신뢰도를 떨어뜨리는 주요 원인.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8092440" y="1298448"/>
            <a:ext cx="342900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8092440" y="1298448"/>
            <a:ext cx="54864" cy="3977639"/>
          </a:xfrm>
          <a:prstGeom prst="rect">
            <a:avLst/>
          </a:prstGeom>
          <a:solidFill>
            <a:srgbClr val="198765"/>
          </a:solidFill>
          <a:ln>
            <a:solidFill>
              <a:srgbClr val="198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8257031" y="1435607"/>
            <a:ext cx="31089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Travel cost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8257031" y="1773936"/>
            <a:ext cx="3108960" cy="33832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먼 정류소로 이동할수록 비용이 증가.
모델은 큰 불균형을 줄이되 이동거리도 함께 고려해야 한다.
논문 연결: vehicle-based rebalancing은 운영비와 routing cost를 함께 고려해야 하는 문제.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53212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D47"/>
                </a:solidFill>
                <a:latin typeface="Apple SD Gothic Neo"/>
              </a:rPr>
              <a:t>핵심 메시지: reward가 즉시 좋은/나쁜 행동을 알려주지 않기 때문에 credit assignment가 어렵다.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용어: episode는 하루 시뮬레이션 한 번이다. step마다 대여/반납 수요와 트럭 이동을 반영해 next state를 계산하고, 하루 reward 합으로 평가한다.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TextBox 208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비교 알고리즘 개요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각 알고리즘의 업데이트 방식과 기대 특성을 분리해서 설명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10 / 18</a:t>
            </a:r>
          </a:p>
        </p:txBody>
      </p:sp>
      <p:sp>
        <p:nvSpPr>
          <p:cNvPr id="212" name="Rectangle 211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502920" y="1225296"/>
            <a:ext cx="1828800" cy="457200"/>
          </a:xfrm>
          <a:prstGeom prst="rect">
            <a:avLst/>
          </a:prstGeom>
          <a:solidFill>
            <a:srgbClr val="1C2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48640" y="1289304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ple SD Gothic Neo"/>
              </a:rPr>
              <a:t>알고리즘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2331720" y="1225296"/>
            <a:ext cx="3200400" cy="457200"/>
          </a:xfrm>
          <a:prstGeom prst="rect">
            <a:avLst/>
          </a:prstGeom>
          <a:solidFill>
            <a:srgbClr val="1C2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2377439" y="1289304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ple SD Gothic Neo"/>
              </a:rPr>
              <a:t>핵심 방식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5532120" y="1225296"/>
            <a:ext cx="2194560" cy="457200"/>
          </a:xfrm>
          <a:prstGeom prst="rect">
            <a:avLst/>
          </a:prstGeom>
          <a:solidFill>
            <a:srgbClr val="1C2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5577840" y="12893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ple SD Gothic Neo"/>
              </a:rPr>
              <a:t>업데이트 단위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7726679" y="1225296"/>
            <a:ext cx="3931920" cy="457200"/>
          </a:xfrm>
          <a:prstGeom prst="rect">
            <a:avLst/>
          </a:prstGeom>
          <a:solidFill>
            <a:srgbClr val="1C2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7772400" y="1289304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19" b="1">
                <a:solidFill>
                  <a:srgbClr val="FFFFFF"/>
                </a:solidFill>
                <a:latin typeface="Apple SD Gothic Neo"/>
              </a:rPr>
              <a:t>발표 포인트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502920" y="1682496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557784" y="1746504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REINFORCE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2331720" y="1682496"/>
            <a:ext cx="3200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2386584" y="1746504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Reward-to-go + Value baseline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5532120" y="1682496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5586983" y="1746504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Episode 종료 후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7726679" y="1682496"/>
            <a:ext cx="3931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7781544" y="1746504"/>
            <a:ext cx="38221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MC라 seed/trajectory 분산이 큼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502920" y="2139696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557784" y="2203703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A2C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2331720" y="2139696"/>
            <a:ext cx="3200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2386584" y="2203703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Actor-Critic, 1-step TD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5532120" y="2139696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5586983" y="2203703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Step/batch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7726679" y="2139696"/>
            <a:ext cx="3931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7781544" y="2203703"/>
            <a:ext cx="38221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Actor/Critic 독립 optimizer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502920" y="2596896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557784" y="2660903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DQN 계열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2331720" y="2596896"/>
            <a:ext cx="3200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2386584" y="2660903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Double DQN / QRDQN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5532120" y="2596896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5586983" y="2660903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Replay sample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7726679" y="2596896"/>
            <a:ext cx="3931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7781544" y="2660903"/>
            <a:ext cx="38221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rank action에서 Q target 학습 난이도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502920" y="3054096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557784" y="3118103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PPO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2331720" y="3054096"/>
            <a:ext cx="3200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2386584" y="3118103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Clipped actor-critic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5532120" y="3054096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5586983" y="3118103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Rollout batch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7726679" y="3054096"/>
            <a:ext cx="3931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7781544" y="3118103"/>
            <a:ext cx="38221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policy update 변화 폭 제한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502920" y="3511296"/>
            <a:ext cx="18288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557784" y="3575303"/>
            <a:ext cx="17190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LinUCB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2331720" y="3511296"/>
            <a:ext cx="320040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2386584" y="3575303"/>
            <a:ext cx="3090672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Contextual Bandit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5532120" y="3511296"/>
            <a:ext cx="219456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5586983" y="3575303"/>
            <a:ext cx="208483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즉시 reward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7726679" y="3511296"/>
            <a:ext cx="3931920" cy="4572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7781544" y="3575303"/>
            <a:ext cx="3822191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19" b="0">
                <a:solidFill>
                  <a:srgbClr val="1F2937"/>
                </a:solidFill>
                <a:latin typeface="Apple SD Gothic Neo"/>
              </a:rPr>
              <a:t>장기 return을 보지 못하는 한계</a:t>
            </a:r>
          </a:p>
        </p:txBody>
      </p:sp>
      <p:sp>
        <p:nvSpPr>
          <p:cNvPr id="261" name="TextBox 260"/>
          <p:cNvSpPr txBox="1"/>
          <p:nvPr/>
        </p:nvSpPr>
        <p:spPr>
          <a:xfrm>
            <a:off x="786384" y="5468112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D47"/>
                </a:solidFill>
                <a:latin typeface="Apple SD Gothic Neo"/>
              </a:rPr>
              <a:t>참고문헌 연결: PPO는 clipped surrogate objective로 policy update가 과도하게 바뀌지 않도록 제한한다.</a:t>
            </a:r>
          </a:p>
        </p:txBody>
      </p:sp>
      <p:sp>
        <p:nvSpPr>
          <p:cNvPr id="262" name="Rectangle 261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TextBox 262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용어: Seed는 난수 초기값이다. 같은 코드라도 seed가 달라지면 초기 가중치와 sampling 순서가 달라져 결과가 흔들릴 수 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TextBox 230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실험 설계: Sequential Screening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Train reward가 아니라 holdout 평가 reward로 후보를 좁히고 확인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11 / 18</a:t>
            </a:r>
          </a:p>
        </p:txBody>
      </p:sp>
      <p:sp>
        <p:nvSpPr>
          <p:cNvPr id="234" name="Rectangle 233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685800" y="1261872"/>
            <a:ext cx="333756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685800" y="1261872"/>
            <a:ext cx="54864" cy="1481328"/>
          </a:xfrm>
          <a:prstGeom prst="rect">
            <a:avLst/>
          </a:prstGeom>
          <a:solidFill>
            <a:srgbClr val="2A6ADC"/>
          </a:solidFill>
          <a:ln>
            <a:solidFill>
              <a:srgbClr val="2A6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TextBox 236"/>
          <p:cNvSpPr txBox="1"/>
          <p:nvPr/>
        </p:nvSpPr>
        <p:spPr>
          <a:xfrm>
            <a:off x="850392" y="1399031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1. Full baseline</a:t>
            </a:r>
          </a:p>
        </p:txBody>
      </p:sp>
      <p:sp>
        <p:nvSpPr>
          <p:cNvPr id="238" name="TextBox 237"/>
          <p:cNvSpPr txBox="1"/>
          <p:nvPr/>
        </p:nvSpPr>
        <p:spPr>
          <a:xfrm>
            <a:off x="850392" y="1737360"/>
            <a:ext cx="3017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25개 구 전체, 기본 Top-K, seed 42로 전체 경향 확인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4389120" y="1261872"/>
            <a:ext cx="333756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4389120" y="1261872"/>
            <a:ext cx="54864" cy="1481328"/>
          </a:xfrm>
          <a:prstGeom prst="rect">
            <a:avLst/>
          </a:prstGeom>
          <a:solidFill>
            <a:srgbClr val="198765"/>
          </a:solidFill>
          <a:ln>
            <a:solidFill>
              <a:srgbClr val="198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TextBox 240"/>
          <p:cNvSpPr txBox="1"/>
          <p:nvPr/>
        </p:nvSpPr>
        <p:spPr>
          <a:xfrm>
            <a:off x="4553712" y="1399031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2. Best/Worst 선정</a:t>
            </a:r>
          </a:p>
        </p:txBody>
      </p:sp>
      <p:sp>
        <p:nvSpPr>
          <p:cNvPr id="242" name="TextBox 241"/>
          <p:cNvSpPr txBox="1"/>
          <p:nvPr/>
        </p:nvSpPr>
        <p:spPr>
          <a:xfrm>
            <a:off x="4553712" y="1737360"/>
            <a:ext cx="3017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Best Delta 기준 상·하위 구를 뽑아 민감도 분석 대상 구성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8092440" y="1261872"/>
            <a:ext cx="333756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8092440" y="1261872"/>
            <a:ext cx="54864" cy="1481328"/>
          </a:xfrm>
          <a:prstGeom prst="rect">
            <a:avLst/>
          </a:prstGeom>
          <a:solidFill>
            <a:srgbClr val="D24A43"/>
          </a:solidFill>
          <a:ln>
            <a:solidFill>
              <a:srgbClr val="D2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TextBox 244"/>
          <p:cNvSpPr txBox="1"/>
          <p:nvPr/>
        </p:nvSpPr>
        <p:spPr>
          <a:xfrm>
            <a:off x="8257031" y="1399031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3. Top-K ablation</a:t>
            </a:r>
          </a:p>
        </p:txBody>
      </p:sp>
      <p:sp>
        <p:nvSpPr>
          <p:cNvPr id="246" name="TextBox 245"/>
          <p:cNvSpPr txBox="1"/>
          <p:nvPr/>
        </p:nvSpPr>
        <p:spPr>
          <a:xfrm>
            <a:off x="8257031" y="1737360"/>
            <a:ext cx="3017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K=3/6/9/12/15를 비교해 action 후보 수 영향 확인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685800" y="3291840"/>
            <a:ext cx="333756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685800" y="3291840"/>
            <a:ext cx="54864" cy="1481328"/>
          </a:xfrm>
          <a:prstGeom prst="rect">
            <a:avLst/>
          </a:prstGeom>
          <a:solidFill>
            <a:srgbClr val="2A6ADC"/>
          </a:solidFill>
          <a:ln>
            <a:solidFill>
              <a:srgbClr val="2A6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TextBox 248"/>
          <p:cNvSpPr txBox="1"/>
          <p:nvPr/>
        </p:nvSpPr>
        <p:spPr>
          <a:xfrm>
            <a:off x="850392" y="34290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4. Confirmation</a:t>
            </a:r>
          </a:p>
        </p:txBody>
      </p:sp>
      <p:sp>
        <p:nvSpPr>
          <p:cNvPr id="250" name="TextBox 249"/>
          <p:cNvSpPr txBox="1"/>
          <p:nvPr/>
        </p:nvSpPr>
        <p:spPr>
          <a:xfrm>
            <a:off x="850392" y="3767328"/>
            <a:ext cx="3017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선택된 K를 500 episode 또는 충분한 step으로 재확인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4389120" y="3291840"/>
            <a:ext cx="333756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4389120" y="3291840"/>
            <a:ext cx="54864" cy="1481328"/>
          </a:xfrm>
          <a:prstGeom prst="rect">
            <a:avLst/>
          </a:prstGeom>
          <a:solidFill>
            <a:srgbClr val="198765"/>
          </a:solidFill>
          <a:ln>
            <a:solidFill>
              <a:srgbClr val="198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TextBox 252"/>
          <p:cNvSpPr txBox="1"/>
          <p:nvPr/>
        </p:nvSpPr>
        <p:spPr>
          <a:xfrm>
            <a:off x="4553712" y="34290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5. Seed validation</a:t>
            </a:r>
          </a:p>
        </p:txBody>
      </p:sp>
      <p:sp>
        <p:nvSpPr>
          <p:cNvPr id="254" name="TextBox 253"/>
          <p:cNvSpPr txBox="1"/>
          <p:nvPr/>
        </p:nvSpPr>
        <p:spPr>
          <a:xfrm>
            <a:off x="4553712" y="3767328"/>
            <a:ext cx="3017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seed 42/123/777 반복으로 평균·표준편차 확인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8092440" y="3291840"/>
            <a:ext cx="3337560" cy="1481328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8092440" y="3291840"/>
            <a:ext cx="54864" cy="1481328"/>
          </a:xfrm>
          <a:prstGeom prst="rect">
            <a:avLst/>
          </a:prstGeom>
          <a:solidFill>
            <a:srgbClr val="D24A43"/>
          </a:solidFill>
          <a:ln>
            <a:solidFill>
              <a:srgbClr val="D2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TextBox 256"/>
          <p:cNvSpPr txBox="1"/>
          <p:nvPr/>
        </p:nvSpPr>
        <p:spPr>
          <a:xfrm>
            <a:off x="8257031" y="3429000"/>
            <a:ext cx="3017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6. Final run</a:t>
            </a:r>
          </a:p>
        </p:txBody>
      </p:sp>
      <p:sp>
        <p:nvSpPr>
          <p:cNvPr id="258" name="TextBox 257"/>
          <p:cNvSpPr txBox="1"/>
          <p:nvPr/>
        </p:nvSpPr>
        <p:spPr>
          <a:xfrm>
            <a:off x="8257031" y="3767328"/>
            <a:ext cx="3017520" cy="8869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선택 조건으로 전체 25개 구 최종 실행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786384" y="5440680"/>
            <a:ext cx="10607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C2D47"/>
                </a:solidFill>
                <a:latin typeface="Apple SD Gothic Neo"/>
              </a:rPr>
              <a:t>핵심 메시지: 학습 중 train reward가 높아도 일반화가 보장되지 않으므로, 별도 holdout episode 평가로 비교한다.</a:t>
            </a:r>
          </a:p>
        </p:txBody>
      </p:sp>
      <p:sp>
        <p:nvSpPr>
          <p:cNvPr id="260" name="Rectangle 259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TextBox 260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용어: Train reward는 학습에 사용한 episode의 보상이고, holdout eval reward는 학습에 쓰지 않은 날짜에서 정책을 실행해 얻은 보상이다.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TextBox 246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평가 지표</a:t>
            </a:r>
          </a:p>
        </p:txBody>
      </p:sp>
      <p:sp>
        <p:nvSpPr>
          <p:cNvPr id="248" name="TextBox 247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Train reward가 아니라 holdout episode 평가 reward로 비교</a:t>
            </a:r>
          </a:p>
        </p:txBody>
      </p:sp>
      <p:sp>
        <p:nvSpPr>
          <p:cNvPr id="249" name="TextBox 248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12 / 18</a:t>
            </a:r>
          </a:p>
        </p:txBody>
      </p:sp>
      <p:sp>
        <p:nvSpPr>
          <p:cNvPr id="250" name="Rectangle 249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777240" y="1234440"/>
            <a:ext cx="2057400" cy="438912"/>
          </a:xfrm>
          <a:prstGeom prst="rect">
            <a:avLst/>
          </a:prstGeom>
          <a:solidFill>
            <a:srgbClr val="1C2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822960" y="1298448"/>
            <a:ext cx="1965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</a:rPr>
              <a:t>지표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2834640" y="1234440"/>
            <a:ext cx="4251960" cy="438912"/>
          </a:xfrm>
          <a:prstGeom prst="rect">
            <a:avLst/>
          </a:prstGeom>
          <a:solidFill>
            <a:srgbClr val="1C2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2880360" y="1298448"/>
            <a:ext cx="4160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</a:rPr>
              <a:t>정의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7086600" y="1234440"/>
            <a:ext cx="4297680" cy="438912"/>
          </a:xfrm>
          <a:prstGeom prst="rect">
            <a:avLst/>
          </a:prstGeom>
          <a:solidFill>
            <a:srgbClr val="1C2D4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7132320" y="1298448"/>
            <a:ext cx="42062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>
                <a:solidFill>
                  <a:srgbClr val="FFFFFF"/>
                </a:solidFill>
                <a:latin typeface="Apple SD Gothic Neo"/>
              </a:rPr>
              <a:t>왜 필요한가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777240" y="1673352"/>
            <a:ext cx="2057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832103" y="1737360"/>
            <a:ext cx="1947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Mean Reward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2834640" y="1673352"/>
            <a:ext cx="42519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2889504" y="1737360"/>
            <a:ext cx="4142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73일 holdout 평균 누적 reward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7086600" y="1673352"/>
            <a:ext cx="4297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7141464" y="1737360"/>
            <a:ext cx="4187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평가 기간 전체 성능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777240" y="2112264"/>
            <a:ext cx="2057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832103" y="2176272"/>
            <a:ext cx="1947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Delta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2834640" y="2112264"/>
            <a:ext cx="42519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2889504" y="2176272"/>
            <a:ext cx="4142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Model reward - MostImbalanced reward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7086600" y="2112264"/>
            <a:ext cx="4297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7141464" y="2176272"/>
            <a:ext cx="4187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구별 reward scale 차이 완화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777240" y="2551176"/>
            <a:ext cx="2057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832103" y="2615184"/>
            <a:ext cx="1947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Best checkpoint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2834640" y="2551176"/>
            <a:ext cx="42519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2889504" y="2615184"/>
            <a:ext cx="4142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중간 평가 중 최고 모델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7086600" y="2551176"/>
            <a:ext cx="4297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7141464" y="2615184"/>
            <a:ext cx="4187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논문식 model selection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777240" y="2990088"/>
            <a:ext cx="2057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832103" y="3054096"/>
            <a:ext cx="1947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Final checkpoint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2834640" y="2990088"/>
            <a:ext cx="42519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2889504" y="3054096"/>
            <a:ext cx="4142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마지막 모델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7086600" y="2990088"/>
            <a:ext cx="4297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7141464" y="3054096"/>
            <a:ext cx="4187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학습 안정성 확인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777240" y="3429000"/>
            <a:ext cx="2057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832103" y="3493008"/>
            <a:ext cx="1947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Best-Final gap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2834640" y="3429000"/>
            <a:ext cx="42519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2889504" y="3493008"/>
            <a:ext cx="4142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Best와 Final 차이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7086600" y="3429000"/>
            <a:ext cx="4297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7141464" y="3493008"/>
            <a:ext cx="4187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forgetting/불안정성 진단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777240" y="3867912"/>
            <a:ext cx="2057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832103" y="3931920"/>
            <a:ext cx="1947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Seed std</a:t>
            </a:r>
          </a:p>
        </p:txBody>
      </p:sp>
      <p:sp>
        <p:nvSpPr>
          <p:cNvPr id="289" name="Rectangle 288"/>
          <p:cNvSpPr/>
          <p:nvPr/>
        </p:nvSpPr>
        <p:spPr>
          <a:xfrm>
            <a:off x="2834640" y="3867912"/>
            <a:ext cx="42519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2889504" y="3931920"/>
            <a:ext cx="4142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같은 구에서 seed별 표준편차</a:t>
            </a:r>
          </a:p>
        </p:txBody>
      </p:sp>
      <p:sp>
        <p:nvSpPr>
          <p:cNvPr id="291" name="Rectangle 290"/>
          <p:cNvSpPr/>
          <p:nvPr/>
        </p:nvSpPr>
        <p:spPr>
          <a:xfrm>
            <a:off x="7086600" y="3867912"/>
            <a:ext cx="4297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2" name="TextBox 291"/>
          <p:cNvSpPr txBox="1"/>
          <p:nvPr/>
        </p:nvSpPr>
        <p:spPr>
          <a:xfrm>
            <a:off x="7141464" y="3931920"/>
            <a:ext cx="4187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재현성과 민감도 평가</a:t>
            </a:r>
          </a:p>
        </p:txBody>
      </p:sp>
      <p:sp>
        <p:nvSpPr>
          <p:cNvPr id="293" name="Rectangle 292"/>
          <p:cNvSpPr/>
          <p:nvPr/>
        </p:nvSpPr>
        <p:spPr>
          <a:xfrm>
            <a:off x="777240" y="4306824"/>
            <a:ext cx="205740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832103" y="4370832"/>
            <a:ext cx="194767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PPO diagnostics</a:t>
            </a:r>
          </a:p>
        </p:txBody>
      </p:sp>
      <p:sp>
        <p:nvSpPr>
          <p:cNvPr id="295" name="Rectangle 294"/>
          <p:cNvSpPr/>
          <p:nvPr/>
        </p:nvSpPr>
        <p:spPr>
          <a:xfrm>
            <a:off x="2834640" y="4306824"/>
            <a:ext cx="425196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TextBox 295"/>
          <p:cNvSpPr txBox="1"/>
          <p:nvPr/>
        </p:nvSpPr>
        <p:spPr>
          <a:xfrm>
            <a:off x="2889504" y="4370832"/>
            <a:ext cx="41422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approx_kl, clip_fraction, entropy</a:t>
            </a:r>
          </a:p>
        </p:txBody>
      </p:sp>
      <p:sp>
        <p:nvSpPr>
          <p:cNvPr id="297" name="Rectangle 296"/>
          <p:cNvSpPr/>
          <p:nvPr/>
        </p:nvSpPr>
        <p:spPr>
          <a:xfrm>
            <a:off x="7086600" y="4306824"/>
            <a:ext cx="4297680" cy="438912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7141464" y="4370832"/>
            <a:ext cx="418795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1F2937"/>
                </a:solidFill>
                <a:latin typeface="Apple SD Gothic Neo"/>
              </a:rPr>
              <a:t>clipped update와 정책 변화량 확인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TextBox 299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용어: 승리 구 수는 Delta &gt; 0인 구의 개수다. Best checkpoint는 학습 중 평가가 가장 좋았던 모델, Final checkpoint는 마지막 모델이다.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TextBox 261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전체 결과 표 삽입 위치</a:t>
            </a:r>
          </a:p>
        </p:txBody>
      </p:sp>
      <p:sp>
        <p:nvSpPr>
          <p:cNvPr id="263" name="TextBox 26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이 장은 각 담당자가 최신 73일 holdout 결과를 넣는 공통 템플릿</a:t>
            </a:r>
          </a:p>
        </p:txBody>
      </p:sp>
      <p:sp>
        <p:nvSpPr>
          <p:cNvPr id="264" name="TextBox 263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13 / 18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731520" y="1261872"/>
            <a:ext cx="530352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731520" y="1261872"/>
            <a:ext cx="54864" cy="4114800"/>
          </a:xfrm>
          <a:prstGeom prst="rect">
            <a:avLst/>
          </a:prstGeom>
          <a:solidFill>
            <a:srgbClr val="2A6ADC"/>
          </a:solidFill>
          <a:ln>
            <a:solidFill>
              <a:srgbClr val="2A6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896112" y="1399031"/>
            <a:ext cx="498348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넣을 표</a:t>
            </a:r>
          </a:p>
        </p:txBody>
      </p:sp>
      <p:sp>
        <p:nvSpPr>
          <p:cNvPr id="269" name="TextBox 268"/>
          <p:cNvSpPr txBox="1"/>
          <p:nvPr/>
        </p:nvSpPr>
        <p:spPr>
          <a:xfrm>
            <a:off x="896112" y="1737360"/>
            <a:ext cx="498348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알고리즘별 행:
REINFORCE / A2C / DQN 계열 / PPO / Bandit
컬럼:
Best Reward, Final Reward,
MostImbalanced Reward,
Best Delta, Final Delta,
승리 구 수(Delta&gt;0), Best step/episode</a:t>
            </a:r>
          </a:p>
        </p:txBody>
      </p:sp>
      <p:sp>
        <p:nvSpPr>
          <p:cNvPr id="270" name="Rectangle 269"/>
          <p:cNvSpPr/>
          <p:nvPr/>
        </p:nvSpPr>
        <p:spPr>
          <a:xfrm>
            <a:off x="6309360" y="1261872"/>
            <a:ext cx="5120640" cy="41148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6309360" y="1261872"/>
            <a:ext cx="54864" cy="4114800"/>
          </a:xfrm>
          <a:prstGeom prst="rect">
            <a:avLst/>
          </a:prstGeom>
          <a:solidFill>
            <a:srgbClr val="D24A43"/>
          </a:solidFill>
          <a:ln>
            <a:solidFill>
              <a:srgbClr val="D2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6473952" y="1399031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주의</a:t>
            </a:r>
          </a:p>
        </p:txBody>
      </p:sp>
      <p:sp>
        <p:nvSpPr>
          <p:cNvPr id="273" name="TextBox 272"/>
          <p:cNvSpPr txBox="1"/>
          <p:nvPr/>
        </p:nvSpPr>
        <p:spPr>
          <a:xfrm>
            <a:off x="6473952" y="1737360"/>
            <a:ext cx="4800600" cy="3520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실험결과 숫자는 여기서 고정하지 않는다.
각 담당자가 동일 기준으로 산출한 최신 값을 삽입한다.
기준은 반드시 73일 chronological holdout, Delta = model - baseline으로 통일한다.</a:t>
            </a:r>
          </a:p>
        </p:txBody>
      </p:sp>
      <p:sp>
        <p:nvSpPr>
          <p:cNvPr id="274" name="Rectangle 273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용어: MostImbalanced는 현재 재고가 목표 재고에서 가장 크게 벗어난 정류소를 우선 방문하는 규칙 기반 baseline이다.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TextBox 290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REINFORCE / A2C 결과 해석 장표</a:t>
            </a:r>
          </a:p>
        </p:txBody>
      </p:sp>
      <p:sp>
        <p:nvSpPr>
          <p:cNvPr id="292" name="TextBox 291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박제영 담당 결과를 넣을 때의 권장 구성</a:t>
            </a:r>
          </a:p>
        </p:txBody>
      </p:sp>
      <p:sp>
        <p:nvSpPr>
          <p:cNvPr id="293" name="TextBox 292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14 / 18</a:t>
            </a:r>
          </a:p>
        </p:txBody>
      </p:sp>
      <p:sp>
        <p:nvSpPr>
          <p:cNvPr id="294" name="Rectangle 293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685800" y="1234440"/>
            <a:ext cx="347472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685800" y="1234440"/>
            <a:ext cx="54864" cy="4160520"/>
          </a:xfrm>
          <a:prstGeom prst="rect">
            <a:avLst/>
          </a:prstGeom>
          <a:solidFill>
            <a:srgbClr val="2A6ADC"/>
          </a:solidFill>
          <a:ln>
            <a:solidFill>
              <a:srgbClr val="2A6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TextBox 296"/>
          <p:cNvSpPr txBox="1"/>
          <p:nvPr/>
        </p:nvSpPr>
        <p:spPr>
          <a:xfrm>
            <a:off x="850392" y="1371600"/>
            <a:ext cx="3154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REINFORCE</a:t>
            </a:r>
          </a:p>
        </p:txBody>
      </p:sp>
      <p:sp>
        <p:nvSpPr>
          <p:cNvPr id="298" name="TextBox 297"/>
          <p:cNvSpPr txBox="1"/>
          <p:nvPr/>
        </p:nvSpPr>
        <p:spPr>
          <a:xfrm>
            <a:off x="850392" y="1709928"/>
            <a:ext cx="31546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Policy gradient를 episode 단위로 업데이트.
Reward-to-go와 Value baseline으로 variance를 낮췄지만, trajectory seed에 민감할 수 있음.
넣을 그림: seed별 Delta scatter 또는 error bar.</a:t>
            </a:r>
          </a:p>
        </p:txBody>
      </p:sp>
      <p:sp>
        <p:nvSpPr>
          <p:cNvPr id="299" name="Rectangle 298"/>
          <p:cNvSpPr/>
          <p:nvPr/>
        </p:nvSpPr>
        <p:spPr>
          <a:xfrm>
            <a:off x="4370832" y="1234440"/>
            <a:ext cx="347472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4370832" y="1234440"/>
            <a:ext cx="54864" cy="4160520"/>
          </a:xfrm>
          <a:prstGeom prst="rect">
            <a:avLst/>
          </a:prstGeom>
          <a:solidFill>
            <a:srgbClr val="198765"/>
          </a:solidFill>
          <a:ln>
            <a:solidFill>
              <a:srgbClr val="198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1" name="TextBox 300"/>
          <p:cNvSpPr txBox="1"/>
          <p:nvPr/>
        </p:nvSpPr>
        <p:spPr>
          <a:xfrm>
            <a:off x="4535424" y="1371600"/>
            <a:ext cx="3154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A2C</a:t>
            </a:r>
          </a:p>
        </p:txBody>
      </p:sp>
      <p:sp>
        <p:nvSpPr>
          <p:cNvPr id="302" name="TextBox 301"/>
          <p:cNvSpPr txBox="1"/>
          <p:nvPr/>
        </p:nvSpPr>
        <p:spPr>
          <a:xfrm>
            <a:off x="4535424" y="1709928"/>
            <a:ext cx="31546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Actor와 Critic을 함께 학습.
1-step TD target으로 advantage를 추정하고, actor_loss와 critic_loss는 독립 optimizer로 각각 업데이트한다.
넣을 그림: A2C vs REINFORCE seed std 비교.</a:t>
            </a:r>
          </a:p>
        </p:txBody>
      </p:sp>
      <p:sp>
        <p:nvSpPr>
          <p:cNvPr id="303" name="Rectangle 302"/>
          <p:cNvSpPr/>
          <p:nvPr/>
        </p:nvSpPr>
        <p:spPr>
          <a:xfrm>
            <a:off x="8046720" y="1234440"/>
            <a:ext cx="3474720" cy="416052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8046720" y="1234440"/>
            <a:ext cx="54864" cy="4160520"/>
          </a:xfrm>
          <a:prstGeom prst="rect">
            <a:avLst/>
          </a:prstGeom>
          <a:solidFill>
            <a:srgbClr val="D24A43"/>
          </a:solidFill>
          <a:ln>
            <a:solidFill>
              <a:srgbClr val="D2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5" name="TextBox 304"/>
          <p:cNvSpPr txBox="1"/>
          <p:nvPr/>
        </p:nvSpPr>
        <p:spPr>
          <a:xfrm>
            <a:off x="8211312" y="1371600"/>
            <a:ext cx="3154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해석 문장</a:t>
            </a:r>
          </a:p>
        </p:txBody>
      </p:sp>
      <p:sp>
        <p:nvSpPr>
          <p:cNvPr id="306" name="TextBox 305"/>
          <p:cNvSpPr txBox="1"/>
          <p:nvPr/>
        </p:nvSpPr>
        <p:spPr>
          <a:xfrm>
            <a:off x="8211312" y="1709928"/>
            <a:ext cx="3154679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A2C가 항상 최고라는 주장보다, TD 기반 업데이트가 이 환경에서 seed 민감도를 낮추는 경향을 보였는지 중심으로 설명한다.</a:t>
            </a:r>
          </a:p>
        </p:txBody>
      </p:sp>
      <p:sp>
        <p:nvSpPr>
          <p:cNvPr id="307" name="Rectangle 306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8" name="TextBox 307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용어: MC는 episode가 끝난 뒤 실제 return으로 업데이트한다. TD는 다음 value 예측을 이용해 더 자주 업데이트한다.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TextBox 306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PPO / DQN 결과 해석 장표</a:t>
            </a:r>
          </a:p>
        </p:txBody>
      </p:sp>
      <p:sp>
        <p:nvSpPr>
          <p:cNvPr id="308" name="TextBox 307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팀원 담당 결과를 같은 평가 기준으로 통합</a:t>
            </a:r>
          </a:p>
        </p:txBody>
      </p:sp>
      <p:sp>
        <p:nvSpPr>
          <p:cNvPr id="309" name="TextBox 308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15 / 18</a:t>
            </a:r>
          </a:p>
        </p:txBody>
      </p:sp>
      <p:sp>
        <p:nvSpPr>
          <p:cNvPr id="310" name="Rectangle 309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731520" y="1234440"/>
            <a:ext cx="521208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731520" y="1234440"/>
            <a:ext cx="54864" cy="4343400"/>
          </a:xfrm>
          <a:prstGeom prst="rect">
            <a:avLst/>
          </a:prstGeom>
          <a:solidFill>
            <a:srgbClr val="2A6ADC"/>
          </a:solidFill>
          <a:ln>
            <a:solidFill>
              <a:srgbClr val="2A6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3" name="TextBox 312"/>
          <p:cNvSpPr txBox="1"/>
          <p:nvPr/>
        </p:nvSpPr>
        <p:spPr>
          <a:xfrm>
            <a:off x="896112" y="137160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PPO</a:t>
            </a:r>
          </a:p>
        </p:txBody>
      </p:sp>
      <p:sp>
        <p:nvSpPr>
          <p:cNvPr id="314" name="TextBox 313"/>
          <p:cNvSpPr txBox="1"/>
          <p:nvPr/>
        </p:nvSpPr>
        <p:spPr>
          <a:xfrm>
            <a:off x="896112" y="1709928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핵심은 clipped surrogate objective.
넣을 지표:
approx_kl, clip_fraction, entropy, explained_variance
해석:
old policy와 new policy의 차이가 작게 유지되는지 확인한다. clip_fraction은 clipping이 적용된 sample 비율이므로 낮을수록 clipping 발동이 적고, 높을수록 update가 더 자주 제한된 것으로 해석한다.</a:t>
            </a:r>
          </a:p>
        </p:txBody>
      </p:sp>
      <p:sp>
        <p:nvSpPr>
          <p:cNvPr id="315" name="Rectangle 314"/>
          <p:cNvSpPr/>
          <p:nvPr/>
        </p:nvSpPr>
        <p:spPr>
          <a:xfrm>
            <a:off x="6263640" y="1234440"/>
            <a:ext cx="5212080" cy="434340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6263640" y="1234440"/>
            <a:ext cx="54864" cy="4343400"/>
          </a:xfrm>
          <a:prstGeom prst="rect">
            <a:avLst/>
          </a:prstGeom>
          <a:solidFill>
            <a:srgbClr val="198765"/>
          </a:solidFill>
          <a:ln>
            <a:solidFill>
              <a:srgbClr val="198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7" name="TextBox 316"/>
          <p:cNvSpPr txBox="1"/>
          <p:nvPr/>
        </p:nvSpPr>
        <p:spPr>
          <a:xfrm>
            <a:off x="6428231" y="1371600"/>
            <a:ext cx="4892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DQN / QRDQN</a:t>
            </a:r>
          </a:p>
        </p:txBody>
      </p:sp>
      <p:sp>
        <p:nvSpPr>
          <p:cNvPr id="318" name="TextBox 317"/>
          <p:cNvSpPr txBox="1"/>
          <p:nvPr/>
        </p:nvSpPr>
        <p:spPr>
          <a:xfrm>
            <a:off x="6428231" y="1709928"/>
            <a:ext cx="48920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핵심은 value-based off-policy 학습.
넣을 지표:
Best/Final Delta, replay 기반 학습곡선, target Q 안정성, Top-K별 차이
해석:
rank action에서 Q target 학습이 어려웠는지 확인.</a:t>
            </a:r>
          </a:p>
        </p:txBody>
      </p:sp>
      <p:sp>
        <p:nvSpPr>
          <p:cNvPr id="319" name="Rectangle 318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0" name="TextBox 319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용어: PPO clipping은 old policy와 new policy의 action 확률 비율을 제한해 너무 큰 policy 변화를 막는 장치다.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TextBox 335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Replay Viewer 시연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정책이 episode 안에서 어떤 정류소를 선택하고 트럭이 어떻게 이동하는지 보여주는 장표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16 / 18</a:t>
            </a:r>
          </a:p>
        </p:txBody>
      </p:sp>
      <p:sp>
        <p:nvSpPr>
          <p:cNvPr id="339" name="Rectangle 338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777240" y="1371600"/>
            <a:ext cx="64008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777240" y="1371600"/>
            <a:ext cx="54864" cy="4389120"/>
          </a:xfrm>
          <a:prstGeom prst="rect">
            <a:avLst/>
          </a:prstGeom>
          <a:solidFill>
            <a:srgbClr val="2A6ADC"/>
          </a:solidFill>
          <a:ln>
            <a:solidFill>
              <a:srgbClr val="2A6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2" name="TextBox 341"/>
          <p:cNvSpPr txBox="1"/>
          <p:nvPr/>
        </p:nvSpPr>
        <p:spPr>
          <a:xfrm>
            <a:off x="941832" y="1508760"/>
            <a:ext cx="6080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Replay Viewer에서 확인할 것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941832" y="1847088"/>
            <a:ext cx="60807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10~20초 시연 권장
보여줄 것:
1. 정류소 점 색상/크기
2. Top-K 후보 변화
3. 선택 정류소와 트럭 이동
4. 누적 reward 변화
숫자 결과와 실제 정책 행동을 함께 보여준다.</a:t>
            </a:r>
          </a:p>
        </p:txBody>
      </p:sp>
      <p:sp>
        <p:nvSpPr>
          <p:cNvPr id="344" name="Rectangle 343"/>
          <p:cNvSpPr/>
          <p:nvPr/>
        </p:nvSpPr>
        <p:spPr>
          <a:xfrm>
            <a:off x="7498079" y="1371600"/>
            <a:ext cx="3886200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7498079" y="1371600"/>
            <a:ext cx="54864" cy="4389120"/>
          </a:xfrm>
          <a:prstGeom prst="rect">
            <a:avLst/>
          </a:prstGeom>
          <a:solidFill>
            <a:srgbClr val="198765"/>
          </a:solidFill>
          <a:ln>
            <a:solidFill>
              <a:srgbClr val="198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6" name="TextBox 345"/>
          <p:cNvSpPr txBox="1"/>
          <p:nvPr/>
        </p:nvSpPr>
        <p:spPr>
          <a:xfrm>
            <a:off x="7662671" y="1508760"/>
            <a:ext cx="3566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설명 포인트</a:t>
            </a:r>
          </a:p>
        </p:txBody>
      </p:sp>
      <p:sp>
        <p:nvSpPr>
          <p:cNvPr id="347" name="TextBox 346"/>
          <p:cNvSpPr txBox="1"/>
          <p:nvPr/>
        </p:nvSpPr>
        <p:spPr>
          <a:xfrm>
            <a:off x="7662671" y="1847088"/>
            <a:ext cx="3566160" cy="37947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그래프 숫자만으로 보이지 않는 정책 행동을 시각적으로 검증한다.
특정 정류소를 계속 고르는 collapse나 후보 분포 변화를 확인할 수 있다.</a:t>
            </a:r>
          </a:p>
        </p:txBody>
      </p:sp>
      <p:sp>
        <p:nvSpPr>
          <p:cNvPr id="348" name="Rectangle 347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9" name="TextBox 348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발표 팁: 영상은 ‘예쁜 시각화’보다 정책이 실제로 어떤 후보를 보고 어떤 정류소로 이동하는지 설명하는 증거로 사용한다.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활용방안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따릉이를 넘어, 공공 수요예측 + 순차 의사결정 문제로 확장 가능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17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234440"/>
            <a:ext cx="34747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234440"/>
            <a:ext cx="54864" cy="4480560"/>
          </a:xfrm>
          <a:prstGeom prst="rect">
            <a:avLst/>
          </a:prstGeom>
          <a:solidFill>
            <a:srgbClr val="2A6ADC"/>
          </a:solidFill>
          <a:ln>
            <a:solidFill>
              <a:srgbClr val="2A6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71600"/>
            <a:ext cx="3154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따릉이 운영 보조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709928"/>
            <a:ext cx="3154679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다음 1시간 수요를 반영해 어떤 정류소를 우선 방문할지 후보를 제안한다.
사람 운영자가 최종 판단하는 재배치 우선순위 추천 도구로 활용 가능.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70832" y="1234440"/>
            <a:ext cx="34747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70832" y="1234440"/>
            <a:ext cx="54864" cy="4480560"/>
          </a:xfrm>
          <a:prstGeom prst="rect">
            <a:avLst/>
          </a:prstGeom>
          <a:solidFill>
            <a:srgbClr val="198765"/>
          </a:solidFill>
          <a:ln>
            <a:solidFill>
              <a:srgbClr val="19876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35424" y="1371600"/>
            <a:ext cx="3154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공공데이터 확장 사례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35424" y="1709928"/>
            <a:ext cx="3154679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공영주차장 혼잡 완화
전기차 충전소 대기 관리
공공자전거/킥보드 재배치
버스·택시 수요 대응
공통점: 수요가 시간에 따라 변하고, 현재 배치가 미래 비용을 바꿈.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1234440"/>
            <a:ext cx="3474720" cy="448056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1234440"/>
            <a:ext cx="54864" cy="4480560"/>
          </a:xfrm>
          <a:prstGeom prst="rect">
            <a:avLst/>
          </a:prstGeom>
          <a:solidFill>
            <a:srgbClr val="D24A43"/>
          </a:solidFill>
          <a:ln>
            <a:solidFill>
              <a:srgbClr val="D24A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11312" y="1371600"/>
            <a:ext cx="3154679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실서비스 전 조건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11312" y="1709928"/>
            <a:ext cx="3154679" cy="3886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실시간 재고 API
차량 수/기사 근무시간
도로 이동시간
안전·교통 규칙
정책 설명 가능성
현재는 자동 운영이 아니라 simulator 기반 의사결정 보조.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활용 범위: 공유자원 배치, 혼잡 완화, 재고·인력 재배치처럼 ‘예측 후 순차적으로 움직여야 하는’ 공공서비스 문제에 응용할 수 있다.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8961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2D47"/>
                </a:solidFill>
                <a:latin typeface="Apple SD Gothic Neo"/>
              </a:rPr>
              <a:t>결론 및 참고문헌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86384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6B7280"/>
                </a:solidFill>
                <a:latin typeface="Apple SD Gothic Neo"/>
              </a:rPr>
              <a:t>결과 수치보다 설계와 검증 기준을 명확히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81360" y="384048"/>
            <a:ext cx="7315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6B7280"/>
                </a:solidFill>
                <a:latin typeface="Apple SD Gothic Neo"/>
              </a:rPr>
              <a:t>18 / 18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9144"/>
          </a:xfrm>
          <a:prstGeom prst="rect">
            <a:avLst/>
          </a:prstGeom>
          <a:solidFill>
            <a:srgbClr val="DBE2E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88720"/>
            <a:ext cx="5120640" cy="4526280"/>
          </a:xfrm>
          <a:prstGeom prst="rect">
            <a:avLst/>
          </a:prstGeom>
          <a:solidFill>
            <a:srgbClr val="FFFFFF"/>
          </a:solidFill>
          <a:ln>
            <a:solidFill>
              <a:srgbClr val="DBE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188720"/>
            <a:ext cx="54864" cy="4526280"/>
          </a:xfrm>
          <a:prstGeom prst="rect">
            <a:avLst/>
          </a:prstGeom>
          <a:solidFill>
            <a:srgbClr val="2A6ADC"/>
          </a:solidFill>
          <a:ln>
            <a:solidFill>
              <a:srgbClr val="2A6A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1325880"/>
            <a:ext cx="4800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50" b="1">
                <a:solidFill>
                  <a:srgbClr val="1C2D47"/>
                </a:solidFill>
                <a:latin typeface="Apple SD Gothic Neo"/>
              </a:rPr>
              <a:t>결론 문장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" y="1664208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F2937"/>
                </a:solidFill>
                <a:latin typeface="Apple SD Gothic Neo"/>
              </a:rPr>
              <a:t>따릉이 재배치는 정류소 재고와 미래 수요가 함께 변하는 순차 의사결정 문제다.
ML 수요예측은 미래 대여/반납 압력을 State로 제공하고, Top-K 후보 행동 구조는 RL이 탐색 가능한 문제 크기로 줄이는 핵심 설계였다.
결과 해석은 73일 holdout의 Delta, Best-Final gap, seed std를 함께 보고 알고리즘별 안정성 차이로 정리한다.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0" y="1207008"/>
            <a:ext cx="5303520" cy="3063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840">
                <a:solidFill>
                  <a:srgbClr val="1F2937"/>
                </a:solidFill>
                <a:latin typeface="Apple SD Gothic Neo"/>
              </a:defRPr>
            </a:pPr>
            <a:r>
              <a:t>Liang et al. (2024): BSS는 stochastic demand로 full/empty station이 생기며, dynamic rebalancing을 MDP로 정의 → 3p/6p 근거</a:t>
            </a:r>
          </a:p>
          <a:p>
            <a:pPr>
              <a:spcAft>
                <a:spcPts val="400"/>
              </a:spcAft>
              <a:defRPr sz="840">
                <a:solidFill>
                  <a:srgbClr val="1F2937"/>
                </a:solidFill>
                <a:latin typeface="Apple SD Gothic Neo"/>
              </a:defRPr>
            </a:pPr>
            <a:r>
              <a:t>KDD 2018 demand prediction: hourly station-level rentals/returns를 temporal/weather feature로 예측 → 5p/6p State 근거</a:t>
            </a:r>
          </a:p>
          <a:p>
            <a:pPr>
              <a:spcAft>
                <a:spcPts val="400"/>
              </a:spcAft>
              <a:defRPr sz="840">
                <a:solidFill>
                  <a:srgbClr val="1F2937"/>
                </a:solidFill>
                <a:latin typeface="Apple SD Gothic Neo"/>
              </a:defRPr>
            </a:pPr>
            <a:r>
              <a:t>PPO bike rebalancing / data-driven rebalancing studies: historical usage, station attributes, weather, demand forecasts를 의사결정 입력으로 사용 → 7p Hybrid 근거</a:t>
            </a:r>
          </a:p>
          <a:p>
            <a:pPr>
              <a:spcAft>
                <a:spcPts val="400"/>
              </a:spcAft>
              <a:defRPr sz="840">
                <a:solidFill>
                  <a:srgbClr val="1F2937"/>
                </a:solidFill>
                <a:latin typeface="Apple SD Gothic Neo"/>
              </a:defRPr>
            </a:pPr>
            <a:r>
              <a:t>Dulac-Arnold et al. (2015), Action Elimination (2018): large discrete action space는 탐색/계산을 어렵게 하며, 후보 축소가 학습 효율을 높일 수 있음 → 4p/6p Top-K 근거</a:t>
            </a:r>
          </a:p>
          <a:p>
            <a:pPr>
              <a:spcAft>
                <a:spcPts val="400"/>
              </a:spcAft>
              <a:defRPr sz="840">
                <a:solidFill>
                  <a:srgbClr val="1F2937"/>
                </a:solidFill>
                <a:latin typeface="Apple SD Gothic Neo"/>
              </a:defRPr>
            </a:pPr>
            <a:r>
              <a:t>Schulman et al. (2017): PPO clipped surrogate objective → 8p/13p PPO 안정화 설명 근거</a:t>
            </a:r>
          </a:p>
          <a:p>
            <a:pPr>
              <a:spcAft>
                <a:spcPts val="400"/>
              </a:spcAft>
              <a:defRPr sz="840">
                <a:solidFill>
                  <a:srgbClr val="1F2937"/>
                </a:solidFill>
                <a:latin typeface="Apple SD Gothic Neo"/>
              </a:defRPr>
            </a:pPr>
            <a:r>
              <a:t>Henderson et al. (2018): RL seed variance 보고 → 4p/10p seed 평가 근거</a:t>
            </a:r>
          </a:p>
          <a:p>
            <a:pPr>
              <a:spcAft>
                <a:spcPts val="400"/>
              </a:spcAft>
              <a:defRPr sz="840">
                <a:solidFill>
                  <a:srgbClr val="1F2937"/>
                </a:solidFill>
                <a:latin typeface="Apple SD Gothic Neo"/>
              </a:defRPr>
            </a:pPr>
            <a:r>
              <a:t>Sutton &amp; Barto (2018): MDP, return, TD/MC 기본 개념 → 3p/8p 용어 근거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45262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90" b="0">
                <a:solidFill>
                  <a:srgbClr val="6B7280"/>
                </a:solidFill>
                <a:latin typeface="Apple SD Gothic Neo"/>
              </a:rPr>
              <a:t>데이터: 서울 열린데이터광장 대여이력/대여소 정보/실시간 대여정보, 기상청 ASOS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0" y="507492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80" b="0">
                <a:solidFill>
                  <a:srgbClr val="1C2D47"/>
                </a:solidFill>
                <a:latin typeface="Apple SD Gothic Neo"/>
              </a:rPr>
              <a:t>참고문헌은 ‘권위 있어 보이기’가 아니라, 왜 State·Action·Reward와 평가 protocol을 이렇게 설계했는지 설명하기 위해 사용했다.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8368" y="6144768"/>
            <a:ext cx="10881360" cy="384048"/>
          </a:xfrm>
          <a:prstGeom prst="rect">
            <a:avLst/>
          </a:prstGeom>
          <a:solidFill>
            <a:srgbClr val="FFF9E1"/>
          </a:solidFill>
          <a:ln>
            <a:solidFill>
              <a:srgbClr val="EEE1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6217920"/>
            <a:ext cx="10661904" cy="2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69" b="0">
                <a:solidFill>
                  <a:srgbClr val="1F2937"/>
                </a:solidFill>
                <a:latin typeface="Apple SD Gothic Neo"/>
              </a:rPr>
              <a:t>마지막 메시지: ‘알고리즘만 바꾼 실험’이 아니라, 따릉이 문제를 RL이 풀 수 있는 MDP와 평가 프로토콜로 만든 것이 핵심이다.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