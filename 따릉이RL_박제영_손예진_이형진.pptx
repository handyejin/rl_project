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6858000" cx="12191675"/>
  <p:notesSz cx="6858000" cy="12191675"/>
  <p:embeddedFontLst>
    <p:embeddedFont>
      <p:font typeface="Noto Sans KR"/>
      <p:regular r:id="rId44"/>
      <p:bold r:id="rId45"/>
    </p:embeddedFont>
    <p:embeddedFont>
      <p:font typeface="Azeret Mono SemiBold"/>
      <p:regular r:id="rId46"/>
      <p:bold r:id="rId47"/>
      <p:italic r:id="rId48"/>
      <p:boldItalic r:id="rId49"/>
    </p:embeddedFont>
    <p:embeddedFont>
      <p:font typeface="Inter"/>
      <p:regular r:id="rId50"/>
      <p:bold r:id="rId51"/>
      <p:italic r:id="rId52"/>
      <p:boldItalic r:id="rId53"/>
    </p:embeddedFont>
    <p:embeddedFont>
      <p:font typeface="Azeret Mono"/>
      <p:regular r:id="rId54"/>
      <p:bold r:id="rId55"/>
      <p:italic r:id="rId56"/>
      <p:boldItalic r:id="rId57"/>
    </p:embeddedFont>
    <p:embeddedFont>
      <p:font typeface="Nanum Gothic"/>
      <p:regular r:id="rId58"/>
      <p:bold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513249-047F-4794-A86B-7318042056CE}">
  <a:tblStyle styleId="{4F513249-047F-4794-A86B-7318042056C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3C91809-8558-4987-BF96-D2D5D852F2E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NotoSansKR-regular.fntdata"/><Relationship Id="rId43" Type="http://schemas.openxmlformats.org/officeDocument/2006/relationships/slide" Target="slides/slide37.xml"/><Relationship Id="rId46" Type="http://schemas.openxmlformats.org/officeDocument/2006/relationships/font" Target="fonts/AzeretMonoSemiBold-regular.fntdata"/><Relationship Id="rId45" Type="http://schemas.openxmlformats.org/officeDocument/2006/relationships/font" Target="fonts/NotoSansKR-bold.fntdata"/><Relationship Id="rId48" Type="http://schemas.openxmlformats.org/officeDocument/2006/relationships/font" Target="fonts/AzeretMonoSemiBold-italic.fntdata"/><Relationship Id="rId47" Type="http://schemas.openxmlformats.org/officeDocument/2006/relationships/font" Target="fonts/AzeretMonoSemiBold-bold.fntdata"/><Relationship Id="rId49" Type="http://schemas.openxmlformats.org/officeDocument/2006/relationships/font" Target="fonts/AzeretMonoSemiBold-bold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51" Type="http://schemas.openxmlformats.org/officeDocument/2006/relationships/font" Target="fonts/Inter-bold.fntdata"/><Relationship Id="rId50" Type="http://schemas.openxmlformats.org/officeDocument/2006/relationships/font" Target="fonts/Inter-regular.fntdata"/><Relationship Id="rId53" Type="http://schemas.openxmlformats.org/officeDocument/2006/relationships/font" Target="fonts/Inter-boldItalic.fntdata"/><Relationship Id="rId52" Type="http://schemas.openxmlformats.org/officeDocument/2006/relationships/font" Target="fonts/Inter-italic.fntdata"/><Relationship Id="rId55" Type="http://schemas.openxmlformats.org/officeDocument/2006/relationships/font" Target="fonts/AzeretMono-bold.fntdata"/><Relationship Id="rId54" Type="http://schemas.openxmlformats.org/officeDocument/2006/relationships/font" Target="fonts/AzeretMono-regular.fntdata"/><Relationship Id="rId57" Type="http://schemas.openxmlformats.org/officeDocument/2006/relationships/font" Target="fonts/AzeretMono-boldItalic.fntdata"/><Relationship Id="rId56" Type="http://schemas.openxmlformats.org/officeDocument/2006/relationships/font" Target="fonts/AzeretMono-italic.fntdata"/><Relationship Id="rId59" Type="http://schemas.openxmlformats.org/officeDocument/2006/relationships/font" Target="fonts/NanumGothic-bold.fntdata"/><Relationship Id="rId58" Type="http://schemas.openxmlformats.org/officeDocument/2006/relationships/font" Target="fonts/NanumGothic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eb7f0159c_0_4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eeb7f0159c_0_4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ko" sz="1100"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95" name="Google Shape;95;g3eeb7f0159c_0_4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b9eb64f2a_0_17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eb9eb64f2a_0_17:notes"/>
          <p:cNvSpPr/>
          <p:nvPr>
            <p:ph idx="2" type="sldImg"/>
          </p:nvPr>
        </p:nvSpPr>
        <p:spPr>
          <a:xfrm>
            <a:off x="1143286" y="914376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b9eb64f2a_0_127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eb9eb64f2a_0_127:notes"/>
          <p:cNvSpPr/>
          <p:nvPr>
            <p:ph idx="2" type="sldImg"/>
          </p:nvPr>
        </p:nvSpPr>
        <p:spPr>
          <a:xfrm>
            <a:off x="1143286" y="914376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ecc9c7c0d_0_2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eecc9c7c0d_0_2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eecc9c7c0d_0_2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ae7486dab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eae7486dab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g3eae7486dab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eecc9c7c0d_0_34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eecc9c7c0d_0_34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eecc9c7c0d_0_34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edf23714b_0_546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eedf23714b_0_546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eedf23714b_0_546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edf23714b_0_6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eedf23714b_0_6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edf23714b_0_4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eedf23714b_0_4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eedf23714b_49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eedf23714b_49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edf23714b_49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eedf23714b_49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eedf23714b_0_676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eedf23714b_0_676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eedf23714b_0_676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eedf23714b_0_6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eedf23714b_0_676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eedf23714b_0_6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ecc9c7c0d_0_1280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eecc9c7c0d_0_1280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eecc9c7c0d_0_1280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eeda98cf67_0_2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eeda98cf67_0_2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eeda98cf67_0_2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eecc9c7c0d_0_1334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3eecc9c7c0d_0_1334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eecc9c7c0d_0_1334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eeda98cf67_0_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eeda98cf67_0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eeda98cf67_0_2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eeda98cf67_0_2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eeda98cf67_0_2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g3eeda98cf67_0_2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eeda98cf67_0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eeda98cf67_0_2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eeda98cf67_0_2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eeda98cf67_0_4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g3eeda98cf67_0_4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g3eeda98cf67_0_4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eeda98cf67_0_3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eeda98cf67_0_3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eeda98cf67_0_3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eeda98cf67_0_3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eeda98cf67_0_3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eeda98cf67_0_3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eecc9c7c0d_0_358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g3eecc9c7c0d_0_358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g3eecc9c7c0d_0_358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eecc9c7c0d_0_401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5" name="Google Shape;725;g3eecc9c7c0d_0_401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g3eecc9c7c0d_0_401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eae7486dab_2_478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g3eae7486dab_2_478:notes"/>
          <p:cNvSpPr/>
          <p:nvPr>
            <p:ph idx="2" type="sldImg"/>
          </p:nvPr>
        </p:nvSpPr>
        <p:spPr>
          <a:xfrm>
            <a:off x="1143286" y="914376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eecc9c7c0d_0_658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0" name="Google Shape;970;g3eecc9c7c0d_0_658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g3eecc9c7c0d_0_658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eedf23714b_0_66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8" name="Google Shape;1008;g3eedf23714b_0_66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g3eedf23714b_0_66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eecc9c7c0d_0_873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9" name="Google Shape;1049;g3eecc9c7c0d_0_873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g3eecc9c7c0d_0_873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eedf23714b_6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3eedf23714b_6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g3eedf23714b_6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eedf23714b_0_7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g3eedf23714b_0_7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3eedf23714b_0_9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g3eedf23714b_0_9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eecc9c7c0d_0_1427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g3eecc9c7c0d_0_1427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g3eecc9c7c0d_0_1427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1" name="Google Shape;1171;g3eecc9c7c0d_0_14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g3eecc9c7c0d_0_1427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g3eecc9c7c0d_0_14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ec8f05e9d_38_0)">
  <p:cSld name="Generated (g3eec8f05e9d_38_0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idx="10" type="dt"/>
          </p:nvPr>
        </p:nvSpPr>
        <p:spPr>
          <a:xfrm>
            <a:off x="457188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1" type="ftr"/>
          </p:nvPr>
        </p:nvSpPr>
        <p:spPr>
          <a:xfrm>
            <a:off x="3124117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655302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0" type="dt"/>
          </p:nvPr>
        </p:nvSpPr>
        <p:spPr>
          <a:xfrm>
            <a:off x="457188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1" type="ftr"/>
          </p:nvPr>
        </p:nvSpPr>
        <p:spPr>
          <a:xfrm>
            <a:off x="3124117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655302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ctrTitle"/>
          </p:nvPr>
        </p:nvSpPr>
        <p:spPr>
          <a:xfrm>
            <a:off x="685782" y="2130425"/>
            <a:ext cx="77721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" type="subTitle"/>
          </p:nvPr>
        </p:nvSpPr>
        <p:spPr>
          <a:xfrm>
            <a:off x="1371563" y="3886200"/>
            <a:ext cx="64005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10" type="dt"/>
          </p:nvPr>
        </p:nvSpPr>
        <p:spPr>
          <a:xfrm>
            <a:off x="457188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1" type="ftr"/>
          </p:nvPr>
        </p:nvSpPr>
        <p:spPr>
          <a:xfrm>
            <a:off x="3124117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655302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57188" y="274638"/>
            <a:ext cx="8229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457188" y="1600200"/>
            <a:ext cx="82293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0" type="dt"/>
          </p:nvPr>
        </p:nvSpPr>
        <p:spPr>
          <a:xfrm>
            <a:off x="457188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1" type="ftr"/>
          </p:nvPr>
        </p:nvSpPr>
        <p:spPr>
          <a:xfrm>
            <a:off x="3124117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655302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722294" y="4406900"/>
            <a:ext cx="77721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722294" y="2906713"/>
            <a:ext cx="77721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457188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3124117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655302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457188" y="274638"/>
            <a:ext cx="8229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457188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7" name="Google Shape;47;p10"/>
          <p:cNvSpPr txBox="1"/>
          <p:nvPr>
            <p:ph idx="2" type="body"/>
          </p:nvPr>
        </p:nvSpPr>
        <p:spPr>
          <a:xfrm>
            <a:off x="4648076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8" name="Google Shape;48;p10"/>
          <p:cNvSpPr txBox="1"/>
          <p:nvPr>
            <p:ph idx="10" type="dt"/>
          </p:nvPr>
        </p:nvSpPr>
        <p:spPr>
          <a:xfrm>
            <a:off x="457188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1" type="ftr"/>
          </p:nvPr>
        </p:nvSpPr>
        <p:spPr>
          <a:xfrm>
            <a:off x="3124117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655302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457188" y="274638"/>
            <a:ext cx="8229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457188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1"/>
          <p:cNvSpPr txBox="1"/>
          <p:nvPr>
            <p:ph idx="2" type="body"/>
          </p:nvPr>
        </p:nvSpPr>
        <p:spPr>
          <a:xfrm>
            <a:off x="457188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5" name="Google Shape;55;p11"/>
          <p:cNvSpPr txBox="1"/>
          <p:nvPr>
            <p:ph idx="3" type="body"/>
          </p:nvPr>
        </p:nvSpPr>
        <p:spPr>
          <a:xfrm>
            <a:off x="4644901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1"/>
          <p:cNvSpPr txBox="1"/>
          <p:nvPr>
            <p:ph idx="4" type="body"/>
          </p:nvPr>
        </p:nvSpPr>
        <p:spPr>
          <a:xfrm>
            <a:off x="4644901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11"/>
          <p:cNvSpPr txBox="1"/>
          <p:nvPr>
            <p:ph idx="10" type="dt"/>
          </p:nvPr>
        </p:nvSpPr>
        <p:spPr>
          <a:xfrm>
            <a:off x="457188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1" type="ftr"/>
          </p:nvPr>
        </p:nvSpPr>
        <p:spPr>
          <a:xfrm>
            <a:off x="3124117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655302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457188" y="274638"/>
            <a:ext cx="8229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457188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3124117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655302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457188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3574955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3"/>
          <p:cNvSpPr txBox="1"/>
          <p:nvPr>
            <p:ph idx="2" type="body"/>
          </p:nvPr>
        </p:nvSpPr>
        <p:spPr>
          <a:xfrm>
            <a:off x="457188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457188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3124117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655302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1792240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/>
          <p:nvPr>
            <p:ph idx="2" type="pic"/>
          </p:nvPr>
        </p:nvSpPr>
        <p:spPr>
          <a:xfrm>
            <a:off x="1792240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1792240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14"/>
          <p:cNvSpPr txBox="1"/>
          <p:nvPr>
            <p:ph idx="10" type="dt"/>
          </p:nvPr>
        </p:nvSpPr>
        <p:spPr>
          <a:xfrm>
            <a:off x="457188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1" type="ftr"/>
          </p:nvPr>
        </p:nvSpPr>
        <p:spPr>
          <a:xfrm>
            <a:off x="3124117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655302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57188" y="274638"/>
            <a:ext cx="8229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 rot="5400000">
            <a:off x="2308868" y="-251400"/>
            <a:ext cx="4526100" cy="82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0" type="dt"/>
          </p:nvPr>
        </p:nvSpPr>
        <p:spPr>
          <a:xfrm>
            <a:off x="457188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1" type="ftr"/>
          </p:nvPr>
        </p:nvSpPr>
        <p:spPr>
          <a:xfrm>
            <a:off x="3124117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655302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 rot="5400000">
            <a:off x="4732118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 rot="5400000">
            <a:off x="541327" y="190638"/>
            <a:ext cx="5851500" cy="60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0" type="dt"/>
          </p:nvPr>
        </p:nvSpPr>
        <p:spPr>
          <a:xfrm>
            <a:off x="457188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1" type="ftr"/>
          </p:nvPr>
        </p:nvSpPr>
        <p:spPr>
          <a:xfrm>
            <a:off x="3124117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655302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457188" y="274638"/>
            <a:ext cx="8229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457188" y="1600200"/>
            <a:ext cx="82293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5"/>
          <p:cNvSpPr txBox="1"/>
          <p:nvPr>
            <p:ph idx="10" type="dt"/>
          </p:nvPr>
        </p:nvSpPr>
        <p:spPr>
          <a:xfrm>
            <a:off x="457188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1" type="ftr"/>
          </p:nvPr>
        </p:nvSpPr>
        <p:spPr>
          <a:xfrm>
            <a:off x="3124117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655302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34.png"/><Relationship Id="rId6" Type="http://schemas.openxmlformats.org/officeDocument/2006/relationships/image" Target="../media/image9.png"/><Relationship Id="rId7" Type="http://schemas.openxmlformats.org/officeDocument/2006/relationships/image" Target="../media/image156.png"/><Relationship Id="rId8" Type="http://schemas.openxmlformats.org/officeDocument/2006/relationships/hyperlink" Target="https://github.com/handyejin/RL_PROJEC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13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0.png"/><Relationship Id="rId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35.png"/><Relationship Id="rId7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5.png"/><Relationship Id="rId10" Type="http://schemas.openxmlformats.org/officeDocument/2006/relationships/image" Target="../media/image26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4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41.png"/><Relationship Id="rId5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2.png"/><Relationship Id="rId4" Type="http://schemas.openxmlformats.org/officeDocument/2006/relationships/image" Target="../media/image4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drive.google.com/file/d/1mvnvSlFDkrtrsna0_HtVG1awtSKbj64j/view" TargetMode="External"/><Relationship Id="rId4" Type="http://schemas.openxmlformats.org/officeDocument/2006/relationships/image" Target="../media/image4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20" Type="http://schemas.openxmlformats.org/officeDocument/2006/relationships/image" Target="../media/image72.png"/><Relationship Id="rId22" Type="http://schemas.openxmlformats.org/officeDocument/2006/relationships/image" Target="../media/image67.png"/><Relationship Id="rId21" Type="http://schemas.openxmlformats.org/officeDocument/2006/relationships/image" Target="../media/image66.png"/><Relationship Id="rId24" Type="http://schemas.openxmlformats.org/officeDocument/2006/relationships/image" Target="../media/image76.png"/><Relationship Id="rId23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3.png"/><Relationship Id="rId4" Type="http://schemas.openxmlformats.org/officeDocument/2006/relationships/image" Target="../media/image49.png"/><Relationship Id="rId9" Type="http://schemas.openxmlformats.org/officeDocument/2006/relationships/image" Target="../media/image52.png"/><Relationship Id="rId25" Type="http://schemas.openxmlformats.org/officeDocument/2006/relationships/image" Target="../media/image65.png"/><Relationship Id="rId5" Type="http://schemas.openxmlformats.org/officeDocument/2006/relationships/image" Target="../media/image56.png"/><Relationship Id="rId6" Type="http://schemas.openxmlformats.org/officeDocument/2006/relationships/image" Target="../media/image54.png"/><Relationship Id="rId7" Type="http://schemas.openxmlformats.org/officeDocument/2006/relationships/image" Target="../media/image48.png"/><Relationship Id="rId8" Type="http://schemas.openxmlformats.org/officeDocument/2006/relationships/image" Target="../media/image70.png"/><Relationship Id="rId11" Type="http://schemas.openxmlformats.org/officeDocument/2006/relationships/image" Target="../media/image71.png"/><Relationship Id="rId10" Type="http://schemas.openxmlformats.org/officeDocument/2006/relationships/image" Target="../media/image51.png"/><Relationship Id="rId13" Type="http://schemas.openxmlformats.org/officeDocument/2006/relationships/image" Target="../media/image57.png"/><Relationship Id="rId12" Type="http://schemas.openxmlformats.org/officeDocument/2006/relationships/image" Target="../media/image73.png"/><Relationship Id="rId15" Type="http://schemas.openxmlformats.org/officeDocument/2006/relationships/image" Target="../media/image64.png"/><Relationship Id="rId14" Type="http://schemas.openxmlformats.org/officeDocument/2006/relationships/image" Target="../media/image61.png"/><Relationship Id="rId17" Type="http://schemas.openxmlformats.org/officeDocument/2006/relationships/image" Target="../media/image63.png"/><Relationship Id="rId16" Type="http://schemas.openxmlformats.org/officeDocument/2006/relationships/image" Target="../media/image59.png"/><Relationship Id="rId19" Type="http://schemas.openxmlformats.org/officeDocument/2006/relationships/image" Target="../media/image74.png"/><Relationship Id="rId18" Type="http://schemas.openxmlformats.org/officeDocument/2006/relationships/image" Target="../media/image58.png"/></Relationships>
</file>

<file path=ppt/slides/_rels/slide29.xml.rels><?xml version="1.0" encoding="UTF-8" standalone="yes"?><Relationships xmlns="http://schemas.openxmlformats.org/package/2006/relationships"><Relationship Id="rId40" Type="http://schemas.openxmlformats.org/officeDocument/2006/relationships/image" Target="../media/image102.png"/><Relationship Id="rId42" Type="http://schemas.openxmlformats.org/officeDocument/2006/relationships/image" Target="../media/image103.png"/><Relationship Id="rId41" Type="http://schemas.openxmlformats.org/officeDocument/2006/relationships/image" Target="../media/image104.png"/><Relationship Id="rId44" Type="http://schemas.openxmlformats.org/officeDocument/2006/relationships/image" Target="../media/image109.png"/><Relationship Id="rId43" Type="http://schemas.openxmlformats.org/officeDocument/2006/relationships/image" Target="../media/image106.png"/><Relationship Id="rId46" Type="http://schemas.openxmlformats.org/officeDocument/2006/relationships/image" Target="../media/image118.png"/><Relationship Id="rId45" Type="http://schemas.openxmlformats.org/officeDocument/2006/relationships/image" Target="../media/image115.png"/><Relationship Id="rId106" Type="http://schemas.openxmlformats.org/officeDocument/2006/relationships/image" Target="../media/image172.png"/><Relationship Id="rId105" Type="http://schemas.openxmlformats.org/officeDocument/2006/relationships/image" Target="../media/image180.png"/><Relationship Id="rId104" Type="http://schemas.openxmlformats.org/officeDocument/2006/relationships/image" Target="../media/image169.png"/><Relationship Id="rId48" Type="http://schemas.openxmlformats.org/officeDocument/2006/relationships/image" Target="../media/image128.png"/><Relationship Id="rId47" Type="http://schemas.openxmlformats.org/officeDocument/2006/relationships/image" Target="../media/image146.png"/><Relationship Id="rId49" Type="http://schemas.openxmlformats.org/officeDocument/2006/relationships/image" Target="../media/image126.png"/><Relationship Id="rId103" Type="http://schemas.openxmlformats.org/officeDocument/2006/relationships/image" Target="../media/image212.png"/><Relationship Id="rId102" Type="http://schemas.openxmlformats.org/officeDocument/2006/relationships/image" Target="../media/image170.png"/><Relationship Id="rId101" Type="http://schemas.openxmlformats.org/officeDocument/2006/relationships/image" Target="../media/image173.png"/><Relationship Id="rId100" Type="http://schemas.openxmlformats.org/officeDocument/2006/relationships/image" Target="../media/image166.png"/><Relationship Id="rId31" Type="http://schemas.openxmlformats.org/officeDocument/2006/relationships/image" Target="../media/image93.png"/><Relationship Id="rId30" Type="http://schemas.openxmlformats.org/officeDocument/2006/relationships/image" Target="../media/image96.png"/><Relationship Id="rId33" Type="http://schemas.openxmlformats.org/officeDocument/2006/relationships/image" Target="../media/image97.png"/><Relationship Id="rId32" Type="http://schemas.openxmlformats.org/officeDocument/2006/relationships/image" Target="../media/image99.png"/><Relationship Id="rId35" Type="http://schemas.openxmlformats.org/officeDocument/2006/relationships/image" Target="../media/image98.png"/><Relationship Id="rId34" Type="http://schemas.openxmlformats.org/officeDocument/2006/relationships/image" Target="../media/image107.png"/><Relationship Id="rId37" Type="http://schemas.openxmlformats.org/officeDocument/2006/relationships/image" Target="../media/image123.png"/><Relationship Id="rId36" Type="http://schemas.openxmlformats.org/officeDocument/2006/relationships/image" Target="../media/image125.png"/><Relationship Id="rId39" Type="http://schemas.openxmlformats.org/officeDocument/2006/relationships/image" Target="../media/image116.png"/><Relationship Id="rId38" Type="http://schemas.openxmlformats.org/officeDocument/2006/relationships/image" Target="../media/image152.png"/><Relationship Id="rId20" Type="http://schemas.openxmlformats.org/officeDocument/2006/relationships/image" Target="../media/image79.png"/><Relationship Id="rId22" Type="http://schemas.openxmlformats.org/officeDocument/2006/relationships/image" Target="../media/image84.png"/><Relationship Id="rId21" Type="http://schemas.openxmlformats.org/officeDocument/2006/relationships/image" Target="../media/image82.png"/><Relationship Id="rId24" Type="http://schemas.openxmlformats.org/officeDocument/2006/relationships/image" Target="../media/image120.png"/><Relationship Id="rId23" Type="http://schemas.openxmlformats.org/officeDocument/2006/relationships/image" Target="../media/image92.png"/><Relationship Id="rId26" Type="http://schemas.openxmlformats.org/officeDocument/2006/relationships/image" Target="../media/image101.png"/><Relationship Id="rId25" Type="http://schemas.openxmlformats.org/officeDocument/2006/relationships/image" Target="../media/image88.png"/><Relationship Id="rId28" Type="http://schemas.openxmlformats.org/officeDocument/2006/relationships/image" Target="../media/image94.png"/><Relationship Id="rId27" Type="http://schemas.openxmlformats.org/officeDocument/2006/relationships/image" Target="../media/image129.png"/><Relationship Id="rId29" Type="http://schemas.openxmlformats.org/officeDocument/2006/relationships/image" Target="../media/image95.png"/><Relationship Id="rId95" Type="http://schemas.openxmlformats.org/officeDocument/2006/relationships/image" Target="../media/image171.png"/><Relationship Id="rId94" Type="http://schemas.openxmlformats.org/officeDocument/2006/relationships/image" Target="../media/image162.png"/><Relationship Id="rId97" Type="http://schemas.openxmlformats.org/officeDocument/2006/relationships/image" Target="../media/image241.png"/><Relationship Id="rId96" Type="http://schemas.openxmlformats.org/officeDocument/2006/relationships/image" Target="../media/image161.png"/><Relationship Id="rId11" Type="http://schemas.openxmlformats.org/officeDocument/2006/relationships/image" Target="../media/image135.png"/><Relationship Id="rId99" Type="http://schemas.openxmlformats.org/officeDocument/2006/relationships/image" Target="../media/image179.png"/><Relationship Id="rId10" Type="http://schemas.openxmlformats.org/officeDocument/2006/relationships/image" Target="../media/image111.png"/><Relationship Id="rId98" Type="http://schemas.openxmlformats.org/officeDocument/2006/relationships/image" Target="../media/image168.png"/><Relationship Id="rId13" Type="http://schemas.openxmlformats.org/officeDocument/2006/relationships/image" Target="../media/image91.png"/><Relationship Id="rId12" Type="http://schemas.openxmlformats.org/officeDocument/2006/relationships/image" Target="../media/image87.png"/><Relationship Id="rId91" Type="http://schemas.openxmlformats.org/officeDocument/2006/relationships/image" Target="../media/image201.png"/><Relationship Id="rId90" Type="http://schemas.openxmlformats.org/officeDocument/2006/relationships/image" Target="../media/image165.png"/><Relationship Id="rId93" Type="http://schemas.openxmlformats.org/officeDocument/2006/relationships/image" Target="../media/image199.png"/><Relationship Id="rId92" Type="http://schemas.openxmlformats.org/officeDocument/2006/relationships/image" Target="../media/image167.png"/><Relationship Id="rId15" Type="http://schemas.openxmlformats.org/officeDocument/2006/relationships/image" Target="../media/image100.png"/><Relationship Id="rId14" Type="http://schemas.openxmlformats.org/officeDocument/2006/relationships/image" Target="../media/image105.png"/><Relationship Id="rId17" Type="http://schemas.openxmlformats.org/officeDocument/2006/relationships/image" Target="../media/image81.png"/><Relationship Id="rId16" Type="http://schemas.openxmlformats.org/officeDocument/2006/relationships/image" Target="../media/image86.png"/><Relationship Id="rId19" Type="http://schemas.openxmlformats.org/officeDocument/2006/relationships/image" Target="../media/image80.png"/><Relationship Id="rId18" Type="http://schemas.openxmlformats.org/officeDocument/2006/relationships/image" Target="../media/image110.png"/><Relationship Id="rId84" Type="http://schemas.openxmlformats.org/officeDocument/2006/relationships/image" Target="../media/image151.png"/><Relationship Id="rId83" Type="http://schemas.openxmlformats.org/officeDocument/2006/relationships/image" Target="../media/image207.png"/><Relationship Id="rId86" Type="http://schemas.openxmlformats.org/officeDocument/2006/relationships/image" Target="../media/image153.png"/><Relationship Id="rId85" Type="http://schemas.openxmlformats.org/officeDocument/2006/relationships/image" Target="../media/image160.png"/><Relationship Id="rId88" Type="http://schemas.openxmlformats.org/officeDocument/2006/relationships/image" Target="../media/image158.png"/><Relationship Id="rId87" Type="http://schemas.openxmlformats.org/officeDocument/2006/relationships/image" Target="../media/image164.png"/><Relationship Id="rId89" Type="http://schemas.openxmlformats.org/officeDocument/2006/relationships/image" Target="../media/image157.png"/><Relationship Id="rId80" Type="http://schemas.openxmlformats.org/officeDocument/2006/relationships/image" Target="../media/image142.png"/><Relationship Id="rId82" Type="http://schemas.openxmlformats.org/officeDocument/2006/relationships/image" Target="../media/image144.png"/><Relationship Id="rId81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78.png"/><Relationship Id="rId5" Type="http://schemas.openxmlformats.org/officeDocument/2006/relationships/image" Target="../media/image85.png"/><Relationship Id="rId6" Type="http://schemas.openxmlformats.org/officeDocument/2006/relationships/image" Target="../media/image108.png"/><Relationship Id="rId7" Type="http://schemas.openxmlformats.org/officeDocument/2006/relationships/image" Target="../media/image90.png"/><Relationship Id="rId8" Type="http://schemas.openxmlformats.org/officeDocument/2006/relationships/image" Target="../media/image83.png"/><Relationship Id="rId73" Type="http://schemas.openxmlformats.org/officeDocument/2006/relationships/image" Target="../media/image147.png"/><Relationship Id="rId72" Type="http://schemas.openxmlformats.org/officeDocument/2006/relationships/image" Target="../media/image154.png"/><Relationship Id="rId75" Type="http://schemas.openxmlformats.org/officeDocument/2006/relationships/image" Target="../media/image139.png"/><Relationship Id="rId74" Type="http://schemas.openxmlformats.org/officeDocument/2006/relationships/image" Target="../media/image138.png"/><Relationship Id="rId77" Type="http://schemas.openxmlformats.org/officeDocument/2006/relationships/image" Target="../media/image140.png"/><Relationship Id="rId76" Type="http://schemas.openxmlformats.org/officeDocument/2006/relationships/image" Target="../media/image150.png"/><Relationship Id="rId79" Type="http://schemas.openxmlformats.org/officeDocument/2006/relationships/image" Target="../media/image190.png"/><Relationship Id="rId78" Type="http://schemas.openxmlformats.org/officeDocument/2006/relationships/image" Target="../media/image143.png"/><Relationship Id="rId71" Type="http://schemas.openxmlformats.org/officeDocument/2006/relationships/image" Target="../media/image148.png"/><Relationship Id="rId70" Type="http://schemas.openxmlformats.org/officeDocument/2006/relationships/image" Target="../media/image141.png"/><Relationship Id="rId62" Type="http://schemas.openxmlformats.org/officeDocument/2006/relationships/image" Target="../media/image155.png"/><Relationship Id="rId61" Type="http://schemas.openxmlformats.org/officeDocument/2006/relationships/image" Target="../media/image159.png"/><Relationship Id="rId64" Type="http://schemas.openxmlformats.org/officeDocument/2006/relationships/image" Target="../media/image132.png"/><Relationship Id="rId63" Type="http://schemas.openxmlformats.org/officeDocument/2006/relationships/image" Target="../media/image131.png"/><Relationship Id="rId66" Type="http://schemas.openxmlformats.org/officeDocument/2006/relationships/image" Target="../media/image130.png"/><Relationship Id="rId65" Type="http://schemas.openxmlformats.org/officeDocument/2006/relationships/image" Target="../media/image134.png"/><Relationship Id="rId68" Type="http://schemas.openxmlformats.org/officeDocument/2006/relationships/image" Target="../media/image136.png"/><Relationship Id="rId67" Type="http://schemas.openxmlformats.org/officeDocument/2006/relationships/image" Target="../media/image133.png"/><Relationship Id="rId60" Type="http://schemas.openxmlformats.org/officeDocument/2006/relationships/image" Target="../media/image122.png"/><Relationship Id="rId69" Type="http://schemas.openxmlformats.org/officeDocument/2006/relationships/image" Target="../media/image137.png"/><Relationship Id="rId51" Type="http://schemas.openxmlformats.org/officeDocument/2006/relationships/image" Target="../media/image163.png"/><Relationship Id="rId50" Type="http://schemas.openxmlformats.org/officeDocument/2006/relationships/image" Target="../media/image117.png"/><Relationship Id="rId53" Type="http://schemas.openxmlformats.org/officeDocument/2006/relationships/image" Target="../media/image112.png"/><Relationship Id="rId52" Type="http://schemas.openxmlformats.org/officeDocument/2006/relationships/image" Target="../media/image149.png"/><Relationship Id="rId55" Type="http://schemas.openxmlformats.org/officeDocument/2006/relationships/image" Target="../media/image114.png"/><Relationship Id="rId54" Type="http://schemas.openxmlformats.org/officeDocument/2006/relationships/image" Target="../media/image113.png"/><Relationship Id="rId57" Type="http://schemas.openxmlformats.org/officeDocument/2006/relationships/image" Target="../media/image119.png"/><Relationship Id="rId56" Type="http://schemas.openxmlformats.org/officeDocument/2006/relationships/image" Target="../media/image121.png"/><Relationship Id="rId59" Type="http://schemas.openxmlformats.org/officeDocument/2006/relationships/image" Target="../media/image124.png"/><Relationship Id="rId58" Type="http://schemas.openxmlformats.org/officeDocument/2006/relationships/image" Target="../media/image127.png"/></Relationships>
</file>

<file path=ppt/slides/_rels/slide3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2.png"/><Relationship Id="rId10" Type="http://schemas.openxmlformats.org/officeDocument/2006/relationships/image" Target="../media/image219.png"/><Relationship Id="rId13" Type="http://schemas.openxmlformats.org/officeDocument/2006/relationships/image" Target="../media/image191.png"/><Relationship Id="rId12" Type="http://schemas.openxmlformats.org/officeDocument/2006/relationships/image" Target="../media/image185.png"/><Relationship Id="rId15" Type="http://schemas.openxmlformats.org/officeDocument/2006/relationships/image" Target="../media/image183.png"/><Relationship Id="rId14" Type="http://schemas.openxmlformats.org/officeDocument/2006/relationships/image" Target="../media/image188.png"/><Relationship Id="rId17" Type="http://schemas.openxmlformats.org/officeDocument/2006/relationships/image" Target="../media/image182.png"/><Relationship Id="rId16" Type="http://schemas.openxmlformats.org/officeDocument/2006/relationships/image" Target="../media/image186.png"/><Relationship Id="rId19" Type="http://schemas.openxmlformats.org/officeDocument/2006/relationships/image" Target="../media/image200.png"/><Relationship Id="rId18" Type="http://schemas.openxmlformats.org/officeDocument/2006/relationships/image" Target="../media/image187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1.png"/><Relationship Id="rId4" Type="http://schemas.openxmlformats.org/officeDocument/2006/relationships/image" Target="../media/image175.png"/><Relationship Id="rId9" Type="http://schemas.openxmlformats.org/officeDocument/2006/relationships/image" Target="../media/image184.png"/><Relationship Id="rId5" Type="http://schemas.openxmlformats.org/officeDocument/2006/relationships/image" Target="../media/image176.png"/><Relationship Id="rId6" Type="http://schemas.openxmlformats.org/officeDocument/2006/relationships/image" Target="../media/image174.png"/><Relationship Id="rId7" Type="http://schemas.openxmlformats.org/officeDocument/2006/relationships/image" Target="../media/image178.png"/><Relationship Id="rId8" Type="http://schemas.openxmlformats.org/officeDocument/2006/relationships/image" Target="../media/image177.png"/></Relationships>
</file>

<file path=ppt/slides/_rels/slide3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4.png"/><Relationship Id="rId10" Type="http://schemas.openxmlformats.org/officeDocument/2006/relationships/image" Target="../media/image197.png"/><Relationship Id="rId13" Type="http://schemas.openxmlformats.org/officeDocument/2006/relationships/image" Target="../media/image194.png"/><Relationship Id="rId12" Type="http://schemas.openxmlformats.org/officeDocument/2006/relationships/image" Target="../media/image236.png"/><Relationship Id="rId15" Type="http://schemas.openxmlformats.org/officeDocument/2006/relationships/image" Target="../media/image202.png"/><Relationship Id="rId14" Type="http://schemas.openxmlformats.org/officeDocument/2006/relationships/image" Target="../media/image203.png"/><Relationship Id="rId16" Type="http://schemas.openxmlformats.org/officeDocument/2006/relationships/image" Target="../media/image20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7.png"/><Relationship Id="rId4" Type="http://schemas.openxmlformats.org/officeDocument/2006/relationships/image" Target="../media/image189.png"/><Relationship Id="rId9" Type="http://schemas.openxmlformats.org/officeDocument/2006/relationships/image" Target="../media/image195.png"/><Relationship Id="rId5" Type="http://schemas.openxmlformats.org/officeDocument/2006/relationships/image" Target="../media/image193.png"/><Relationship Id="rId6" Type="http://schemas.openxmlformats.org/officeDocument/2006/relationships/image" Target="../media/image196.png"/><Relationship Id="rId7" Type="http://schemas.openxmlformats.org/officeDocument/2006/relationships/image" Target="../media/image205.png"/><Relationship Id="rId8" Type="http://schemas.openxmlformats.org/officeDocument/2006/relationships/image" Target="../media/image229.png"/></Relationships>
</file>

<file path=ppt/slides/_rels/slide3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7.png"/><Relationship Id="rId10" Type="http://schemas.openxmlformats.org/officeDocument/2006/relationships/image" Target="../media/image182.png"/><Relationship Id="rId12" Type="http://schemas.openxmlformats.org/officeDocument/2006/relationships/image" Target="../media/image20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Relationship Id="rId5" Type="http://schemas.openxmlformats.org/officeDocument/2006/relationships/image" Target="../media/image175.png"/><Relationship Id="rId6" Type="http://schemas.openxmlformats.org/officeDocument/2006/relationships/image" Target="../media/image176.png"/><Relationship Id="rId7" Type="http://schemas.openxmlformats.org/officeDocument/2006/relationships/image" Target="../media/image174.png"/><Relationship Id="rId8" Type="http://schemas.openxmlformats.org/officeDocument/2006/relationships/image" Target="../media/image183.png"/></Relationships>
</file>

<file path=ppt/slides/_rels/slide3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5.png"/><Relationship Id="rId10" Type="http://schemas.openxmlformats.org/officeDocument/2006/relationships/image" Target="../media/image227.png"/><Relationship Id="rId13" Type="http://schemas.openxmlformats.org/officeDocument/2006/relationships/image" Target="../media/image230.png"/><Relationship Id="rId12" Type="http://schemas.openxmlformats.org/officeDocument/2006/relationships/image" Target="../media/image231.png"/><Relationship Id="rId14" Type="http://schemas.openxmlformats.org/officeDocument/2006/relationships/image" Target="../media/image2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8.png"/><Relationship Id="rId4" Type="http://schemas.openxmlformats.org/officeDocument/2006/relationships/image" Target="../media/image232.png"/><Relationship Id="rId9" Type="http://schemas.openxmlformats.org/officeDocument/2006/relationships/image" Target="../media/image239.png"/><Relationship Id="rId5" Type="http://schemas.openxmlformats.org/officeDocument/2006/relationships/image" Target="../media/image223.png"/><Relationship Id="rId6" Type="http://schemas.openxmlformats.org/officeDocument/2006/relationships/image" Target="../media/image237.png"/><Relationship Id="rId7" Type="http://schemas.openxmlformats.org/officeDocument/2006/relationships/image" Target="../media/image224.png"/><Relationship Id="rId8" Type="http://schemas.openxmlformats.org/officeDocument/2006/relationships/image" Target="../media/image2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7" name="Google Shape;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74" cy="68578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1674" cy="68578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9" name="Google Shape;9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1674" cy="68578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0" name="Google Shape;10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980" y="5248275"/>
            <a:ext cx="10667715" cy="103819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/>
          <p:nvPr/>
        </p:nvSpPr>
        <p:spPr>
          <a:xfrm>
            <a:off x="761980" y="1711825"/>
            <a:ext cx="9522900" cy="19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Noto Sans KR"/>
              <a:buNone/>
            </a:pPr>
            <a:r>
              <a:rPr b="1" i="0" lang="ko" sz="465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수요예측</a:t>
            </a:r>
            <a:r>
              <a:rPr b="1" lang="ko" sz="465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과 후보 행동 구조 </a:t>
            </a:r>
            <a:r>
              <a:rPr b="1" i="0" lang="ko" sz="465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기반 </a:t>
            </a:r>
            <a:r>
              <a:rPr b="1" lang="ko" sz="465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서울자전거 </a:t>
            </a:r>
            <a:r>
              <a:rPr b="1" i="0" lang="ko" sz="465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따릉이 </a:t>
            </a:r>
            <a:r>
              <a:rPr b="1" lang="ko" sz="465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재</a:t>
            </a:r>
            <a:r>
              <a:rPr b="1" i="0" lang="ko" sz="465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배치 강화학습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761980" y="3965079"/>
            <a:ext cx="7619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Noto Sans KR"/>
              <a:buNone/>
            </a:pPr>
            <a:r>
              <a:rPr b="0" i="0" lang="ko" sz="18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서울시 공공자전거 환경에서의 강화학습 </a:t>
            </a:r>
            <a:r>
              <a:rPr lang="ko" sz="180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향상 방안 </a:t>
            </a:r>
            <a:r>
              <a:rPr b="0" i="0" lang="ko" sz="18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연구: </a:t>
            </a:r>
            <a:r>
              <a:rPr b="0" i="0" lang="ko" sz="18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REINFORCE·A2C·Double</a:t>
            </a:r>
            <a:r>
              <a:rPr b="0" i="0" lang="ko" sz="18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DQN·PPO의 성능 및 안정성 분석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351666" y="5019675"/>
            <a:ext cx="4822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lang="ko" sz="1600">
                <a:solidFill>
                  <a:srgbClr val="F8FAFC"/>
                </a:solidFill>
              </a:rPr>
              <a:t>박제영(</a:t>
            </a:r>
            <a:r>
              <a:rPr lang="ko" sz="1600">
                <a:solidFill>
                  <a:srgbClr val="F8FAFC"/>
                </a:solidFill>
              </a:rPr>
              <a:t>A73024</a:t>
            </a:r>
            <a:r>
              <a:rPr lang="ko" sz="1600">
                <a:solidFill>
                  <a:srgbClr val="F8FAFC"/>
                </a:solidFill>
              </a:rPr>
              <a:t>)</a:t>
            </a:r>
            <a:r>
              <a:rPr i="0" lang="ko" sz="1600" u="none" cap="none" strike="noStrike">
                <a:solidFill>
                  <a:srgbClr val="F8FAFC"/>
                </a:solidFill>
              </a:rPr>
              <a:t>, </a:t>
            </a:r>
            <a:r>
              <a:rPr lang="ko" sz="1600">
                <a:solidFill>
                  <a:srgbClr val="F8FAFC"/>
                </a:solidFill>
              </a:rPr>
              <a:t>손예진(A73006)</a:t>
            </a:r>
            <a:r>
              <a:rPr i="0" lang="ko" sz="1600" u="none" cap="none" strike="noStrike">
                <a:solidFill>
                  <a:srgbClr val="F8FAFC"/>
                </a:solidFill>
              </a:rPr>
              <a:t>,</a:t>
            </a:r>
            <a:r>
              <a:rPr lang="ko" sz="1600">
                <a:solidFill>
                  <a:srgbClr val="F8FAFC"/>
                </a:solidFill>
              </a:rPr>
              <a:t>이형진(A73031)</a:t>
            </a:r>
            <a:r>
              <a:rPr i="0" lang="ko" sz="1600" u="none" cap="none" strike="noStrike">
                <a:solidFill>
                  <a:srgbClr val="F8FAFC"/>
                </a:solidFill>
              </a:rPr>
              <a:t> 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깃허브 주소를 표시하는 영역만 PNG 파일로 누끼 따줘" id="104" name="Google Shape;104;p18"/>
          <p:cNvPicPr preferRelativeResize="0"/>
          <p:nvPr/>
        </p:nvPicPr>
        <p:blipFill rotWithShape="1">
          <a:blip r:embed="rId7">
            <a:alphaModFix/>
          </a:blip>
          <a:srcRect b="47655" l="76789" r="9374" t="38283"/>
          <a:stretch/>
        </p:blipFill>
        <p:spPr>
          <a:xfrm>
            <a:off x="7688617" y="5024157"/>
            <a:ext cx="674757" cy="68578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8363374" y="5142507"/>
            <a:ext cx="3267900" cy="44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1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GitHub 링크: </a:t>
            </a:r>
            <a:r>
              <a:rPr b="1" lang="ko" sz="1718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강화학습 프로젝</a:t>
            </a:r>
            <a:r>
              <a:rPr b="1" lang="ko" sz="171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트 </a:t>
            </a:r>
            <a:endParaRPr b="1" sz="171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658368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50"/>
              <a:buFont typeface="Arial"/>
              <a:buNone/>
            </a:pPr>
            <a:r>
              <a:rPr b="1" i="0" lang="ko" sz="125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TEAM &amp; ROLES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658368" y="749808"/>
            <a:ext cx="977767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100"/>
              <a:buFont typeface="Arial"/>
              <a:buNone/>
            </a:pPr>
            <a:r>
              <a:rPr b="1" i="0" lang="ko" sz="31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팀 구성 및 역할분담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658368" y="1691640"/>
            <a:ext cx="3381146" cy="4434840"/>
          </a:xfrm>
          <a:prstGeom prst="roundRect">
            <a:avLst>
              <a:gd fmla="val 2704" name="adj"/>
            </a:avLst>
          </a:prstGeom>
          <a:solidFill>
            <a:srgbClr val="F5F5F7"/>
          </a:solidFill>
          <a:ln>
            <a:noFill/>
          </a:ln>
          <a:effectLst>
            <a:outerShdw blurRad="1143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987552" y="2002536"/>
            <a:ext cx="272277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200"/>
              <a:buFont typeface="Arial"/>
              <a:buNone/>
            </a:pPr>
            <a:r>
              <a:rPr b="1" i="0" lang="ko" sz="22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손예진 (</a:t>
            </a:r>
            <a:r>
              <a:rPr b="1" lang="ko" sz="2200">
                <a:solidFill>
                  <a:srgbClr val="1D1D1F"/>
                </a:solidFill>
              </a:rPr>
              <a:t>A73006)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987539" y="2845705"/>
            <a:ext cx="272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150"/>
              <a:buFont typeface="Arial"/>
              <a:buNone/>
            </a:pPr>
            <a:r>
              <a:rPr b="1" lang="ko" sz="1250">
                <a:solidFill>
                  <a:srgbClr val="0071E3"/>
                </a:solidFill>
              </a:rPr>
              <a:t>핵심 역할</a:t>
            </a:r>
            <a:endParaRPr b="0" i="0" sz="1250" u="none" cap="none" strike="noStrike">
              <a:solidFill>
                <a:srgbClr val="0071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987550" y="3228275"/>
            <a:ext cx="30864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24245"/>
              </a:buClr>
              <a:buSzPts val="1300"/>
              <a:buFont typeface="Arial"/>
              <a:buNone/>
            </a:pPr>
            <a:r>
              <a:rPr lang="ko">
                <a:solidFill>
                  <a:srgbClr val="424245"/>
                </a:solidFill>
              </a:rPr>
              <a:t>공공데이터를 통한 따릉이 아이디어 제안</a:t>
            </a:r>
            <a:endParaRPr>
              <a:solidFill>
                <a:srgbClr val="424245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24245"/>
              </a:buClr>
              <a:buSzPts val="1300"/>
              <a:buFont typeface="Arial"/>
              <a:buNone/>
            </a:pPr>
            <a:r>
              <a:rPr lang="ko">
                <a:solidFill>
                  <a:srgbClr val="424245"/>
                </a:solidFill>
              </a:rPr>
              <a:t>따릉이 데이터 수집 및 전처리</a:t>
            </a:r>
            <a:endParaRPr>
              <a:solidFill>
                <a:srgbClr val="424245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24245"/>
              </a:buClr>
              <a:buSzPts val="1300"/>
              <a:buFont typeface="Arial"/>
              <a:buNone/>
            </a:pPr>
            <a:r>
              <a:rPr lang="ko">
                <a:solidFill>
                  <a:srgbClr val="424245"/>
                </a:solidFill>
              </a:rPr>
              <a:t>시뮬레이션 환경 구축</a:t>
            </a:r>
            <a:endParaRPr>
              <a:solidFill>
                <a:srgbClr val="424245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24245"/>
              </a:buClr>
              <a:buSzPts val="1300"/>
              <a:buFont typeface="Arial"/>
              <a:buNone/>
            </a:pPr>
            <a:r>
              <a:rPr lang="ko">
                <a:solidFill>
                  <a:srgbClr val="424245"/>
                </a:solidFill>
              </a:rPr>
              <a:t>DQN 학습 및 하이퍼파라미터 튜닝</a:t>
            </a:r>
            <a:endParaRPr>
              <a:solidFill>
                <a:srgbClr val="424245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24245"/>
              </a:buClr>
              <a:buSzPts val="1300"/>
              <a:buFont typeface="Arial"/>
              <a:buNone/>
            </a:pPr>
            <a:r>
              <a:rPr lang="ko">
                <a:solidFill>
                  <a:srgbClr val="424245"/>
                </a:solidFill>
              </a:rPr>
              <a:t>Replay Viewer 시각화</a:t>
            </a:r>
            <a:endParaRPr>
              <a:solidFill>
                <a:srgbClr val="424245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24245"/>
              </a:buClr>
              <a:buSzPts val="1300"/>
              <a:buFont typeface="Arial"/>
              <a:buNone/>
            </a:pPr>
            <a:r>
              <a:t/>
            </a:r>
            <a:endParaRPr>
              <a:solidFill>
                <a:srgbClr val="424245"/>
              </a:solidFill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987552" y="4818888"/>
            <a:ext cx="272277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150"/>
              <a:buFont typeface="Arial"/>
              <a:buNone/>
            </a:pPr>
            <a:r>
              <a:rPr b="1" lang="ko" sz="1250">
                <a:solidFill>
                  <a:srgbClr val="0071E3"/>
                </a:solidFill>
              </a:rPr>
              <a:t>주요 </a:t>
            </a:r>
            <a:r>
              <a:rPr b="1" i="0" lang="ko" sz="125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산출물</a:t>
            </a:r>
            <a:endParaRPr b="0" i="0" sz="1250" u="none" cap="none" strike="noStrike">
              <a:solidFill>
                <a:srgbClr val="0071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952975" y="5133775"/>
            <a:ext cx="3086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7325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Char char="•"/>
            </a:pPr>
            <a:r>
              <a:rPr lang="ko">
                <a:solidFill>
                  <a:srgbClr val="1D1D1F"/>
                </a:solidFill>
              </a:rPr>
              <a:t>전처리 Parquet 파일</a:t>
            </a:r>
            <a:endParaRPr i="0" u="none" cap="none" strike="noStrike">
              <a:solidFill>
                <a:schemeClr val="dk1"/>
              </a:solidFill>
            </a:endParaRPr>
          </a:p>
          <a:p>
            <a:pPr indent="-187325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1D1D1F"/>
              </a:buClr>
              <a:buSzPts val="1400"/>
              <a:buChar char="•"/>
            </a:pPr>
            <a:r>
              <a:rPr lang="ko">
                <a:solidFill>
                  <a:schemeClr val="dk1"/>
                </a:solidFill>
              </a:rPr>
              <a:t>DQN </a:t>
            </a:r>
            <a:r>
              <a:rPr lang="ko" sz="1350">
                <a:solidFill>
                  <a:srgbClr val="1D1D1F"/>
                </a:solidFill>
              </a:rPr>
              <a:t>Core Algorithms Source 및 모델 </a:t>
            </a:r>
            <a:endParaRPr>
              <a:solidFill>
                <a:schemeClr val="dk1"/>
              </a:solidFill>
            </a:endParaRPr>
          </a:p>
          <a:p>
            <a:pPr indent="-187325" lvl="0" marL="177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ko">
                <a:solidFill>
                  <a:schemeClr val="dk1"/>
                </a:solidFill>
              </a:rPr>
              <a:t>Replay Viewer 시각화 페이지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4405274" y="1691640"/>
            <a:ext cx="3381000" cy="4434900"/>
          </a:xfrm>
          <a:prstGeom prst="roundRect">
            <a:avLst>
              <a:gd fmla="val 2704" name="adj"/>
            </a:avLst>
          </a:prstGeom>
          <a:solidFill>
            <a:srgbClr val="F5F5F7"/>
          </a:solidFill>
          <a:ln>
            <a:noFill/>
          </a:ln>
          <a:effectLst>
            <a:outerShdw blurRad="1143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4734458" y="2002536"/>
            <a:ext cx="272277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200"/>
              <a:buFont typeface="Arial"/>
              <a:buNone/>
            </a:pPr>
            <a:r>
              <a:rPr b="1" i="0" lang="ko" sz="22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박제영 (</a:t>
            </a:r>
            <a:r>
              <a:rPr b="1" lang="ko" sz="2200">
                <a:solidFill>
                  <a:srgbClr val="1D1D1F"/>
                </a:solidFill>
              </a:rPr>
              <a:t>A73024)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4734446" y="2845705"/>
            <a:ext cx="272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150"/>
              <a:buFont typeface="Arial"/>
              <a:buNone/>
            </a:pPr>
            <a:r>
              <a:rPr b="1" lang="ko" sz="1250">
                <a:solidFill>
                  <a:srgbClr val="0071E3"/>
                </a:solidFill>
              </a:rPr>
              <a:t>핵심 역할</a:t>
            </a:r>
            <a:endParaRPr b="1" sz="1250">
              <a:solidFill>
                <a:srgbClr val="0071E3"/>
              </a:solidFill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4734450" y="3312694"/>
            <a:ext cx="28587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24245"/>
              </a:buClr>
              <a:buSzPts val="1300"/>
              <a:buFont typeface="Arial"/>
              <a:buNone/>
            </a:pPr>
            <a:r>
              <a:rPr lang="ko">
                <a:solidFill>
                  <a:srgbClr val="424245"/>
                </a:solidFill>
              </a:rPr>
              <a:t>REINFORCE+</a:t>
            </a:r>
            <a:r>
              <a:rPr b="0" i="0" lang="ko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  <a:t>A2C+</a:t>
            </a:r>
            <a:r>
              <a:rPr lang="ko">
                <a:solidFill>
                  <a:srgbClr val="424245"/>
                </a:solidFill>
              </a:rPr>
              <a:t>VAE결합 실험</a:t>
            </a:r>
            <a:br>
              <a:rPr lang="ko">
                <a:solidFill>
                  <a:srgbClr val="424245"/>
                </a:solidFill>
              </a:rPr>
            </a:br>
            <a:r>
              <a:rPr b="0" i="0" lang="ko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  <a:t>MAB(Contextual Bandit) </a:t>
            </a:r>
            <a:r>
              <a:rPr lang="ko">
                <a:solidFill>
                  <a:srgbClr val="424245"/>
                </a:solidFill>
              </a:rPr>
              <a:t>실험</a:t>
            </a:r>
            <a:r>
              <a:rPr b="0" i="0" lang="ko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ko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  <a:t>모델 구조 최적화 및 하이퍼파라미터 튜닝으로 효율·성능 극대화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4734458" y="4818888"/>
            <a:ext cx="272277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150"/>
              <a:buFont typeface="Arial"/>
              <a:buNone/>
            </a:pPr>
            <a:r>
              <a:rPr b="1" lang="ko" sz="1250">
                <a:solidFill>
                  <a:srgbClr val="0071E3"/>
                </a:solidFill>
              </a:rPr>
              <a:t>주요 </a:t>
            </a:r>
            <a:r>
              <a:rPr b="1" i="0" lang="ko" sz="125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산출물</a:t>
            </a:r>
            <a:endParaRPr b="0" i="0" sz="1250" u="none" cap="none" strike="noStrike">
              <a:solidFill>
                <a:srgbClr val="0071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4734458" y="5174351"/>
            <a:ext cx="2722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415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50"/>
              <a:buFont typeface="Arial"/>
              <a:buChar char="•"/>
            </a:pPr>
            <a:r>
              <a:rPr b="0" i="0" lang="ko" sz="135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Multi-RL Core Algorithms Source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1D1D1F"/>
              </a:buClr>
              <a:buSzPts val="1350"/>
              <a:buFont typeface="Arial"/>
              <a:buChar char="•"/>
            </a:pPr>
            <a:r>
              <a:rPr b="0" i="0" lang="ko" sz="135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End-to-End 학습 파이프라인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8152181" y="1691640"/>
            <a:ext cx="3381146" cy="4434840"/>
          </a:xfrm>
          <a:prstGeom prst="roundRect">
            <a:avLst>
              <a:gd fmla="val 2704" name="adj"/>
            </a:avLst>
          </a:prstGeom>
          <a:solidFill>
            <a:srgbClr val="F5F5F7"/>
          </a:solidFill>
          <a:ln>
            <a:noFill/>
          </a:ln>
          <a:effectLst>
            <a:outerShdw blurRad="1143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9"/>
          <p:cNvSpPr/>
          <p:nvPr/>
        </p:nvSpPr>
        <p:spPr>
          <a:xfrm>
            <a:off x="8481365" y="2002536"/>
            <a:ext cx="272277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200"/>
              <a:buFont typeface="Arial"/>
              <a:buNone/>
            </a:pPr>
            <a:r>
              <a:rPr b="1" i="0" lang="ko" sz="22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이형진 (A73031)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8481353" y="2845705"/>
            <a:ext cx="272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150"/>
              <a:buFont typeface="Arial"/>
              <a:buNone/>
            </a:pPr>
            <a:r>
              <a:rPr b="1" lang="ko" sz="1250">
                <a:solidFill>
                  <a:srgbClr val="0071E3"/>
                </a:solidFill>
              </a:rPr>
              <a:t>핵심 역할</a:t>
            </a:r>
            <a:endParaRPr b="1" sz="1250">
              <a:solidFill>
                <a:srgbClr val="0071E3"/>
              </a:solidFill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8481365" y="3228265"/>
            <a:ext cx="27228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24245"/>
              </a:buClr>
              <a:buSzPts val="1300"/>
              <a:buFont typeface="Arial"/>
              <a:buNone/>
            </a:pPr>
            <a:r>
              <a:rPr b="0" i="0" lang="ko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  <a:t>PPO/QRDQN 파이프라인 개발 · 데이터셋 분할 및 다양한 Seed 성능 실험. 검증 지표 수립</a:t>
            </a:r>
            <a:r>
              <a:rPr lang="ko">
                <a:solidFill>
                  <a:srgbClr val="424245"/>
                </a:solidFill>
              </a:rPr>
              <a:t> 및</a:t>
            </a:r>
            <a:r>
              <a:rPr b="0" i="0" lang="ko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  <a:t> 연구성과 정리, 최종 PPT 작성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8481365" y="4818888"/>
            <a:ext cx="272277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150"/>
              <a:buFont typeface="Arial"/>
              <a:buNone/>
            </a:pPr>
            <a:r>
              <a:rPr b="1" lang="ko" sz="1250">
                <a:solidFill>
                  <a:srgbClr val="0071E3"/>
                </a:solidFill>
              </a:rPr>
              <a:t>주요 </a:t>
            </a:r>
            <a:r>
              <a:rPr b="1" i="0" lang="ko" sz="125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산출물</a:t>
            </a:r>
            <a:endParaRPr b="0" i="0" sz="1250" u="none" cap="none" strike="noStrike">
              <a:solidFill>
                <a:srgbClr val="0071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8481365" y="5133779"/>
            <a:ext cx="2722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415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50"/>
              <a:buFont typeface="Arial"/>
              <a:buChar char="•"/>
            </a:pPr>
            <a:r>
              <a:rPr lang="ko" sz="1350">
                <a:solidFill>
                  <a:srgbClr val="1D1D1F"/>
                </a:solidFill>
              </a:rPr>
              <a:t>개선된 PPO Algorithm Source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1D1D1F"/>
              </a:buClr>
              <a:buSzPts val="1350"/>
              <a:buFont typeface="Arial"/>
              <a:buChar char="•"/>
            </a:pPr>
            <a:r>
              <a:rPr b="0" i="0" lang="ko" sz="135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최종 보고서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/>
          <p:nvPr/>
        </p:nvSpPr>
        <p:spPr>
          <a:xfrm>
            <a:off x="658368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50"/>
              <a:buFont typeface="Arial"/>
              <a:buNone/>
            </a:pPr>
            <a:r>
              <a:rPr b="1" lang="ko" sz="1250">
                <a:solidFill>
                  <a:srgbClr val="0071E3"/>
                </a:solidFill>
              </a:rPr>
              <a:t>PROBLEM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658368" y="749808"/>
            <a:ext cx="977767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100"/>
              <a:buFont typeface="Arial"/>
              <a:buNone/>
            </a:pPr>
            <a:r>
              <a:rPr b="1" lang="ko" sz="3100">
                <a:solidFill>
                  <a:srgbClr val="1D1D1F"/>
                </a:solidFill>
              </a:rPr>
              <a:t>문제정의: 강화학습을 통한 서울 따릉이 최적 배치 수행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5032605" y="1959531"/>
            <a:ext cx="640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2600"/>
              <a:buFont typeface="Arial"/>
              <a:buNone/>
            </a:pPr>
            <a:r>
              <a:rPr b="1" i="0" lang="ko" sz="26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5732966" y="1959531"/>
            <a:ext cx="577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500"/>
              <a:buFont typeface="Arial"/>
              <a:buNone/>
            </a:pPr>
            <a:r>
              <a:rPr b="1" lang="ko" sz="1500">
                <a:solidFill>
                  <a:srgbClr val="1D1D1F"/>
                </a:solidFill>
              </a:rPr>
              <a:t>문제상황 : </a:t>
            </a:r>
            <a:r>
              <a:rPr b="1" lang="ko" sz="1500">
                <a:solidFill>
                  <a:srgbClr val="1D1D1F"/>
                </a:solidFill>
              </a:rPr>
              <a:t>출퇴근/주말/날씨에 따라 정류소별 </a:t>
            </a:r>
            <a:r>
              <a:rPr b="1" lang="ko" sz="1500">
                <a:solidFill>
                  <a:srgbClr val="1D1D1F"/>
                </a:solidFill>
              </a:rPr>
              <a:t>대여/반납이 달라짐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5745837" y="2288715"/>
            <a:ext cx="5772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5032605" y="2995851"/>
            <a:ext cx="640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2600"/>
              <a:buFont typeface="Arial"/>
              <a:buNone/>
            </a:pPr>
            <a:r>
              <a:rPr b="1" i="0" lang="ko" sz="26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5745842" y="2995841"/>
            <a:ext cx="695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rgbClr val="1D1D1F"/>
              </a:solidFill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5032605" y="4032171"/>
            <a:ext cx="640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2600"/>
              <a:buFont typeface="Arial"/>
              <a:buNone/>
            </a:pPr>
            <a:r>
              <a:rPr b="1" i="0" lang="ko" sz="26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5745824" y="4032176"/>
            <a:ext cx="6077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500"/>
              <a:buFont typeface="Arial"/>
              <a:buNone/>
            </a:pPr>
            <a:r>
              <a:rPr b="1" lang="ko" sz="1500">
                <a:solidFill>
                  <a:srgbClr val="1D1D1F"/>
                </a:solidFill>
              </a:rPr>
              <a:t>RL 적합성 : 정답 행동 레이블이 없는 문제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5745837" y="4361355"/>
            <a:ext cx="5772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50"/>
              <a:buFont typeface="Arial"/>
              <a:buNone/>
            </a:pPr>
            <a:r>
              <a:rPr lang="ko" sz="1250">
                <a:solidFill>
                  <a:srgbClr val="6E6E73"/>
                </a:solidFill>
              </a:rPr>
              <a:t>시행착오를 통해 스스로 최적 정책을 탐색하는 강화학습 방식 선택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643485" y="5114211"/>
            <a:ext cx="10875000" cy="1326000"/>
          </a:xfrm>
          <a:prstGeom prst="roundRect">
            <a:avLst>
              <a:gd fmla="val 5517" name="adj"/>
            </a:avLst>
          </a:prstGeom>
          <a:solidFill>
            <a:srgbClr val="F5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0"/>
          <p:cNvSpPr/>
          <p:nvPr/>
        </p:nvSpPr>
        <p:spPr>
          <a:xfrm>
            <a:off x="1009245" y="5333667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50"/>
              <a:buFont typeface="Arial"/>
              <a:buNone/>
            </a:pPr>
            <a:r>
              <a:rPr b="1" lang="ko" sz="1150">
                <a:solidFill>
                  <a:srgbClr val="0071E3"/>
                </a:solidFill>
              </a:rPr>
              <a:t>KEYWORD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1009245" y="5626275"/>
            <a:ext cx="101433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550"/>
              <a:buFont typeface="Arial"/>
              <a:buNone/>
            </a:pPr>
            <a:r>
              <a:rPr b="1" lang="ko" sz="165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본 프로젝트의 핵심은 알고리즘을 단순히 적용하는 것이 아니라, </a:t>
            </a:r>
            <a:r>
              <a:rPr b="1" lang="ko" sz="1650">
                <a:solidFill>
                  <a:srgbClr val="0071E3"/>
                </a:solidFill>
                <a:latin typeface="Nanum Gothic"/>
                <a:ea typeface="Nanum Gothic"/>
                <a:cs typeface="Nanum Gothic"/>
                <a:sym typeface="Nanum Gothic"/>
              </a:rPr>
              <a:t>따릉이 재배치 문제를 MDP로 정의하고 State와 Action을 문제 특성에 맞게 재구성한 뒤 여러 RL 알고리즘이 </a:t>
            </a:r>
            <a:r>
              <a:rPr b="1" lang="ko" sz="1650">
                <a:solidFill>
                  <a:srgbClr val="0071E3"/>
                </a:solidFill>
                <a:latin typeface="Nanum Gothic"/>
                <a:ea typeface="Nanum Gothic"/>
                <a:cs typeface="Nanum Gothic"/>
                <a:sym typeface="Nanum Gothic"/>
              </a:rPr>
              <a:t>이 구조에서</a:t>
            </a:r>
            <a:r>
              <a:rPr b="1" lang="ko" sz="1650">
                <a:solidFill>
                  <a:srgbClr val="0071E3"/>
                </a:solidFill>
                <a:latin typeface="Nanum Gothic"/>
                <a:ea typeface="Nanum Gothic"/>
                <a:cs typeface="Nanum Gothic"/>
                <a:sym typeface="Nanum Gothic"/>
              </a:rPr>
              <a:t> 어떻게 반응하는지 비교</a:t>
            </a:r>
            <a:r>
              <a:rPr b="1" lang="ko" sz="165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한 것이다.</a:t>
            </a:r>
            <a:r>
              <a:rPr b="1" lang="ko" sz="17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 </a:t>
            </a:r>
            <a:endParaRPr b="1" i="0" sz="2150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49" name="Google Shape;149;p20"/>
          <p:cNvPicPr preferRelativeResize="0"/>
          <p:nvPr/>
        </p:nvPicPr>
        <p:blipFill rotWithShape="1">
          <a:blip r:embed="rId3">
            <a:alphaModFix/>
          </a:blip>
          <a:srcRect b="0" l="0" r="43153" t="0"/>
          <a:stretch/>
        </p:blipFill>
        <p:spPr>
          <a:xfrm>
            <a:off x="1125850" y="1766100"/>
            <a:ext cx="3330267" cy="312535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/>
          <p:nvPr/>
        </p:nvSpPr>
        <p:spPr>
          <a:xfrm>
            <a:off x="5745850" y="2316575"/>
            <a:ext cx="5549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6E6E73"/>
                </a:solidFill>
              </a:rPr>
              <a:t>Stockout(-) : 대여실패(자전거 부족) / Full(-) : 반납실패(자전거 만차) 발생</a:t>
            </a:r>
            <a:endParaRPr sz="1250">
              <a:solidFill>
                <a:srgbClr val="6E6E73"/>
              </a:solidFill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5745841" y="3015618"/>
            <a:ext cx="577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500"/>
              <a:buFont typeface="Arial"/>
              <a:buNone/>
            </a:pPr>
            <a:r>
              <a:rPr b="1" lang="ko" sz="1500">
                <a:solidFill>
                  <a:srgbClr val="1D1D1F"/>
                </a:solidFill>
              </a:rPr>
              <a:t>문제특성 : 단순 예측 문제가 아니라 순차 의사결정 문제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5732967" y="3434712"/>
            <a:ext cx="577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50"/>
              <a:buFont typeface="Arial"/>
              <a:buNone/>
            </a:pPr>
            <a:r>
              <a:rPr lang="ko" sz="1250">
                <a:solidFill>
                  <a:srgbClr val="6E6E73"/>
                </a:solidFill>
              </a:rPr>
              <a:t>트럭이 지금 어디로 가는지가 이후 정류소 재고와 다음 선택에 영향을 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75" y="2263623"/>
            <a:ext cx="3492313" cy="395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531" y="2263623"/>
            <a:ext cx="3492462" cy="395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736" y="2263623"/>
            <a:ext cx="3492313" cy="395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1"/>
          <p:cNvSpPr txBox="1"/>
          <p:nvPr/>
        </p:nvSpPr>
        <p:spPr>
          <a:xfrm>
            <a:off x="571485" y="571500"/>
            <a:ext cx="27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50"/>
              <a:buFont typeface="Arial"/>
              <a:buNone/>
            </a:pPr>
            <a:r>
              <a:rPr b="1" lang="ko" sz="1250">
                <a:solidFill>
                  <a:srgbClr val="0071E3"/>
                </a:solidFill>
              </a:rPr>
              <a:t>PROBLEM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64748B"/>
              </a:solidFill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866752" y="2654148"/>
            <a:ext cx="290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350" u="none" cap="none" strike="noStrike">
                <a:solidFill>
                  <a:srgbClr val="3B82F6"/>
                </a:solidFill>
              </a:rPr>
              <a:t>01</a:t>
            </a:r>
            <a:endParaRPr/>
          </a:p>
        </p:txBody>
      </p:sp>
      <p:sp>
        <p:nvSpPr>
          <p:cNvPr id="162" name="Google Shape;162;p21"/>
          <p:cNvSpPr txBox="1"/>
          <p:nvPr/>
        </p:nvSpPr>
        <p:spPr>
          <a:xfrm>
            <a:off x="866752" y="3953119"/>
            <a:ext cx="29019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275" u="none" cap="none" strike="noStrike">
                <a:solidFill>
                  <a:srgbClr val="475569"/>
                </a:solidFill>
              </a:rPr>
              <a:t>정류소별 10분 대여/반납 이력, 위치·Capacity, 날씨 데이터를 통해 </a:t>
            </a:r>
            <a:r>
              <a:rPr b="1" i="0" lang="ko" sz="1275" u="none" cap="none" strike="noStrike">
                <a:solidFill>
                  <a:srgbClr val="475569"/>
                </a:solidFill>
              </a:rPr>
              <a:t>하루 Episode 시뮬레이션</a:t>
            </a:r>
            <a:r>
              <a:rPr i="0" lang="ko" sz="1275" u="none" cap="none" strike="noStrike">
                <a:solidFill>
                  <a:srgbClr val="475569"/>
                </a:solidFill>
              </a:rPr>
              <a:t>이 가</a:t>
            </a:r>
            <a:r>
              <a:rPr i="0" lang="ko" sz="1275" u="none" cap="none" strike="noStrike">
                <a:solidFill>
                  <a:srgbClr val="475569"/>
                </a:solidFill>
              </a:rPr>
              <a:t>능합니다</a:t>
            </a:r>
            <a:r>
              <a:rPr i="0" lang="ko" sz="1275" u="none" cap="none" strike="noStrike">
                <a:solidFill>
                  <a:srgbClr val="475569"/>
                </a:solidFill>
              </a:rPr>
              <a:t>. 트럭 이동 후 재고 상태 변화를 계산할 수 있어 시뮬레이터 기반 MDP 모델링에 최적화된 환경</a:t>
            </a:r>
            <a:r>
              <a:rPr i="0" lang="ko" sz="1275" u="none" cap="none" strike="noStrike">
                <a:solidFill>
                  <a:srgbClr val="475569"/>
                </a:solidFill>
              </a:rPr>
              <a:t>입니다.</a:t>
            </a:r>
            <a:endParaRPr/>
          </a:p>
        </p:txBody>
      </p:sp>
      <p:sp>
        <p:nvSpPr>
          <p:cNvPr id="163" name="Google Shape;163;p21"/>
          <p:cNvSpPr txBox="1"/>
          <p:nvPr/>
        </p:nvSpPr>
        <p:spPr>
          <a:xfrm>
            <a:off x="4644801" y="2654148"/>
            <a:ext cx="290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35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64" name="Google Shape;164;p21"/>
          <p:cNvSpPr txBox="1"/>
          <p:nvPr/>
        </p:nvSpPr>
        <p:spPr>
          <a:xfrm>
            <a:off x="4644801" y="3953119"/>
            <a:ext cx="29019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275" u="none" cap="none" strike="noStrike">
                <a:solidFill>
                  <a:srgbClr val="475569"/>
                </a:solidFill>
              </a:rPr>
              <a:t>전체 정류소를 직접 Action으로 두면 탐색 공간이 너무 넓어 학습이 어렵습니다. 1시간 수요를 먼저 예측하여 </a:t>
            </a:r>
            <a:r>
              <a:rPr b="1" i="0" lang="ko" sz="1275" u="none" cap="none" strike="noStrike">
                <a:solidFill>
                  <a:srgbClr val="475569"/>
                </a:solidFill>
              </a:rPr>
              <a:t>"불균형 임계치"</a:t>
            </a:r>
            <a:r>
              <a:rPr i="0" lang="ko" sz="1275" u="none" cap="none" strike="noStrike">
                <a:solidFill>
                  <a:srgbClr val="475569"/>
                </a:solidFill>
              </a:rPr>
              <a:t>를 넘는 정류장들만 </a:t>
            </a:r>
            <a:r>
              <a:rPr b="1" i="0" lang="ko" sz="1275" u="none" cap="none" strike="noStrike">
                <a:solidFill>
                  <a:srgbClr val="475569"/>
                </a:solidFill>
              </a:rPr>
              <a:t>Top-K 후보</a:t>
            </a:r>
            <a:r>
              <a:rPr i="0" lang="ko" sz="1275" u="none" cap="none" strike="noStrike">
                <a:solidFill>
                  <a:srgbClr val="475569"/>
                </a:solidFill>
              </a:rPr>
              <a:t>로 추출함으로써 Action Space를 효율적으로 축소했습니다.</a:t>
            </a:r>
            <a:endParaRPr/>
          </a:p>
        </p:txBody>
      </p:sp>
      <p:sp>
        <p:nvSpPr>
          <p:cNvPr id="165" name="Google Shape;165;p21"/>
          <p:cNvSpPr txBox="1"/>
          <p:nvPr/>
        </p:nvSpPr>
        <p:spPr>
          <a:xfrm>
            <a:off x="8423000" y="2654148"/>
            <a:ext cx="290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35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pic>
        <p:nvPicPr>
          <p:cNvPr descr="image.png" id="166" name="Google Shape;16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52" y="2989308"/>
            <a:ext cx="476237" cy="47623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1485848" y="2930375"/>
            <a:ext cx="1947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800" u="none" cap="none" strike="noStrike">
                <a:solidFill>
                  <a:srgbClr val="1E293B"/>
                </a:solidFill>
              </a:rPr>
              <a:t>확보한 데이터와</a:t>
            </a:r>
            <a:br>
              <a:rPr i="0" lang="ko" sz="1800" u="none" cap="none" strike="noStrike">
                <a:solidFill>
                  <a:schemeClr val="dk1"/>
                </a:solidFill>
              </a:rPr>
            </a:br>
            <a:r>
              <a:rPr b="1" i="0" lang="ko" sz="1800" u="none" cap="none" strike="noStrike">
                <a:solidFill>
                  <a:srgbClr val="1E293B"/>
                </a:solidFill>
              </a:rPr>
              <a:t> 문제의 성격</a:t>
            </a:r>
            <a:endParaRPr/>
          </a:p>
        </p:txBody>
      </p:sp>
      <p:pic>
        <p:nvPicPr>
          <p:cNvPr descr="image.png" id="168" name="Google Shape;16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4801" y="2989308"/>
            <a:ext cx="476237" cy="47623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/>
          <p:nvPr/>
        </p:nvSpPr>
        <p:spPr>
          <a:xfrm>
            <a:off x="5263897" y="2930374"/>
            <a:ext cx="17265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E293B"/>
                </a:solidFill>
              </a:rPr>
              <a:t>수요 예측을 통한 최적화</a:t>
            </a:r>
            <a:endParaRPr/>
          </a:p>
        </p:txBody>
      </p:sp>
      <p:pic>
        <p:nvPicPr>
          <p:cNvPr descr="image.png" id="170" name="Google Shape;17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3000" y="2989308"/>
            <a:ext cx="476237" cy="47623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9042093" y="2930373"/>
            <a:ext cx="20448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800" u="none" cap="none" strike="noStrike">
                <a:solidFill>
                  <a:srgbClr val="1E293B"/>
                </a:solidFill>
              </a:rPr>
              <a:t>논문 및</a:t>
            </a:r>
            <a:br>
              <a:rPr i="0" lang="ko" sz="1800" u="none" cap="none" strike="noStrike">
                <a:solidFill>
                  <a:schemeClr val="dk1"/>
                </a:solidFill>
              </a:rPr>
            </a:br>
            <a:r>
              <a:rPr b="1" i="0" lang="ko" sz="1800" u="none" cap="none" strike="noStrike">
                <a:solidFill>
                  <a:srgbClr val="1E293B"/>
                </a:solidFill>
              </a:rPr>
              <a:t> 이론적 근거</a:t>
            </a:r>
            <a:endParaRPr/>
          </a:p>
        </p:txBody>
      </p:sp>
      <p:sp>
        <p:nvSpPr>
          <p:cNvPr id="172" name="Google Shape;172;p21"/>
          <p:cNvSpPr txBox="1"/>
          <p:nvPr/>
        </p:nvSpPr>
        <p:spPr>
          <a:xfrm>
            <a:off x="8537297" y="3953119"/>
            <a:ext cx="278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25" u="none" cap="none" strike="noStrike">
                <a:solidFill>
                  <a:srgbClr val="3B82F6"/>
                </a:solidFill>
              </a:rPr>
              <a:t>KDD 2018</a:t>
            </a:r>
            <a:r>
              <a:rPr i="0" lang="ko" sz="1125" u="none" cap="none" strike="noStrike">
                <a:solidFill>
                  <a:srgbClr val="475569"/>
                </a:solidFill>
              </a:rPr>
              <a:t> Hourly rentals 예측이 재배치의 핵심 입력값임을 입증</a:t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8423000" y="3953119"/>
            <a:ext cx="28500" cy="6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8537297" y="4686544"/>
            <a:ext cx="278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25" u="none" cap="none" strike="noStrike">
                <a:solidFill>
                  <a:srgbClr val="3B82F6"/>
                </a:solidFill>
              </a:rPr>
              <a:t>Liang et al. (2024)</a:t>
            </a:r>
            <a:r>
              <a:rPr i="0" lang="ko" sz="1125" u="none" cap="none" strike="noStrike">
                <a:solidFill>
                  <a:srgbClr val="475569"/>
                </a:solidFill>
              </a:rPr>
              <a:t> Dynamic Rebalancing을 MDP로 공식화하여 접근</a:t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8423000" y="4686544"/>
            <a:ext cx="28500" cy="6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8537297" y="5419969"/>
            <a:ext cx="278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25" u="none" cap="none" strike="noStrike">
                <a:solidFill>
                  <a:srgbClr val="3B82F6"/>
                </a:solidFill>
              </a:rPr>
              <a:t>Sutton &amp; Barto</a:t>
            </a:r>
            <a:r>
              <a:rPr i="0" lang="ko" sz="1125" u="none" cap="none" strike="noStrike">
                <a:solidFill>
                  <a:srgbClr val="475569"/>
                </a:solidFill>
              </a:rPr>
              <a:t> RL의 Trial-and-error와 Delayed Reward가 문제 해결의 핵심</a:t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>
            <a:off x="8423000" y="5419969"/>
            <a:ext cx="28500" cy="6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8" name="Google Shape;17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4385" y="3122658"/>
            <a:ext cx="180970" cy="2095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78148" y="3122658"/>
            <a:ext cx="209544" cy="2095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42059" y="3122658"/>
            <a:ext cx="238119" cy="20954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571485" y="888750"/>
            <a:ext cx="116013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3100" u="none" cap="none" strike="noStrike">
                <a:solidFill>
                  <a:srgbClr val="0F172A"/>
                </a:solidFill>
              </a:rPr>
              <a:t>왜 강화학습인가?</a:t>
            </a:r>
            <a:endParaRPr sz="900"/>
          </a:p>
        </p:txBody>
      </p:sp>
      <p:sp>
        <p:nvSpPr>
          <p:cNvPr id="182" name="Google Shape;182;p21"/>
          <p:cNvSpPr txBox="1"/>
          <p:nvPr/>
        </p:nvSpPr>
        <p:spPr>
          <a:xfrm>
            <a:off x="571485" y="1556800"/>
            <a:ext cx="11048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950" u="none" cap="none" strike="noStrike">
                <a:solidFill>
                  <a:srgbClr val="3B82F6"/>
                </a:solidFill>
              </a:rPr>
              <a:t>따릉이 재배치는 순차 의사결정 문제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-324875" y="974650"/>
            <a:ext cx="371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/>
          <p:nvPr/>
        </p:nvSpPr>
        <p:spPr>
          <a:xfrm>
            <a:off x="658368" y="45720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50"/>
              <a:buFont typeface="Arial"/>
              <a:buNone/>
            </a:pPr>
            <a:r>
              <a:rPr b="1" lang="ko" sz="1250">
                <a:solidFill>
                  <a:srgbClr val="0071E3"/>
                </a:solidFill>
              </a:rPr>
              <a:t>PROJECT</a:t>
            </a:r>
            <a:r>
              <a:rPr b="1" i="0" lang="ko" sz="125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 OBJECTIVES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658375" y="749800"/>
            <a:ext cx="10393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100"/>
              <a:buFont typeface="Arial"/>
              <a:buNone/>
            </a:pPr>
            <a:r>
              <a:rPr b="1" lang="ko" sz="3100">
                <a:solidFill>
                  <a:srgbClr val="1D1D1F"/>
                </a:solidFill>
              </a:rPr>
              <a:t>프로젝트 </a:t>
            </a:r>
            <a:r>
              <a:rPr b="1" i="0" lang="ko" sz="31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목표 : </a:t>
            </a:r>
            <a:r>
              <a:rPr b="1" lang="ko" sz="3100">
                <a:solidFill>
                  <a:srgbClr val="1D1D1F"/>
                </a:solidFill>
              </a:rPr>
              <a:t>Baseline</a:t>
            </a:r>
            <a:r>
              <a:rPr b="1" i="0" lang="ko" sz="31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ko" sz="3100">
                <a:solidFill>
                  <a:srgbClr val="1D1D1F"/>
                </a:solidFill>
              </a:rPr>
              <a:t>알고리즘을 뛰어넘는 RL 구현 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" name="Google Shape;191;p22"/>
          <p:cNvGrpSpPr/>
          <p:nvPr/>
        </p:nvGrpSpPr>
        <p:grpSpPr>
          <a:xfrm>
            <a:off x="666750" y="1781175"/>
            <a:ext cx="3429000" cy="4114800"/>
            <a:chOff x="666750" y="1781175"/>
            <a:chExt cx="3429000" cy="4114800"/>
          </a:xfrm>
        </p:grpSpPr>
        <p:sp>
          <p:nvSpPr>
            <p:cNvPr id="192" name="Google Shape;192;p22"/>
            <p:cNvSpPr/>
            <p:nvPr/>
          </p:nvSpPr>
          <p:spPr>
            <a:xfrm>
              <a:off x="666750" y="1781175"/>
              <a:ext cx="3429000" cy="4114800"/>
            </a:xfrm>
            <a:prstGeom prst="roundRect">
              <a:avLst>
                <a:gd fmla="val 2777" name="adj"/>
              </a:avLst>
            </a:prstGeom>
            <a:solidFill>
              <a:srgbClr val="F5F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3" name="Google Shape;193;p22"/>
            <p:cNvGrpSpPr/>
            <p:nvPr/>
          </p:nvGrpSpPr>
          <p:grpSpPr>
            <a:xfrm>
              <a:off x="857250" y="1885702"/>
              <a:ext cx="3048000" cy="466973"/>
              <a:chOff x="857250" y="1885702"/>
              <a:chExt cx="3048000" cy="466973"/>
            </a:xfrm>
          </p:grpSpPr>
          <p:sp>
            <p:nvSpPr>
              <p:cNvPr id="194" name="Google Shape;194;p22"/>
              <p:cNvSpPr/>
              <p:nvPr/>
            </p:nvSpPr>
            <p:spPr>
              <a:xfrm>
                <a:off x="857250" y="1971675"/>
                <a:ext cx="3048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22"/>
              <p:cNvSpPr txBox="1"/>
              <p:nvPr/>
            </p:nvSpPr>
            <p:spPr>
              <a:xfrm>
                <a:off x="857250" y="1885702"/>
                <a:ext cx="3048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3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Baseline: </a:t>
                </a:r>
                <a:r>
                  <a:rPr b="1" lang="ko" sz="13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Most Imbalanced</a:t>
                </a:r>
                <a:r>
                  <a:rPr b="1" lang="ko" sz="13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정책</a:t>
                </a:r>
                <a:endParaRPr b="1" sz="1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6" name="Google Shape;196;p22"/>
            <p:cNvGrpSpPr/>
            <p:nvPr/>
          </p:nvGrpSpPr>
          <p:grpSpPr>
            <a:xfrm>
              <a:off x="857250" y="2428875"/>
              <a:ext cx="3048150" cy="762000"/>
              <a:chOff x="857250" y="2428875"/>
              <a:chExt cx="3048150" cy="762000"/>
            </a:xfrm>
          </p:grpSpPr>
          <p:sp>
            <p:nvSpPr>
              <p:cNvPr id="197" name="Google Shape;197;p22"/>
              <p:cNvSpPr/>
              <p:nvPr/>
            </p:nvSpPr>
            <p:spPr>
              <a:xfrm>
                <a:off x="857250" y="2428875"/>
                <a:ext cx="381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0071E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22"/>
              <p:cNvSpPr txBox="1"/>
              <p:nvPr/>
            </p:nvSpPr>
            <p:spPr>
              <a:xfrm>
                <a:off x="857250" y="2428875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b="1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2"/>
              <p:cNvSpPr txBox="1"/>
              <p:nvPr/>
            </p:nvSpPr>
            <p:spPr>
              <a:xfrm>
                <a:off x="1333500" y="2428875"/>
                <a:ext cx="2571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100">
                    <a:solidFill>
                      <a:srgbClr val="1D1D1F"/>
                    </a:solidFill>
                    <a:latin typeface="Arial"/>
                    <a:ea typeface="Arial"/>
                    <a:cs typeface="Arial"/>
                    <a:sym typeface="Arial"/>
                  </a:rPr>
                  <a:t>학습 안 함, 규칙 기반</a:t>
                </a:r>
                <a:endParaRPr b="1" sz="1100">
                  <a:solidFill>
                    <a:srgbClr val="1D1D1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ko" sz="1100">
                    <a:solidFill>
                      <a:srgbClr val="424245"/>
                    </a:solidFill>
                    <a:latin typeface="Arial"/>
                    <a:ea typeface="Arial"/>
                    <a:cs typeface="Arial"/>
                    <a:sym typeface="Arial"/>
                  </a:rPr>
                  <a:t>매 Step 모든 정류소의 현재 재고와 목표 재고(Capacity 50%)의 차이를 분석</a:t>
                </a:r>
                <a:endParaRPr sz="1100">
                  <a:solidFill>
                    <a:srgbClr val="42424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200;p22"/>
            <p:cNvGrpSpPr/>
            <p:nvPr/>
          </p:nvGrpSpPr>
          <p:grpSpPr>
            <a:xfrm>
              <a:off x="857250" y="3286125"/>
              <a:ext cx="3048150" cy="1203538"/>
              <a:chOff x="857250" y="3286125"/>
              <a:chExt cx="3048150" cy="1203538"/>
            </a:xfrm>
          </p:grpSpPr>
          <p:sp>
            <p:nvSpPr>
              <p:cNvPr id="201" name="Google Shape;201;p22"/>
              <p:cNvSpPr/>
              <p:nvPr/>
            </p:nvSpPr>
            <p:spPr>
              <a:xfrm>
                <a:off x="857250" y="3286125"/>
                <a:ext cx="381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0071E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22"/>
              <p:cNvSpPr txBox="1"/>
              <p:nvPr/>
            </p:nvSpPr>
            <p:spPr>
              <a:xfrm>
                <a:off x="857250" y="3297115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 b="1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2"/>
              <p:cNvSpPr txBox="1"/>
              <p:nvPr/>
            </p:nvSpPr>
            <p:spPr>
              <a:xfrm>
                <a:off x="1333500" y="3346663"/>
                <a:ext cx="25719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100">
                    <a:solidFill>
                      <a:srgbClr val="1D1D1F"/>
                    </a:solidFill>
                    <a:latin typeface="Arial"/>
                    <a:ea typeface="Arial"/>
                    <a:cs typeface="Arial"/>
                    <a:sym typeface="Arial"/>
                  </a:rPr>
                  <a:t>가장 불균형한 곳으로 이동 (Greedy)</a:t>
                </a:r>
                <a:br>
                  <a:rPr b="1" lang="ko" sz="1100">
                    <a:solidFill>
                      <a:srgbClr val="1D1D1F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endParaRPr b="1" sz="1100">
                  <a:solidFill>
                    <a:srgbClr val="1D1D1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98450" lvl="0" marL="457200" rtl="0" algn="l">
                  <a:spcBef>
                    <a:spcPts val="300"/>
                  </a:spcBef>
                  <a:spcAft>
                    <a:spcPts val="0"/>
                  </a:spcAft>
                  <a:buClr>
                    <a:srgbClr val="424245"/>
                  </a:buClr>
                  <a:buSzPts val="1100"/>
                  <a:buFont typeface="Arial"/>
                  <a:buChar char="●"/>
                </a:pPr>
                <a:r>
                  <a:rPr b="1" lang="ko" sz="1100">
                    <a:solidFill>
                      <a:srgbClr val="424245"/>
                    </a:solidFill>
                    <a:latin typeface="Arial"/>
                    <a:ea typeface="Arial"/>
                    <a:cs typeface="Arial"/>
                    <a:sym typeface="Arial"/>
                  </a:rPr>
                  <a:t>트럭 공차:</a:t>
                </a:r>
                <a:r>
                  <a:rPr lang="ko" sz="1100">
                    <a:solidFill>
                      <a:srgbClr val="424245"/>
                    </a:solidFill>
                    <a:latin typeface="Arial"/>
                    <a:ea typeface="Arial"/>
                    <a:cs typeface="Arial"/>
                    <a:sym typeface="Arial"/>
                  </a:rPr>
                  <a:t> 잉여(Bikes - Target)가 가장 큰 곳에서 상차</a:t>
                </a:r>
                <a:endParaRPr sz="1100">
                  <a:solidFill>
                    <a:srgbClr val="42424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9845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424245"/>
                  </a:buClr>
                  <a:buSzPts val="1100"/>
                  <a:buFont typeface="Arial"/>
                  <a:buChar char="●"/>
                </a:pPr>
                <a:r>
                  <a:rPr b="1" lang="ko" sz="1100">
                    <a:solidFill>
                      <a:srgbClr val="424245"/>
                    </a:solidFill>
                    <a:latin typeface="Arial"/>
                    <a:ea typeface="Arial"/>
                    <a:cs typeface="Arial"/>
                    <a:sym typeface="Arial"/>
                  </a:rPr>
                  <a:t>트럭 만차:</a:t>
                </a:r>
                <a:r>
                  <a:rPr lang="ko" sz="1100">
                    <a:solidFill>
                      <a:srgbClr val="424245"/>
                    </a:solidFill>
                    <a:latin typeface="Arial"/>
                    <a:ea typeface="Arial"/>
                    <a:cs typeface="Arial"/>
                    <a:sym typeface="Arial"/>
                  </a:rPr>
                  <a:t> 부족(Target - Bikes)이 가장 큰 곳에 하차</a:t>
                </a:r>
                <a:endParaRPr sz="1100">
                  <a:solidFill>
                    <a:srgbClr val="42424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4" name="Google Shape;204;p22"/>
          <p:cNvSpPr/>
          <p:nvPr/>
        </p:nvSpPr>
        <p:spPr>
          <a:xfrm>
            <a:off x="4361688" y="1783080"/>
            <a:ext cx="7171500" cy="1188600"/>
          </a:xfrm>
          <a:prstGeom prst="roundRect">
            <a:avLst>
              <a:gd fmla="val 7692" name="adj"/>
            </a:avLst>
          </a:prstGeom>
          <a:solidFill>
            <a:srgbClr val="F5F5F7"/>
          </a:solidFill>
          <a:ln>
            <a:noFill/>
          </a:ln>
          <a:effectLst>
            <a:outerShdw blurRad="1143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4690872" y="1984248"/>
            <a:ext cx="6513300" cy="36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주제 1. </a:t>
            </a:r>
            <a:r>
              <a:rPr b="1" lang="ko" sz="1400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What to Se</a:t>
            </a:r>
            <a:r>
              <a:rPr b="1" lang="ko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lang="ko" sz="1400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1" sz="1600">
              <a:solidFill>
                <a:srgbClr val="1D1D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4690872" y="2386584"/>
            <a:ext cx="651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24245"/>
              </a:buClr>
              <a:buSzPts val="1350"/>
              <a:buFont typeface="Arial"/>
              <a:buNone/>
            </a:pPr>
            <a:r>
              <a:rPr b="0" i="0" lang="ko" sz="1350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  <a:t>수요예측 feature 를 state 에 포함하면 에이전트가 미래 불균형을 미리 관측하여 선제적 재배치를 학습할 수 있</a:t>
            </a:r>
            <a:r>
              <a:rPr lang="ko" sz="1350">
                <a:solidFill>
                  <a:srgbClr val="424245"/>
                </a:solidFill>
              </a:rPr>
              <a:t>을 것인가? </a:t>
            </a:r>
            <a:endParaRPr sz="1350">
              <a:solidFill>
                <a:srgbClr val="424245"/>
              </a:solidFill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4361688" y="3262978"/>
            <a:ext cx="7171500" cy="1188600"/>
          </a:xfrm>
          <a:prstGeom prst="roundRect">
            <a:avLst>
              <a:gd fmla="val 7692" name="adj"/>
            </a:avLst>
          </a:prstGeom>
          <a:solidFill>
            <a:srgbClr val="F5F5F7"/>
          </a:solidFill>
          <a:ln>
            <a:noFill/>
          </a:ln>
          <a:effectLst>
            <a:outerShdw blurRad="1143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4690862" y="3460221"/>
            <a:ext cx="6513300" cy="36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주제 2. </a:t>
            </a:r>
            <a:r>
              <a:rPr b="1" lang="ko" sz="1400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How to Optimize?</a:t>
            </a:r>
            <a:endParaRPr b="1" sz="1600">
              <a:solidFill>
                <a:srgbClr val="1D1D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4690875" y="3907376"/>
            <a:ext cx="651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24245"/>
              </a:buClr>
              <a:buSzPts val="1350"/>
              <a:buFont typeface="Arial"/>
              <a:buNone/>
            </a:pPr>
            <a:r>
              <a:rPr b="0" i="0" lang="ko" sz="1350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  <a:t>Action space 를 점수 기반 12개 후보로 축소하면 탐색 효율</a:t>
            </a:r>
            <a:r>
              <a:rPr lang="ko" sz="1350">
                <a:solidFill>
                  <a:srgbClr val="424245"/>
                </a:solidFill>
              </a:rPr>
              <a:t> 및 보상이 개선될까?</a:t>
            </a:r>
            <a:endParaRPr sz="1350">
              <a:solidFill>
                <a:srgbClr val="424245"/>
              </a:solidFill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4361688" y="4709160"/>
            <a:ext cx="7171500" cy="1188600"/>
          </a:xfrm>
          <a:prstGeom prst="roundRect">
            <a:avLst>
              <a:gd fmla="val 7692" name="adj"/>
            </a:avLst>
          </a:prstGeom>
          <a:solidFill>
            <a:srgbClr val="F5F5F7"/>
          </a:solidFill>
          <a:ln>
            <a:noFill/>
          </a:ln>
          <a:effectLst>
            <a:outerShdw blurRad="1143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4690872" y="4837205"/>
            <a:ext cx="6513300" cy="36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주제 3. </a:t>
            </a:r>
            <a:r>
              <a:rPr b="1" lang="ko" sz="1400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How to Train?</a:t>
            </a:r>
            <a:endParaRPr b="1" sz="1600">
              <a:solidFill>
                <a:srgbClr val="1D1D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4690872" y="5312664"/>
            <a:ext cx="651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24245"/>
              </a:buClr>
              <a:buSzPts val="1350"/>
              <a:buFont typeface="Arial"/>
              <a:buNone/>
            </a:pPr>
            <a:r>
              <a:rPr b="0" i="0" lang="ko" sz="1350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  <a:t>복잡한 이산 행동 공간에서 On-policy(REINFORCE/A2C)</a:t>
            </a:r>
            <a:r>
              <a:rPr lang="ko" sz="1350">
                <a:solidFill>
                  <a:srgbClr val="424245"/>
                </a:solidFill>
              </a:rPr>
              <a:t>, DQN, PPO 등이 최적 학습하는 조건은 어떤 것일까?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2713375" y="850800"/>
            <a:ext cx="676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4" name="Google Shape;214;p22"/>
          <p:cNvGrpSpPr/>
          <p:nvPr/>
        </p:nvGrpSpPr>
        <p:grpSpPr>
          <a:xfrm>
            <a:off x="857250" y="4714875"/>
            <a:ext cx="3048000" cy="1285800"/>
            <a:chOff x="857250" y="4714875"/>
            <a:chExt cx="3048000" cy="1285800"/>
          </a:xfrm>
        </p:grpSpPr>
        <p:sp>
          <p:nvSpPr>
            <p:cNvPr id="215" name="Google Shape;215;p22"/>
            <p:cNvSpPr/>
            <p:nvPr/>
          </p:nvSpPr>
          <p:spPr>
            <a:xfrm>
              <a:off x="857250" y="4714875"/>
              <a:ext cx="3048000" cy="1285800"/>
            </a:xfrm>
            <a:prstGeom prst="roundRect">
              <a:avLst>
                <a:gd fmla="val 7407" name="adj"/>
              </a:avLst>
            </a:prstGeom>
            <a:solidFill>
              <a:srgbClr val="1D1D1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2"/>
            <p:cNvSpPr txBox="1"/>
            <p:nvPr/>
          </p:nvSpPr>
          <p:spPr>
            <a:xfrm>
              <a:off x="1047750" y="4810125"/>
              <a:ext cx="2667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>
                  <a:solidFill>
                    <a:srgbClr val="86868B"/>
                  </a:solidFill>
                  <a:latin typeface="Arial"/>
                  <a:ea typeface="Arial"/>
                  <a:cs typeface="Arial"/>
                  <a:sym typeface="Arial"/>
                </a:rPr>
                <a:t>GOAL STATUS</a:t>
              </a:r>
              <a:endParaRPr b="1" sz="900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2"/>
            <p:cNvSpPr txBox="1"/>
            <p:nvPr/>
          </p:nvSpPr>
          <p:spPr>
            <a:xfrm>
              <a:off x="1047750" y="5048250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2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Delta &gt; 0</a:t>
              </a:r>
              <a:endPara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8" name="Google Shape;218;p22"/>
            <p:cNvCxnSpPr/>
            <p:nvPr/>
          </p:nvCxnSpPr>
          <p:spPr>
            <a:xfrm>
              <a:off x="1047750" y="5476875"/>
              <a:ext cx="2667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242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9" name="Google Shape;219;p22"/>
            <p:cNvSpPr txBox="1"/>
            <p:nvPr/>
          </p:nvSpPr>
          <p:spPr>
            <a:xfrm>
              <a:off x="1047750" y="5572125"/>
              <a:ext cx="2667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ko" sz="105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Delta = Model reward - Baseline reward</a:t>
              </a:r>
              <a:endParaRPr b="0" sz="105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3409950" y="4981575"/>
              <a:ext cx="228600" cy="2286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2"/>
            <p:cNvSpPr txBox="1"/>
            <p:nvPr/>
          </p:nvSpPr>
          <p:spPr>
            <a:xfrm>
              <a:off x="3409950" y="5002022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1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cxnSp>
        <p:nvCxnSpPr>
          <p:cNvPr id="222" name="Google Shape;222;p22"/>
          <p:cNvCxnSpPr/>
          <p:nvPr/>
        </p:nvCxnSpPr>
        <p:spPr>
          <a:xfrm>
            <a:off x="1048413" y="3135252"/>
            <a:ext cx="24615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/>
          <p:nvPr/>
        </p:nvSpPr>
        <p:spPr>
          <a:xfrm>
            <a:off x="658368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50"/>
              <a:buFont typeface="Arial"/>
              <a:buNone/>
            </a:pPr>
            <a:r>
              <a:rPr b="1" i="0" lang="ko" sz="125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ENVIRONMENT &amp; DATASET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658368" y="749808"/>
            <a:ext cx="977767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100"/>
              <a:buFont typeface="Arial"/>
              <a:buNone/>
            </a:pPr>
            <a:r>
              <a:rPr b="1" lang="ko" sz="3100">
                <a:solidFill>
                  <a:srgbClr val="1D1D1F"/>
                </a:solidFill>
              </a:rPr>
              <a:t>실험</a:t>
            </a:r>
            <a:r>
              <a:rPr b="1" i="0" lang="ko" sz="31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환경 및 데이터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658368" y="1578247"/>
            <a:ext cx="3291900" cy="1097400"/>
          </a:xfrm>
          <a:prstGeom prst="roundRect">
            <a:avLst>
              <a:gd fmla="val 8333" name="adj"/>
            </a:avLst>
          </a:prstGeom>
          <a:solidFill>
            <a:srgbClr val="F5F5F7"/>
          </a:solidFill>
          <a:ln>
            <a:noFill/>
          </a:ln>
          <a:effectLst>
            <a:outerShdw blurRad="1143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969264" y="1724551"/>
            <a:ext cx="2670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3600"/>
              <a:buFont typeface="Arial"/>
              <a:buNone/>
            </a:pPr>
            <a:r>
              <a:rPr b="1" i="0" lang="ko" sz="36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3,341</a:t>
            </a:r>
            <a:r>
              <a:rPr b="1" lang="ko" sz="3600">
                <a:solidFill>
                  <a:srgbClr val="0071E3"/>
                </a:solidFill>
              </a:rPr>
              <a:t>개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969264" y="2291479"/>
            <a:ext cx="267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Arial"/>
              <a:buNone/>
            </a:pPr>
            <a:r>
              <a:rPr b="0" i="0" lang="ko" sz="1200" u="none" cap="none" strike="noStrike">
                <a:solidFill>
                  <a:srgbClr val="6E6E73"/>
                </a:solidFill>
                <a:latin typeface="Arial"/>
                <a:ea typeface="Arial"/>
                <a:cs typeface="Arial"/>
                <a:sym typeface="Arial"/>
              </a:rPr>
              <a:t>Bicycle Stations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658368" y="2876550"/>
            <a:ext cx="3291900" cy="1097400"/>
          </a:xfrm>
          <a:prstGeom prst="roundRect">
            <a:avLst>
              <a:gd fmla="val 8333" name="adj"/>
            </a:avLst>
          </a:prstGeom>
          <a:solidFill>
            <a:srgbClr val="F5F5F7"/>
          </a:solidFill>
          <a:ln>
            <a:noFill/>
          </a:ln>
          <a:effectLst>
            <a:outerShdw blurRad="1143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969264" y="3033700"/>
            <a:ext cx="2670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3600"/>
              <a:buFont typeface="Arial"/>
              <a:buNone/>
            </a:pPr>
            <a:r>
              <a:rPr b="1" i="0" lang="ko" sz="36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r>
              <a:rPr b="1" lang="ko" sz="3600">
                <a:solidFill>
                  <a:srgbClr val="0071E3"/>
                </a:solidFill>
              </a:rPr>
              <a:t>개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969264" y="3695878"/>
            <a:ext cx="267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Arial"/>
              <a:buNone/>
            </a:pPr>
            <a:r>
              <a:rPr b="0" i="0" lang="ko" sz="1200" u="none" cap="none" strike="noStrike">
                <a:solidFill>
                  <a:srgbClr val="6E6E73"/>
                </a:solidFill>
                <a:latin typeface="Arial"/>
                <a:ea typeface="Arial"/>
                <a:cs typeface="Arial"/>
                <a:sym typeface="Arial"/>
              </a:rPr>
              <a:t>Districts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853509" y="4434842"/>
            <a:ext cx="267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ko" sz="1300">
                <a:solidFill>
                  <a:srgbClr val="FFFFFF"/>
                </a:solidFill>
              </a:rPr>
              <a:t>*데이터 분할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4951338" y="1516767"/>
            <a:ext cx="717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50"/>
              <a:buFont typeface="Arial"/>
              <a:buNone/>
            </a:pPr>
            <a:r>
              <a:rPr b="1" i="0" lang="ko" sz="135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Environment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8" name="Google Shape;238;p23"/>
          <p:cNvGraphicFramePr/>
          <p:nvPr/>
        </p:nvGraphicFramePr>
        <p:xfrm>
          <a:off x="4951338" y="18676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{4F513249-047F-4794-A86B-7318042056CE}</a:tableStyleId>
              </a:tblPr>
              <a:tblGrid>
                <a:gridCol w="1594500"/>
                <a:gridCol w="49874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" sz="120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대상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200"/>
                        <a:buFont typeface="Arial"/>
                        <a:buNone/>
                      </a:pPr>
                      <a:r>
                        <a:rPr lang="ko" sz="120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서울시 전체 25개 </a:t>
                      </a:r>
                      <a:r>
                        <a:rPr lang="ko" sz="1200">
                          <a:solidFill>
                            <a:srgbClr val="424245"/>
                          </a:solidFill>
                        </a:rPr>
                        <a:t>구(</a:t>
                      </a:r>
                      <a:r>
                        <a:rPr lang="ko" sz="120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마포·관악 등) 정류소 3,341</a:t>
                      </a:r>
                      <a:r>
                        <a:rPr lang="ko" sz="1200">
                          <a:solidFill>
                            <a:srgbClr val="424245"/>
                          </a:solidFill>
                        </a:rPr>
                        <a:t>개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" sz="1200">
                          <a:solidFill>
                            <a:srgbClr val="1D1D1F"/>
                          </a:solidFill>
                        </a:rPr>
                        <a:t>에이전트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200"/>
                        <a:buFont typeface="Arial"/>
                        <a:buNone/>
                      </a:pPr>
                      <a:r>
                        <a:rPr lang="ko" sz="120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재배치 트럭 3대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" sz="120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에피소드 구성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200"/>
                        <a:buFont typeface="Arial"/>
                        <a:buNone/>
                      </a:pPr>
                      <a:r>
                        <a:rPr lang="ko" sz="120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144 steps (10분 단위, 24시간)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" sz="120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행동 공간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200"/>
                        <a:buFont typeface="Arial"/>
                        <a:buNone/>
                      </a:pPr>
                      <a:r>
                        <a:rPr lang="ko" sz="1200">
                          <a:solidFill>
                            <a:srgbClr val="424245"/>
                          </a:solidFill>
                        </a:rPr>
                        <a:t>ex) 마포구 146개</a:t>
                      </a:r>
                      <a:r>
                        <a:rPr lang="ko" sz="120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" sz="1200">
                          <a:solidFill>
                            <a:srgbClr val="424245"/>
                          </a:solidFill>
                        </a:rPr>
                        <a:t>→</a:t>
                      </a:r>
                      <a:r>
                        <a:rPr lang="ko" sz="120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TOP K</a:t>
                      </a:r>
                      <a:r>
                        <a:rPr lang="ko" sz="1200">
                          <a:solidFill>
                            <a:srgbClr val="424245"/>
                          </a:solidFill>
                        </a:rPr>
                        <a:t> [3, 6, 9, </a:t>
                      </a:r>
                      <a:r>
                        <a:rPr lang="ko" sz="120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12] (</a:t>
                      </a:r>
                      <a:r>
                        <a:rPr lang="ko" sz="1200">
                          <a:solidFill>
                            <a:srgbClr val="424245"/>
                          </a:solidFill>
                        </a:rPr>
                        <a:t>Action Space 축소</a:t>
                      </a:r>
                      <a:r>
                        <a:rPr lang="ko" sz="120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>
                          <a:solidFill>
                            <a:srgbClr val="1D1D1F"/>
                          </a:solidFill>
                        </a:rPr>
                        <a:t>기준 모델(Baseline)</a:t>
                      </a:r>
                      <a:endParaRPr b="1" sz="1200" u="none" cap="none" strike="noStrike">
                        <a:solidFill>
                          <a:srgbClr val="1D1D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24245"/>
                          </a:solidFill>
                        </a:rPr>
                        <a:t>Most Imbalanced 규칙 기반 정책 (비교 대조군)</a:t>
                      </a:r>
                      <a:endParaRPr sz="1200" u="none" cap="none" strike="noStrike">
                        <a:solidFill>
                          <a:srgbClr val="4242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9" name="Google Shape;239;p23"/>
          <p:cNvSpPr/>
          <p:nvPr/>
        </p:nvSpPr>
        <p:spPr>
          <a:xfrm>
            <a:off x="4951338" y="4104491"/>
            <a:ext cx="717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50"/>
              <a:buFont typeface="Arial"/>
              <a:buNone/>
            </a:pPr>
            <a:r>
              <a:rPr b="1" i="0" lang="ko" sz="135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Dataset Inventory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0" name="Google Shape;240;p23"/>
          <p:cNvGraphicFramePr/>
          <p:nvPr/>
        </p:nvGraphicFramePr>
        <p:xfrm>
          <a:off x="4951338" y="44245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{4F513249-047F-4794-A86B-7318042056CE}</a:tableStyleId>
              </a:tblPr>
              <a:tblGrid>
                <a:gridCol w="2117350"/>
                <a:gridCol w="1541025"/>
                <a:gridCol w="1132800"/>
                <a:gridCol w="1575400"/>
              </a:tblGrid>
              <a:tr h="433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데이터셋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50">
                          <a:solidFill>
                            <a:srgbClr val="FFFFFF"/>
                          </a:solidFill>
                        </a:rPr>
                        <a:t>출처</a:t>
                      </a:r>
                      <a:endParaRPr b="1" sz="115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레코드 수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150">
                          <a:solidFill>
                            <a:srgbClr val="FFFFFF"/>
                          </a:solidFill>
                        </a:rPr>
                        <a:t>데이터 설명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1D1F"/>
                    </a:solidFill>
                  </a:tcPr>
                </a:tc>
              </a:tr>
              <a:tr h="433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1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stations.parquet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서울열린데이터광장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1E3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1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3,341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1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전체 정류소 마스터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3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1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trips.parquet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서울열린데이터광장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1E3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1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1,267,998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1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2025 대여/반납 이력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</a:tr>
              <a:tr h="433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1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weather_10min.parquet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기상청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1E3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1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52,549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1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2025 기상 관측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3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1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demand_forecast_1h.parquet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F2937"/>
                          </a:solidFill>
                        </a:rPr>
                        <a:t>HistGradientBoosting</a:t>
                      </a:r>
                      <a:br>
                        <a:rPr lang="ko" sz="1100">
                          <a:solidFill>
                            <a:srgbClr val="1F2937"/>
                          </a:solidFill>
                        </a:rPr>
                      </a:br>
                      <a:r>
                        <a:rPr lang="ko" sz="1100">
                          <a:solidFill>
                            <a:srgbClr val="1F2937"/>
                          </a:solidFill>
                        </a:rPr>
                        <a:t>Regressor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1E3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1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6,413,662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1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RL Holdout 수요예측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101600" marL="1016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241" name="Google Shape;241;p23"/>
          <p:cNvSpPr txBox="1"/>
          <p:nvPr/>
        </p:nvSpPr>
        <p:spPr>
          <a:xfrm>
            <a:off x="600507" y="6232925"/>
            <a:ext cx="398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* 랜덤 셔플 방식은 미래 패턴을 학습하는 데이터 Leakage가 발생할 수 있어 시계열 분할 방식으로</a:t>
            </a:r>
            <a:r>
              <a:rPr lang="ko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검증함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descr="preencoded.png" id="242" name="Google Shape;2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506" y="4480550"/>
            <a:ext cx="3512101" cy="88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3" name="Google Shape;24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031" y="5369604"/>
            <a:ext cx="3486801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/>
          <p:nvPr/>
        </p:nvSpPr>
        <p:spPr>
          <a:xfrm>
            <a:off x="802561" y="4626610"/>
            <a:ext cx="5219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Noto Sans KR"/>
              <a:buNone/>
            </a:pPr>
            <a:r>
              <a:rPr b="1" i="0" lang="ko" sz="1125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✓ 시계열 분할 (Chronological Split)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974006" y="4948035"/>
            <a:ext cx="373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Noto Sans KR"/>
              <a:buNone/>
            </a:pPr>
            <a:r>
              <a:rPr b="0" i="0" lang="ko" sz="1200" u="none" cap="none" strike="noStrike">
                <a:solidFill>
                  <a:srgbClr val="BFBFBF"/>
                </a:solidFill>
                <a:latin typeface="Noto Sans KR"/>
                <a:ea typeface="Noto Sans KR"/>
                <a:cs typeface="Noto Sans KR"/>
                <a:sym typeface="Noto Sans KR"/>
              </a:rPr>
              <a:t>섞지 않고 날짜 순으로 정렬하여 분할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691210" y="4160526"/>
            <a:ext cx="12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50"/>
              <a:buFont typeface="Arial"/>
              <a:buNone/>
            </a:pPr>
            <a:r>
              <a:rPr b="1" i="0" lang="ko" sz="135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b="1" lang="ko" sz="1350">
                <a:solidFill>
                  <a:srgbClr val="1D1D1F"/>
                </a:solidFill>
              </a:rPr>
              <a:t> Split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031" y="5461471"/>
            <a:ext cx="3633125" cy="771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26541" y="2057491"/>
            <a:ext cx="1106070" cy="65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26559" y="3218288"/>
            <a:ext cx="812379" cy="77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/>
          <p:nvPr/>
        </p:nvSpPr>
        <p:spPr>
          <a:xfrm>
            <a:off x="658368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50"/>
              <a:buFont typeface="Arial"/>
              <a:buNone/>
            </a:pPr>
            <a:r>
              <a:rPr b="1" i="0" lang="ko" sz="125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MDP DESIGN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658368" y="749808"/>
            <a:ext cx="977767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100"/>
              <a:buFont typeface="Arial"/>
              <a:buNone/>
            </a:pPr>
            <a:r>
              <a:rPr b="1" i="0" lang="ko" sz="31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MDP 설계 : State · Action · Reward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658368" y="1627632"/>
            <a:ext cx="3381146" cy="4526280"/>
          </a:xfrm>
          <a:prstGeom prst="roundRect">
            <a:avLst>
              <a:gd fmla="val 2704" name="adj"/>
            </a:avLst>
          </a:prstGeom>
          <a:solidFill>
            <a:srgbClr val="F5F5F7"/>
          </a:solidFill>
          <a:ln>
            <a:noFill/>
          </a:ln>
          <a:effectLst>
            <a:outerShdw blurRad="1143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4"/>
          <p:cNvSpPr/>
          <p:nvPr/>
        </p:nvSpPr>
        <p:spPr>
          <a:xfrm>
            <a:off x="950976" y="1901952"/>
            <a:ext cx="27959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900"/>
              <a:buFont typeface="Arial"/>
              <a:buNone/>
            </a:pPr>
            <a:r>
              <a:rPr b="1" i="0" lang="ko" sz="19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950976" y="2286000"/>
            <a:ext cx="279593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Arial"/>
              <a:buNone/>
            </a:pPr>
            <a:r>
              <a:rPr b="1" lang="ko" sz="1100">
                <a:solidFill>
                  <a:srgbClr val="0071E3"/>
                </a:solidFill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950975" y="2651750"/>
            <a:ext cx="2796000" cy="20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정류소 재고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6E6E73"/>
              </a:buClr>
              <a:buSzPts val="1150"/>
              <a:buFont typeface="Arial"/>
              <a:buNone/>
            </a:pPr>
            <a:r>
              <a:rPr b="0" i="0" lang="ko" sz="1150" u="none" cap="none" strike="noStrike">
                <a:solidFill>
                  <a:srgbClr val="6E6E73"/>
                </a:solidFill>
                <a:latin typeface="Arial"/>
                <a:ea typeface="Arial"/>
                <a:cs typeface="Arial"/>
                <a:sym typeface="Arial"/>
              </a:rPr>
              <a:t>현재 재고 비율 (bikes / capacity)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수요예측 </a:t>
            </a:r>
            <a:r>
              <a:rPr b="1" lang="ko" sz="1100">
                <a:solidFill>
                  <a:srgbClr val="0071E3"/>
                </a:solidFill>
              </a:rPr>
              <a:t>★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6E6E73"/>
              </a:buClr>
              <a:buSzPts val="1150"/>
              <a:buFont typeface="Arial"/>
              <a:buNone/>
            </a:pPr>
            <a:r>
              <a:rPr lang="ko" sz="1150">
                <a:solidFill>
                  <a:srgbClr val="6E6E73"/>
                </a:solidFill>
              </a:rPr>
              <a:t>1시간 뒤</a:t>
            </a:r>
            <a:r>
              <a:rPr b="0" i="0" lang="ko" sz="1150" u="none" cap="none" strike="noStrike">
                <a:solidFill>
                  <a:srgbClr val="6E6E73"/>
                </a:solidFill>
                <a:latin typeface="Arial"/>
                <a:ea typeface="Arial"/>
                <a:cs typeface="Arial"/>
                <a:sym typeface="Arial"/>
              </a:rPr>
              <a:t> 재고 부족/포화 가능성을 ML</a:t>
            </a:r>
            <a:r>
              <a:rPr lang="ko" sz="1150">
                <a:solidFill>
                  <a:srgbClr val="6E6E73"/>
                </a:solidFill>
              </a:rPr>
              <a:t> 모델로 </a:t>
            </a:r>
            <a:r>
              <a:rPr b="0" i="0" lang="ko" sz="1150" u="none" cap="none" strike="noStrike">
                <a:solidFill>
                  <a:srgbClr val="6E6E73"/>
                </a:solidFill>
                <a:latin typeface="Arial"/>
                <a:ea typeface="Arial"/>
                <a:cs typeface="Arial"/>
                <a:sym typeface="Arial"/>
              </a:rPr>
              <a:t>수치화하여 에이전트에 전달 (</a:t>
            </a:r>
            <a:r>
              <a:rPr lang="ko" sz="1150">
                <a:solidFill>
                  <a:srgbClr val="6E6E73"/>
                </a:solidFill>
              </a:rPr>
              <a:t>pred_net_1h)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트럭 및 환경 정보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6E6E73"/>
              </a:buClr>
              <a:buSzPts val="1150"/>
              <a:buFont typeface="Arial"/>
              <a:buNone/>
            </a:pPr>
            <a:r>
              <a:rPr b="0" i="0" lang="ko" sz="1150" u="none" cap="none" strike="noStrike">
                <a:solidFill>
                  <a:srgbClr val="6E6E73"/>
                </a:solidFill>
                <a:latin typeface="Arial"/>
                <a:ea typeface="Arial"/>
                <a:cs typeface="Arial"/>
                <a:sym typeface="Arial"/>
              </a:rPr>
              <a:t>트럭 위치·적재·이동상태, 주말/공휴일, 날씨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950976" y="4734752"/>
            <a:ext cx="2796000" cy="1005900"/>
          </a:xfrm>
          <a:prstGeom prst="roundRect">
            <a:avLst>
              <a:gd fmla="val 5455" name="adj"/>
            </a:avLst>
          </a:prstGeom>
          <a:solidFill>
            <a:srgbClr val="1D1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1078992" y="4734752"/>
            <a:ext cx="2539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C8FF"/>
              </a:buClr>
              <a:buSzPts val="1050"/>
              <a:buFont typeface="Courier New"/>
              <a:buNone/>
            </a:pPr>
            <a:r>
              <a:rPr b="0" i="0" lang="ko" sz="11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pred_net_1h = returns - rentals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C8FF"/>
              </a:buClr>
              <a:buSzPts val="1050"/>
              <a:buFont typeface="Courier New"/>
              <a:buNone/>
            </a:pPr>
            <a:r>
              <a:rPr b="0" i="0" lang="ko" sz="11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projected_dev = (bikes+net)/cap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4405274" y="1627632"/>
            <a:ext cx="3381146" cy="4526280"/>
          </a:xfrm>
          <a:prstGeom prst="roundRect">
            <a:avLst>
              <a:gd fmla="val 2704" name="adj"/>
            </a:avLst>
          </a:prstGeom>
          <a:solidFill>
            <a:srgbClr val="F5F5F7"/>
          </a:solidFill>
          <a:ln>
            <a:noFill/>
          </a:ln>
          <a:effectLst>
            <a:outerShdw blurRad="1143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4"/>
          <p:cNvSpPr/>
          <p:nvPr/>
        </p:nvSpPr>
        <p:spPr>
          <a:xfrm>
            <a:off x="4697882" y="1901952"/>
            <a:ext cx="279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900"/>
              <a:buFont typeface="Arial"/>
              <a:buNone/>
            </a:pPr>
            <a:r>
              <a:rPr b="1" i="0" lang="ko" sz="19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4697882" y="2649206"/>
            <a:ext cx="279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24245"/>
              </a:buClr>
              <a:buSzPts val="1250"/>
              <a:buFont typeface="Arial"/>
              <a:buNone/>
            </a:pPr>
            <a:r>
              <a:rPr lang="ko" sz="1250">
                <a:solidFill>
                  <a:srgbClr val="424245"/>
                </a:solidFill>
              </a:rPr>
              <a:t>전체</a:t>
            </a:r>
            <a:r>
              <a:rPr b="0" i="0" lang="ko" sz="1250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" sz="1250">
                <a:solidFill>
                  <a:srgbClr val="424245"/>
                </a:solidFill>
              </a:rPr>
              <a:t>3,341</a:t>
            </a:r>
            <a:r>
              <a:rPr b="0" i="0" lang="ko" sz="1250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  <a:t>개 정류소 탐색의 비효율성을 개선하기 위해 </a:t>
            </a:r>
            <a:r>
              <a:rPr lang="ko" sz="1250">
                <a:solidFill>
                  <a:srgbClr val="424245"/>
                </a:solidFill>
              </a:rPr>
              <a:t>정류소마다 </a:t>
            </a:r>
            <a:r>
              <a:rPr b="0" i="0" lang="ko" sz="1250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  <a:t>Top-K</a:t>
            </a:r>
            <a:r>
              <a:rPr lang="ko" sz="1250">
                <a:solidFill>
                  <a:srgbClr val="424245"/>
                </a:solidFill>
              </a:rPr>
              <a:t> </a:t>
            </a:r>
            <a:r>
              <a:rPr b="0" i="0" lang="ko" sz="1250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  <a:t>후보 구조 도입 </a:t>
            </a:r>
            <a:r>
              <a:rPr b="0" i="0" lang="ko" sz="1250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4697875" y="4767775"/>
            <a:ext cx="2796000" cy="972900"/>
          </a:xfrm>
          <a:prstGeom prst="roundRect">
            <a:avLst>
              <a:gd fmla="val 6000" name="adj"/>
            </a:avLst>
          </a:prstGeom>
          <a:solidFill>
            <a:srgbClr val="1D1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4"/>
          <p:cNvSpPr/>
          <p:nvPr/>
        </p:nvSpPr>
        <p:spPr>
          <a:xfrm>
            <a:off x="4825898" y="4826255"/>
            <a:ext cx="2539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C8FF"/>
              </a:buClr>
              <a:buSzPts val="1050"/>
              <a:buFont typeface="Courier New"/>
              <a:buNone/>
            </a:pPr>
            <a:r>
              <a:rPr b="0" i="0" lang="ko" sz="12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Score = Forecast_Imbalance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C8FF"/>
              </a:buClr>
              <a:buSzPts val="1050"/>
              <a:buFont typeface="Courier New"/>
              <a:buNone/>
            </a:pPr>
            <a:r>
              <a:rPr b="0" i="0" lang="ko" sz="12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Distance_Penalty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C8FF"/>
              </a:buClr>
              <a:buSzPts val="1050"/>
              <a:buFont typeface="Courier New"/>
              <a:buNone/>
            </a:pPr>
            <a:r>
              <a:rPr b="0" i="0" lang="ko" sz="12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Zone_Penalty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4697882" y="3643421"/>
            <a:ext cx="1306500" cy="86880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4697882" y="3716573"/>
            <a:ext cx="1306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6E6E73"/>
                </a:solidFill>
                <a:latin typeface="Arial"/>
                <a:ea typeface="Arial"/>
                <a:cs typeface="Arial"/>
                <a:sym typeface="Arial"/>
              </a:rPr>
              <a:t>Basic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400"/>
              <a:buFont typeface="Arial"/>
              <a:buNone/>
            </a:pPr>
            <a:r>
              <a:rPr b="1" lang="ko" sz="2400">
                <a:solidFill>
                  <a:srgbClr val="1D1D1F"/>
                </a:solidFill>
              </a:rPr>
              <a:t>146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6187288" y="3643421"/>
            <a:ext cx="1306500" cy="868800"/>
          </a:xfrm>
          <a:prstGeom prst="roundRect">
            <a:avLst>
              <a:gd fmla="val 6316" name="adj"/>
            </a:avLst>
          </a:prstGeom>
          <a:solidFill>
            <a:srgbClr val="007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"/>
          <p:cNvSpPr/>
          <p:nvPr/>
        </p:nvSpPr>
        <p:spPr>
          <a:xfrm>
            <a:off x="6187288" y="3716573"/>
            <a:ext cx="1306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6FF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CFE6FF"/>
                </a:solidFill>
                <a:latin typeface="Arial"/>
                <a:ea typeface="Arial"/>
                <a:cs typeface="Arial"/>
                <a:sym typeface="Arial"/>
              </a:rPr>
              <a:t>Top-K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ko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8152181" y="1627632"/>
            <a:ext cx="3381000" cy="4526400"/>
          </a:xfrm>
          <a:prstGeom prst="roundRect">
            <a:avLst>
              <a:gd fmla="val 2704" name="adj"/>
            </a:avLst>
          </a:prstGeom>
          <a:solidFill>
            <a:srgbClr val="F5F5F7"/>
          </a:solidFill>
          <a:ln>
            <a:noFill/>
          </a:ln>
          <a:effectLst>
            <a:outerShdw blurRad="1143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8444789" y="1901952"/>
            <a:ext cx="27959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900"/>
              <a:buFont typeface="Arial"/>
              <a:buNone/>
            </a:pPr>
            <a:r>
              <a:rPr b="1" i="0" lang="ko" sz="19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Reward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8444789" y="2286000"/>
            <a:ext cx="279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200"/>
              <a:buFont typeface="Arial"/>
              <a:buNone/>
            </a:pPr>
            <a:r>
              <a:rPr lang="ko" sz="1200">
                <a:solidFill>
                  <a:srgbClr val="86868B"/>
                </a:solidFill>
              </a:rPr>
              <a:t>보상은 덜 음수일수록 좋음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8444800" y="4767774"/>
            <a:ext cx="2796000" cy="972900"/>
          </a:xfrm>
          <a:prstGeom prst="roundRect">
            <a:avLst>
              <a:gd fmla="val 6000" name="adj"/>
            </a:avLst>
          </a:prstGeom>
          <a:solidFill>
            <a:srgbClr val="1D1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>
            <a:off x="8572805" y="4767784"/>
            <a:ext cx="2539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C8FF"/>
              </a:buClr>
              <a:buSzPts val="1000"/>
              <a:buFont typeface="Courier New"/>
              <a:buNone/>
            </a:pPr>
            <a:r>
              <a:rPr b="0" i="0" lang="ko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r_t = -1.0×stockout - 0.8×full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C8FF"/>
              </a:buClr>
              <a:buSzPts val="1000"/>
              <a:buFont typeface="Courier New"/>
              <a:buNone/>
            </a:pPr>
            <a:r>
              <a:rPr b="0" i="0" lang="ko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- 0.008×km - 0.002×step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7" name="Google Shape;277;p24"/>
          <p:cNvGraphicFramePr/>
          <p:nvPr/>
        </p:nvGraphicFramePr>
        <p:xfrm>
          <a:off x="8444789" y="31089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{4F513249-047F-4794-A86B-7318042056CE}</a:tableStyleId>
              </a:tblPr>
              <a:tblGrid>
                <a:gridCol w="1006525"/>
                <a:gridCol w="782850"/>
                <a:gridCol w="10065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10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Stockout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508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1E3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-1.0</a:t>
                      </a:r>
                      <a:endParaRPr sz="11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508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73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 u="none" cap="none" strike="noStrike">
                          <a:solidFill>
                            <a:srgbClr val="6E6E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대여 실패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508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10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508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1E3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-0.8</a:t>
                      </a:r>
                      <a:endParaRPr sz="11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508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73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 u="none" cap="none" strike="noStrike">
                          <a:solidFill>
                            <a:srgbClr val="6E6E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반납 실패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508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10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Travel </a:t>
                      </a:r>
                      <a:r>
                        <a:rPr b="1" lang="ko" sz="1100">
                          <a:solidFill>
                            <a:srgbClr val="1D1D1F"/>
                          </a:solidFill>
                        </a:rPr>
                        <a:t>km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508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1E3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-0.008</a:t>
                      </a:r>
                      <a:endParaRPr sz="11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508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73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 u="none" cap="none" strike="noStrike">
                          <a:solidFill>
                            <a:srgbClr val="6E6E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이동 거리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508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10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Travel Step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508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1E3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-0.002</a:t>
                      </a:r>
                      <a:endParaRPr sz="11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508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73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 u="none" cap="none" strike="noStrike">
                          <a:solidFill>
                            <a:srgbClr val="6E6E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이동 시간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508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278" name="Google Shape;278;p24"/>
          <p:cNvSpPr txBox="1"/>
          <p:nvPr/>
        </p:nvSpPr>
        <p:spPr>
          <a:xfrm>
            <a:off x="4893875" y="5740600"/>
            <a:ext cx="67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9" name="Google Shape;279;p24"/>
          <p:cNvCxnSpPr>
            <a:stCxn id="269" idx="3"/>
            <a:endCxn id="271" idx="1"/>
          </p:cNvCxnSpPr>
          <p:nvPr/>
        </p:nvCxnSpPr>
        <p:spPr>
          <a:xfrm>
            <a:off x="6004382" y="4082273"/>
            <a:ext cx="183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" name="Google Shape;280;p24"/>
          <p:cNvSpPr txBox="1"/>
          <p:nvPr/>
        </p:nvSpPr>
        <p:spPr>
          <a:xfrm>
            <a:off x="8396128" y="2633000"/>
            <a:ext cx="112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1D1D1F"/>
                </a:solidFill>
              </a:rPr>
              <a:t>주요 변수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3F5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37" y="1543913"/>
            <a:ext cx="3593955" cy="3619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8785" y="1543913"/>
            <a:ext cx="3593955" cy="3619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1334" y="1543913"/>
            <a:ext cx="3594103" cy="3619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56" y="4111943"/>
            <a:ext cx="3117717" cy="8133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36904" y="4111943"/>
            <a:ext cx="3117717" cy="8133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59452" y="4111943"/>
            <a:ext cx="3117866" cy="81332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476237" y="428625"/>
            <a:ext cx="174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0066CC"/>
                </a:solidFill>
                <a:latin typeface="Inter"/>
                <a:ea typeface="Inter"/>
                <a:cs typeface="Inter"/>
                <a:sym typeface="Inter"/>
              </a:rPr>
              <a:t>MDP DESIGN DETAILS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476237" y="762000"/>
            <a:ext cx="11715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550" u="none" cap="none" strike="noStrike">
                <a:solidFill>
                  <a:srgbClr val="121212"/>
                </a:solidFill>
              </a:rPr>
              <a:t>Reward 설계 예시</a:t>
            </a:r>
            <a:r>
              <a:rPr i="0" lang="ko" sz="2550" u="none" cap="none" strike="noStrike">
                <a:solidFill>
                  <a:srgbClr val="666666"/>
                </a:solidFill>
              </a:rPr>
              <a:t>:실패와 불필요한 이동을 줄여 누적 보상을 높인다</a:t>
            </a:r>
            <a:endParaRPr/>
          </a:p>
        </p:txBody>
      </p:sp>
      <p:pic>
        <p:nvPicPr>
          <p:cNvPr descr="image.png" id="293" name="Google Shape;293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1176" y="5861412"/>
            <a:ext cx="287643" cy="28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 txBox="1"/>
          <p:nvPr/>
        </p:nvSpPr>
        <p:spPr>
          <a:xfrm>
            <a:off x="804939" y="5711050"/>
            <a:ext cx="142515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44" u="none" cap="none" strike="noStrike">
                <a:solidFill>
                  <a:srgbClr val="0066CC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문제해결 과제:</a:t>
            </a:r>
            <a:r>
              <a:rPr b="0" i="0" lang="ko" sz="1544" u="none" cap="none" strike="noStrike">
                <a:solidFill>
                  <a:srgbClr val="12121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0" i="0" lang="ko" sz="1644" u="none" cap="none" strike="noStrike">
                <a:solidFill>
                  <a:srgbClr val="121212"/>
                </a:solidFill>
                <a:latin typeface="Noto Sans KR"/>
                <a:ea typeface="Noto Sans KR"/>
                <a:cs typeface="Noto Sans KR"/>
                <a:sym typeface="Noto Sans KR"/>
              </a:rPr>
              <a:t>특정 Action의 결과가 즉각적인 Reward로 바로 이어지지 않기 때문에, 인과</a:t>
            </a:r>
            <a:r>
              <a:rPr b="0" i="0" lang="ko" sz="1644" u="none" cap="none" strike="noStrike">
                <a:solidFill>
                  <a:srgbClr val="121212"/>
                </a:solidFill>
                <a:latin typeface="Noto Sans KR"/>
                <a:ea typeface="Noto Sans KR"/>
                <a:cs typeface="Noto Sans KR"/>
                <a:sym typeface="Noto Sans KR"/>
              </a:rPr>
              <a:t>관계</a:t>
            </a:r>
            <a:r>
              <a:rPr b="0" i="0" lang="ko" sz="1644" u="none" cap="none" strike="noStrike">
                <a:solidFill>
                  <a:srgbClr val="121212"/>
                </a:solidFill>
                <a:latin typeface="Noto Sans KR"/>
                <a:ea typeface="Noto Sans KR"/>
                <a:cs typeface="Noto Sans KR"/>
                <a:sym typeface="Noto Sans KR"/>
              </a:rPr>
              <a:t> 파악이 정교해야 합니다. </a:t>
            </a:r>
            <a:br>
              <a:rPr b="0" i="0" lang="ko" sz="1644" u="none" cap="none" strike="noStrike">
                <a:solidFill>
                  <a:srgbClr val="121212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ko" sz="1644" u="none" cap="none" strike="noStrike">
                <a:solidFill>
                  <a:srgbClr val="121212"/>
                </a:solidFill>
                <a:latin typeface="Noto Sans KR"/>
                <a:ea typeface="Noto Sans KR"/>
                <a:cs typeface="Noto Sans KR"/>
                <a:sym typeface="Noto Sans KR"/>
              </a:rPr>
              <a:t>본 과제의 Episode는 하루 24시간 동안의 시뮬레이션 단위(1Day Loop)로 정의됩니다.</a:t>
            </a:r>
            <a:endParaRPr sz="2022"/>
          </a:p>
        </p:txBody>
      </p:sp>
      <p:sp>
        <p:nvSpPr>
          <p:cNvPr id="295" name="Google Shape;295;p25"/>
          <p:cNvSpPr txBox="1"/>
          <p:nvPr/>
        </p:nvSpPr>
        <p:spPr>
          <a:xfrm>
            <a:off x="1049467" y="1805975"/>
            <a:ext cx="311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21212"/>
                </a:solidFill>
                <a:latin typeface="Noto Sans KR"/>
                <a:ea typeface="Noto Sans KR"/>
                <a:cs typeface="Noto Sans KR"/>
                <a:sym typeface="Noto Sans KR"/>
              </a:rPr>
              <a:t>Stockout Penalty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714356" y="2344710"/>
            <a:ext cx="3117900" cy="1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정류소에 자전거가 부족해 대여 수요를 처리하지 못하면 발생하는 </a:t>
            </a:r>
            <a:r>
              <a:rPr b="1" i="0" lang="ko" sz="1250" u="none" cap="none" strike="noStrik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음수 보상</a:t>
            </a:r>
            <a:r>
              <a:rPr b="0" i="0" lang="ko" sz="1250" u="none" cap="none" strike="noStrik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입니다. 출근 시간대와 같이 수요가 집중되는 정류소를 조기에 관리하지 못하면 다음 Step에서 대규모 Stockout이 발생합니다.</a:t>
            </a:r>
            <a:endParaRPr sz="1600"/>
          </a:p>
        </p:txBody>
      </p:sp>
      <p:sp>
        <p:nvSpPr>
          <p:cNvPr id="297" name="Google Shape;297;p25"/>
          <p:cNvSpPr txBox="1"/>
          <p:nvPr/>
        </p:nvSpPr>
        <p:spPr>
          <a:xfrm>
            <a:off x="866752" y="4226243"/>
            <a:ext cx="2813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DEFF9A"/>
                </a:solidFill>
                <a:latin typeface="Azeret Mono SemiBold"/>
                <a:ea typeface="Azeret Mono SemiBold"/>
                <a:cs typeface="Azeret Mono SemiBold"/>
                <a:sym typeface="Azeret Mono SemiBold"/>
              </a:rPr>
              <a:t>r_stockout = -1.0 × stockout</a:t>
            </a:r>
            <a:endParaRPr/>
          </a:p>
        </p:txBody>
      </p:sp>
      <p:sp>
        <p:nvSpPr>
          <p:cNvPr id="298" name="Google Shape;298;p25"/>
          <p:cNvSpPr/>
          <p:nvPr/>
        </p:nvSpPr>
        <p:spPr>
          <a:xfrm>
            <a:off x="866752" y="4424333"/>
            <a:ext cx="2813100" cy="96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 txBox="1"/>
          <p:nvPr/>
        </p:nvSpPr>
        <p:spPr>
          <a:xfrm>
            <a:off x="866752" y="4491008"/>
            <a:ext cx="28131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7CD5FF"/>
                </a:solidFill>
                <a:latin typeface="Azeret Mono"/>
                <a:ea typeface="Azeret Mono"/>
                <a:cs typeface="Azeret Mono"/>
                <a:sym typeface="Azeret Mono"/>
              </a:rPr>
              <a:t>lost rentals 및 unsatisfied demand를 최소화하는 것이 BSS 핵심 목표.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4872016" y="1805975"/>
            <a:ext cx="311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21212"/>
                </a:solidFill>
                <a:latin typeface="Noto Sans KR"/>
                <a:ea typeface="Noto Sans KR"/>
                <a:cs typeface="Noto Sans KR"/>
                <a:sym typeface="Noto Sans KR"/>
              </a:rPr>
              <a:t>Full Penalty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4536904" y="2344710"/>
            <a:ext cx="3117900" cy="1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정류소 거치대가 가득 차 반납 수요를 처리하지 못할 때 부여되는 </a:t>
            </a:r>
            <a:r>
              <a:rPr b="1" i="0" lang="ko" sz="1250" u="none" cap="none" strike="noStrik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음수 보상</a:t>
            </a:r>
            <a:r>
              <a:rPr b="0" i="0" lang="ko" sz="1250" u="none" cap="none" strike="noStrik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입니다. 반납이 집중되는 역세권 주변 공간을 선제적으로 비워두지 않을 경우 Full 상태 정류소가 증가합니다.</a:t>
            </a:r>
            <a:endParaRPr sz="1600"/>
          </a:p>
        </p:txBody>
      </p:sp>
      <p:sp>
        <p:nvSpPr>
          <p:cNvPr id="302" name="Google Shape;302;p25"/>
          <p:cNvSpPr txBox="1"/>
          <p:nvPr/>
        </p:nvSpPr>
        <p:spPr>
          <a:xfrm>
            <a:off x="4689300" y="4226243"/>
            <a:ext cx="2813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DEFF9A"/>
                </a:solidFill>
                <a:latin typeface="Azeret Mono SemiBold"/>
                <a:ea typeface="Azeret Mono SemiBold"/>
                <a:cs typeface="Azeret Mono SemiBold"/>
                <a:sym typeface="Azeret Mono SemiBold"/>
              </a:rPr>
              <a:t>r_full = -0.8 × full</a:t>
            </a:r>
            <a:endParaRPr/>
          </a:p>
        </p:txBody>
      </p:sp>
      <p:sp>
        <p:nvSpPr>
          <p:cNvPr id="303" name="Google Shape;303;p25"/>
          <p:cNvSpPr/>
          <p:nvPr/>
        </p:nvSpPr>
        <p:spPr>
          <a:xfrm>
            <a:off x="4689300" y="4424333"/>
            <a:ext cx="2813100" cy="96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 txBox="1"/>
          <p:nvPr/>
        </p:nvSpPr>
        <p:spPr>
          <a:xfrm>
            <a:off x="4689300" y="4491008"/>
            <a:ext cx="28131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7CD5FF"/>
                </a:solidFill>
                <a:latin typeface="Azeret Mono"/>
                <a:ea typeface="Azeret Mono"/>
                <a:cs typeface="Azeret Mono"/>
                <a:sym typeface="Azeret Mono"/>
              </a:rPr>
              <a:t>full/empty 정류소 방치가 서비스 전체의 신뢰도를 저해하는 주요 원인.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8694564" y="1805975"/>
            <a:ext cx="311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21212"/>
                </a:solidFill>
                <a:latin typeface="Noto Sans KR"/>
                <a:ea typeface="Noto Sans KR"/>
                <a:cs typeface="Noto Sans KR"/>
                <a:sym typeface="Noto Sans KR"/>
              </a:rPr>
              <a:t>Travel Cost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8359452" y="2344710"/>
            <a:ext cx="31179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이동 거리가 늘어남에 따라 비용이 비례하여 증가합니다. 단순 불균형을 해결하기 위해 먼 정류소로 무리하게 이동하는 것을 막고, </a:t>
            </a:r>
            <a:r>
              <a:rPr b="1" i="0" lang="ko" sz="1250" u="none" cap="none" strike="noStrik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이동 효율성을 고려한 최적 경로</a:t>
            </a:r>
            <a:r>
              <a:rPr b="0" i="0" lang="ko" sz="1250" u="none" cap="none" strike="noStrik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를 유도합니다.</a:t>
            </a:r>
            <a:endParaRPr sz="1600"/>
          </a:p>
        </p:txBody>
      </p:sp>
      <p:sp>
        <p:nvSpPr>
          <p:cNvPr id="307" name="Google Shape;307;p25"/>
          <p:cNvSpPr txBox="1"/>
          <p:nvPr/>
        </p:nvSpPr>
        <p:spPr>
          <a:xfrm>
            <a:off x="8511848" y="4226243"/>
            <a:ext cx="2813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DEFF9A"/>
                </a:solidFill>
                <a:latin typeface="Azeret Mono SemiBold"/>
                <a:ea typeface="Azeret Mono SemiBold"/>
                <a:cs typeface="Azeret Mono SemiBold"/>
                <a:sym typeface="Azeret Mono SemiBold"/>
              </a:rPr>
              <a:t>r_travel = -0.008×km - 0.002×step</a:t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8511848" y="4424333"/>
            <a:ext cx="2813100" cy="96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 txBox="1"/>
          <p:nvPr/>
        </p:nvSpPr>
        <p:spPr>
          <a:xfrm>
            <a:off x="8511848" y="4491008"/>
            <a:ext cx="28131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논문 근거:</a:t>
            </a:r>
            <a:r>
              <a:rPr b="0" i="0" lang="ko" sz="900" u="none" cap="none" strike="noStrike">
                <a:solidFill>
                  <a:srgbClr val="7CD5FF"/>
                </a:solidFill>
                <a:latin typeface="Azeret Mono"/>
                <a:ea typeface="Azeret Mono"/>
                <a:cs typeface="Azeret Mono"/>
                <a:sym typeface="Azeret Mono"/>
              </a:rPr>
              <a:t> vehicle-based rebalancing은 운영비와 routing cost를 동시에 극복해야 함.</a:t>
            </a:r>
            <a:endParaRPr/>
          </a:p>
        </p:txBody>
      </p:sp>
      <p:pic>
        <p:nvPicPr>
          <p:cNvPr descr="image.png" id="310" name="Google Shape;310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4356" y="1782038"/>
            <a:ext cx="266693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36904" y="1782038"/>
            <a:ext cx="266693" cy="266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59452" y="1782038"/>
            <a:ext cx="266693" cy="266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6"/>
          <p:cNvSpPr/>
          <p:nvPr/>
        </p:nvSpPr>
        <p:spPr>
          <a:xfrm>
            <a:off x="658368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50"/>
              <a:buFont typeface="Arial"/>
              <a:buNone/>
            </a:pPr>
            <a:r>
              <a:rPr b="1" i="0" lang="ko" sz="125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ALGORITHM OVERVIEW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658368" y="749808"/>
            <a:ext cx="977767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100"/>
              <a:buFont typeface="Arial"/>
              <a:buNone/>
            </a:pPr>
            <a:r>
              <a:rPr b="1" i="0" lang="ko" sz="31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강화학습 알고리즘 개요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658368" y="16459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50"/>
              <a:buFont typeface="Arial"/>
              <a:buNone/>
            </a:pPr>
            <a:r>
              <a:rPr b="1" i="0" lang="ko" sz="135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Classification Matrix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1" name="Google Shape;321;p26"/>
          <p:cNvGraphicFramePr/>
          <p:nvPr/>
        </p:nvGraphicFramePr>
        <p:xfrm>
          <a:off x="658368" y="1984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{4F513249-047F-4794-A86B-7318042056CE}</a:tableStyleId>
              </a:tblPr>
              <a:tblGrid>
                <a:gridCol w="1408175"/>
                <a:gridCol w="1810500"/>
                <a:gridCol w="18105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" sz="120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Value-based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" sz="120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Policy / AC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" sz="120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On-policy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200"/>
                        <a:buFont typeface="Arial"/>
                        <a:buNone/>
                      </a:pPr>
                      <a:r>
                        <a:rPr lang="ko" sz="120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REINFORCE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1E3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A2C / PPO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" sz="120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Off-policy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200"/>
                        <a:buFont typeface="Arial"/>
                        <a:buNone/>
                      </a:pPr>
                      <a:r>
                        <a:rPr lang="ko" sz="120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Double DQN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6868B"/>
                        </a:buClr>
                        <a:buSzPts val="1200"/>
                        <a:buFont typeface="Arial"/>
                        <a:buNone/>
                      </a:pPr>
                      <a:r>
                        <a:rPr lang="ko" sz="1200" u="none" cap="none" strike="noStrike">
                          <a:solidFill>
                            <a:srgbClr val="86868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2" name="Google Shape;322;p26"/>
          <p:cNvSpPr/>
          <p:nvPr/>
        </p:nvSpPr>
        <p:spPr>
          <a:xfrm>
            <a:off x="658368" y="37947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Arial"/>
              <a:buNone/>
            </a:pPr>
            <a:r>
              <a:rPr b="1" i="0" lang="ko" sz="12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REINFORCE : Policy Gradient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658368" y="4069080"/>
            <a:ext cx="5029200" cy="841248"/>
          </a:xfrm>
          <a:prstGeom prst="roundRect">
            <a:avLst>
              <a:gd fmla="val 6522" name="adj"/>
            </a:avLst>
          </a:prstGeom>
          <a:solidFill>
            <a:srgbClr val="1D1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6"/>
          <p:cNvSpPr/>
          <p:nvPr/>
        </p:nvSpPr>
        <p:spPr>
          <a:xfrm>
            <a:off x="841248" y="4069080"/>
            <a:ext cx="46634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EC8FF"/>
              </a:buClr>
              <a:buSzPts val="1000"/>
              <a:buFont typeface="Courier New"/>
              <a:buNone/>
            </a:pPr>
            <a:r>
              <a:rPr b="0" i="0" lang="ko" sz="1300" u="none" cap="none" strike="noStrike">
                <a:solidFill>
                  <a:srgbClr val="5EC8FF"/>
                </a:solidFill>
                <a:latin typeface="Courier New"/>
                <a:ea typeface="Courier New"/>
                <a:cs typeface="Courier New"/>
                <a:sym typeface="Courier New"/>
              </a:rPr>
              <a:t>advantages = returns - value_net(states)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EC8FF"/>
              </a:buClr>
              <a:buSzPts val="1000"/>
              <a:buFont typeface="Courier New"/>
              <a:buNone/>
            </a:pPr>
            <a:r>
              <a:rPr b="0" i="0" lang="ko" sz="1300" u="none" cap="none" strike="noStrike">
                <a:solidFill>
                  <a:srgbClr val="5EC8FF"/>
                </a:solidFill>
                <a:latin typeface="Courier New"/>
                <a:ea typeface="Courier New"/>
                <a:cs typeface="Courier New"/>
                <a:sym typeface="Courier New"/>
              </a:rPr>
              <a:t>policy_loss = -(log_probs * advantages).mean()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658368" y="50749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Arial"/>
              <a:buNone/>
            </a:pPr>
            <a:r>
              <a:rPr b="1" i="0" lang="ko" sz="12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PPO : Clipped Objective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658368" y="5349240"/>
            <a:ext cx="5029200" cy="914400"/>
          </a:xfrm>
          <a:prstGeom prst="roundRect">
            <a:avLst>
              <a:gd fmla="val 6000" name="adj"/>
            </a:avLst>
          </a:prstGeom>
          <a:solidFill>
            <a:srgbClr val="1D1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6"/>
          <p:cNvSpPr/>
          <p:nvPr/>
        </p:nvSpPr>
        <p:spPr>
          <a:xfrm>
            <a:off x="841248" y="5349240"/>
            <a:ext cx="4663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C8FF"/>
              </a:buClr>
              <a:buSzPts val="950"/>
              <a:buFont typeface="Courier New"/>
              <a:buNone/>
            </a:pPr>
            <a:r>
              <a:rPr b="0" i="0" lang="ko" sz="1250" u="none" cap="none" strike="noStrike">
                <a:solidFill>
                  <a:srgbClr val="5EC8FF"/>
                </a:solidFill>
                <a:latin typeface="Courier New"/>
                <a:ea typeface="Courier New"/>
                <a:cs typeface="Courier New"/>
                <a:sym typeface="Courier New"/>
              </a:rPr>
              <a:t>ratio = exp(log_probs - old_log_probs)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C8FF"/>
              </a:buClr>
              <a:buSzPts val="950"/>
              <a:buFont typeface="Courier New"/>
              <a:buNone/>
            </a:pPr>
            <a:r>
              <a:rPr b="0" i="0" lang="ko" sz="1250" u="none" cap="none" strike="noStrike">
                <a:solidFill>
                  <a:srgbClr val="5EC8FF"/>
                </a:solidFill>
                <a:latin typeface="Courier New"/>
                <a:ea typeface="Courier New"/>
                <a:cs typeface="Courier New"/>
                <a:sym typeface="Courier New"/>
              </a:rPr>
              <a:t>surr2 = clamp(ratio, 1-e, 1+e) * advantages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C8FF"/>
              </a:buClr>
              <a:buSzPts val="950"/>
              <a:buFont typeface="Courier New"/>
              <a:buNone/>
            </a:pPr>
            <a:r>
              <a:rPr b="0" i="0" lang="ko" sz="1250" u="none" cap="none" strike="noStrike">
                <a:solidFill>
                  <a:srgbClr val="5EC8FF"/>
                </a:solidFill>
                <a:latin typeface="Courier New"/>
                <a:ea typeface="Courier New"/>
                <a:cs typeface="Courier New"/>
                <a:sym typeface="Courier New"/>
              </a:rPr>
              <a:t>loss = -min(surr1, surr2).mean()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6144768" y="1645920"/>
            <a:ext cx="53885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50"/>
              <a:buFont typeface="Arial"/>
              <a:buNone/>
            </a:pPr>
            <a:r>
              <a:rPr b="1" i="0" lang="ko" sz="135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핵심 아이디어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9" name="Google Shape;329;p26"/>
          <p:cNvGraphicFramePr/>
          <p:nvPr/>
        </p:nvGraphicFramePr>
        <p:xfrm>
          <a:off x="6144768" y="2005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{4F513249-047F-4794-A86B-7318042056CE}</a:tableStyleId>
              </a:tblPr>
              <a:tblGrid>
                <a:gridCol w="1371600"/>
                <a:gridCol w="1280150"/>
                <a:gridCol w="3018650"/>
              </a:tblGrid>
              <a:tr h="505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알고리즘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분류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핵심 아이디어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1D1F"/>
                    </a:solidFill>
                  </a:tcPr>
                </a:tc>
              </a:tr>
              <a:tr h="70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1E3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1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REINFORCE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73"/>
                        </a:buClr>
                        <a:buSzPts val="1050"/>
                        <a:buFont typeface="Arial"/>
                        <a:buNone/>
                      </a:pPr>
                      <a:r>
                        <a:rPr lang="ko" sz="1250" u="none" cap="none" strike="noStrike">
                          <a:solidFill>
                            <a:srgbClr val="6E6E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On-policy / PG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30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에피소드 종료 후 Reward-to-go 로 Policy Gradient 직접 업데이트 (Monte Carlo)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1E3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1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A2C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73"/>
                        </a:buClr>
                        <a:buSzPts val="1050"/>
                        <a:buFont typeface="Arial"/>
                        <a:buNone/>
                      </a:pPr>
                      <a:r>
                        <a:rPr lang="ko" sz="1250" u="none" cap="none" strike="noStrike">
                          <a:solidFill>
                            <a:srgbClr val="6E6E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On-policy / AC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30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Actor·Critic 분리, Advantage 추정으로 Gradient 분산 감소 및 학습 가속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</a:tr>
              <a:tr h="84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1E3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1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Double DQN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73"/>
                        </a:buClr>
                        <a:buSzPts val="1050"/>
                        <a:buFont typeface="Arial"/>
                        <a:buNone/>
                      </a:pPr>
                      <a:r>
                        <a:rPr lang="ko" sz="1250" u="none" cap="none" strike="noStrike">
                          <a:solidFill>
                            <a:srgbClr val="6E6E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Off-policy / Value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300">
                          <a:solidFill>
                            <a:srgbClr val="424245"/>
                          </a:solidFill>
                        </a:rPr>
                        <a:t>Experience Replay + Target/Online 분리. 거대 상태에서는 deadly triad 위험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4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1E3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1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PPO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E73"/>
                        </a:buClr>
                        <a:buSzPts val="1050"/>
                        <a:buFont typeface="Arial"/>
                        <a:buNone/>
                      </a:pPr>
                      <a:r>
                        <a:rPr lang="ko" sz="1250" u="none" cap="none" strike="noStrike">
                          <a:solidFill>
                            <a:srgbClr val="6E6E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On-policy / AC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300">
                          <a:solidFill>
                            <a:srgbClr val="424245"/>
                          </a:solidFill>
                        </a:rPr>
                        <a:t>old/new policy ratio 를 [1-ε, 1+ε] 로 clipping 해 update 폭 제한 (clipped surrogate)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</a:tr>
              <a:tr h="79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50">
                          <a:solidFill>
                            <a:schemeClr val="dk1"/>
                          </a:solidFill>
                        </a:rPr>
                        <a:t>LinUCB</a:t>
                      </a:r>
                      <a:endParaRPr b="1" sz="11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50">
                          <a:solidFill>
                            <a:srgbClr val="6E6E73"/>
                          </a:solidFill>
                        </a:rPr>
                        <a:t>Contextual Bandit</a:t>
                      </a:r>
                      <a:endParaRPr sz="1250" u="none" cap="none" strike="noStrike">
                        <a:solidFill>
                          <a:srgbClr val="6E6E7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424245"/>
                          </a:solidFill>
                        </a:rPr>
                        <a:t>즉시 Reward 집중 및 장기 누적 return 반영 불가</a:t>
                      </a:r>
                      <a:endParaRPr sz="1300">
                        <a:solidFill>
                          <a:srgbClr val="424245"/>
                        </a:solidFill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330" name="Google Shape;330;p26"/>
          <p:cNvSpPr/>
          <p:nvPr/>
        </p:nvSpPr>
        <p:spPr>
          <a:xfrm>
            <a:off x="658370" y="6382500"/>
            <a:ext cx="277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※ A2C, PPO 는 Actor-Critic 구조를 사용함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6" name="Google Shape;33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74" cy="68578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7" name="Google Shape;33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046" y="474613"/>
            <a:ext cx="1084928" cy="38099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7"/>
          <p:cNvSpPr/>
          <p:nvPr/>
        </p:nvSpPr>
        <p:spPr>
          <a:xfrm>
            <a:off x="633842" y="603498"/>
            <a:ext cx="2212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725"/>
              <a:buFont typeface="Noto Sans KR"/>
              <a:buNone/>
            </a:pPr>
            <a:r>
              <a:rPr b="1" lang="ko" sz="1725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 Result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11386982" y="569119"/>
            <a:ext cx="547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725"/>
              <a:buFont typeface="Noto Sans KR"/>
              <a:buNone/>
            </a:pPr>
            <a:r>
              <a:t/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7"/>
          <p:cNvSpPr/>
          <p:nvPr/>
        </p:nvSpPr>
        <p:spPr>
          <a:xfrm>
            <a:off x="621638" y="1056084"/>
            <a:ext cx="115701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Noto Sans KR"/>
              <a:buNone/>
            </a:pPr>
            <a:r>
              <a:rPr b="1" lang="ko" sz="3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8"/>
          <p:cNvSpPr/>
          <p:nvPr/>
        </p:nvSpPr>
        <p:spPr>
          <a:xfrm>
            <a:off x="658368" y="45720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50"/>
              <a:buFont typeface="Arial"/>
              <a:buNone/>
            </a:pPr>
            <a:r>
              <a:rPr b="1" i="0" lang="ko" sz="125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EXPERIMENT DESIGN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8"/>
          <p:cNvSpPr/>
          <p:nvPr/>
        </p:nvSpPr>
        <p:spPr>
          <a:xfrm>
            <a:off x="658368" y="749808"/>
            <a:ext cx="9777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100"/>
              <a:buFont typeface="Arial"/>
              <a:buNone/>
            </a:pPr>
            <a:r>
              <a:rPr b="1" i="0" lang="ko" sz="31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하</a:t>
            </a:r>
            <a:r>
              <a:rPr b="1" i="0" lang="ko" sz="31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이퍼파라미터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658368" y="1417320"/>
            <a:ext cx="10875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50"/>
              <a:buFont typeface="Arial"/>
              <a:buNone/>
            </a:pPr>
            <a:r>
              <a:rPr b="0" i="0" lang="ko" sz="1450" u="none" cap="none" strike="noStrike">
                <a:solidFill>
                  <a:srgbClr val="6E6E73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r>
              <a:rPr lang="ko" sz="1450">
                <a:solidFill>
                  <a:srgbClr val="6E6E73"/>
                </a:solidFill>
              </a:rPr>
              <a:t>년</a:t>
            </a:r>
            <a:r>
              <a:rPr b="0" i="0" lang="ko" sz="1450" u="none" cap="none" strike="noStrike">
                <a:solidFill>
                  <a:srgbClr val="6E6E73"/>
                </a:solidFill>
                <a:latin typeface="Arial"/>
                <a:ea typeface="Arial"/>
                <a:cs typeface="Arial"/>
                <a:sym typeface="Arial"/>
              </a:rPr>
              <a:t> 데이터 </a:t>
            </a:r>
            <a:r>
              <a:rPr lang="ko" sz="1450">
                <a:solidFill>
                  <a:srgbClr val="6E6E73"/>
                </a:solidFill>
              </a:rPr>
              <a:t>시계열</a:t>
            </a:r>
            <a:r>
              <a:rPr b="0" i="0" lang="ko" sz="1450" u="none" cap="none" strike="noStrike">
                <a:solidFill>
                  <a:srgbClr val="6E6E73"/>
                </a:solidFill>
                <a:latin typeface="Arial"/>
                <a:ea typeface="Arial"/>
                <a:cs typeface="Arial"/>
                <a:sym typeface="Arial"/>
              </a:rPr>
              <a:t> 분할 · 73일 holdout 평가 · 구별 MostImbalanced 대비 Delta </a:t>
            </a:r>
            <a:r>
              <a:rPr lang="ko" sz="1450">
                <a:solidFill>
                  <a:srgbClr val="6E6E73"/>
                </a:solidFill>
              </a:rPr>
              <a:t>비교  </a:t>
            </a:r>
            <a:r>
              <a:rPr lang="ko" sz="900">
                <a:solidFill>
                  <a:srgbClr val="6E6E73"/>
                </a:solidFill>
              </a:rPr>
              <a:t>(참고) Mostimbalanced : 가장 불균형한 정류소를 찾는 규칙 기반 휴리스텍</a:t>
            </a:r>
            <a:endParaRPr sz="900"/>
          </a:p>
        </p:txBody>
      </p:sp>
      <p:graphicFrame>
        <p:nvGraphicFramePr>
          <p:cNvPr id="349" name="Google Shape;349;p28"/>
          <p:cNvGraphicFramePr/>
          <p:nvPr/>
        </p:nvGraphicFramePr>
        <p:xfrm>
          <a:off x="658368" y="1965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{D3C91809-8558-4987-BF96-D2D5D852F2E6}</a:tableStyleId>
              </a:tblPr>
              <a:tblGrid>
                <a:gridCol w="2194550"/>
                <a:gridCol w="2170100"/>
                <a:gridCol w="2170100"/>
                <a:gridCol w="2170100"/>
                <a:gridCol w="217010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항목</a:t>
                      </a:r>
                      <a:endParaRPr/>
                    </a:p>
                  </a:txBody>
                  <a:tcPr marT="38100" marB="38100" marR="50800" marL="508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REINFORCE</a:t>
                      </a:r>
                      <a:endParaRPr/>
                    </a:p>
                  </a:txBody>
                  <a:tcPr marT="38100" marB="38100" marR="50800" marL="508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A2C</a:t>
                      </a:r>
                      <a:endParaRPr/>
                    </a:p>
                  </a:txBody>
                  <a:tcPr marT="38100" marB="38100" marR="50800" marL="508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Double DQN</a:t>
                      </a:r>
                      <a:endParaRPr/>
                    </a:p>
                  </a:txBody>
                  <a:tcPr marT="38100" marB="38100" marR="50800" marL="508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PPO</a:t>
                      </a:r>
                      <a:endParaRPr/>
                    </a:p>
                  </a:txBody>
                  <a:tcPr marT="38100" marB="38100" marR="50800" marL="508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1D1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45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학습량 (Total)</a:t>
                      </a:r>
                      <a:endParaRPr sz="17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 episodes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 episodes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200,000 steps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200,000 steps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45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할인율 γ / λ</a:t>
                      </a:r>
                      <a:endParaRPr sz="17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 / GAE 0.95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 / GAE 0.95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45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 Hidden</a:t>
                      </a:r>
                      <a:endParaRPr sz="17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256, 256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256, 256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256, 256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 / vf 256, 256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45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Policy LR</a:t>
                      </a:r>
                      <a:endParaRPr sz="17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3e-4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1e-4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5e-4 (dqn_small)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1e-4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45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 LR / coef</a:t>
                      </a:r>
                      <a:endParaRPr sz="17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1e-3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3e-4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vf_coef 0.5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45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Batch · n_steps</a:t>
                      </a:r>
                      <a:endParaRPr sz="17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episode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 / train_freq 4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256 · n_steps 256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45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Replay / target</a:t>
                      </a:r>
                      <a:endParaRPr sz="17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200k buffer · target 2k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45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후보 Action (Top-K)</a:t>
                      </a:r>
                      <a:endParaRPr sz="17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3·6·9·12·15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3·6·9·12·15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(dqn) / 8·10·12·15 (small)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3·6·9·12·15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7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D1F"/>
                        </a:buClr>
                        <a:buSzPts val="1150"/>
                        <a:buFont typeface="Arial"/>
                        <a:buNone/>
                      </a:pPr>
                      <a:r>
                        <a:rPr b="1" lang="ko" sz="1450" u="none" cap="none" strike="noStrike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탐색 / 안정성</a:t>
                      </a:r>
                      <a:endParaRPr sz="17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Advantage normalize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Advantage normalize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ε 1.0→0.05 (frac 0.3)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24245"/>
                        </a:buClr>
                        <a:buSzPts val="1150"/>
                        <a:buFont typeface="Arial"/>
                        <a:buNone/>
                      </a:pPr>
                      <a:r>
                        <a:rPr lang="ko" sz="1550" u="none" cap="none" strike="noStrike">
                          <a:solidFill>
                            <a:srgbClr val="4242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clip 0.1 · target_kl 0.03 · ent 3e-3</a:t>
                      </a:r>
                      <a:endParaRPr sz="1800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2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9"/>
          <p:cNvSpPr/>
          <p:nvPr/>
        </p:nvSpPr>
        <p:spPr>
          <a:xfrm>
            <a:off x="438150" y="352425"/>
            <a:ext cx="2857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 1 | REINFORCE VS A2C </a:t>
            </a:r>
            <a:endParaRPr b="1" sz="1250">
              <a:solidFill>
                <a:srgbClr val="3B82F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6" name="Google Shape;356;p29"/>
          <p:cNvSpPr/>
          <p:nvPr/>
        </p:nvSpPr>
        <p:spPr>
          <a:xfrm>
            <a:off x="438150" y="638175"/>
            <a:ext cx="11239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925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목적: </a:t>
            </a:r>
            <a:r>
              <a:rPr b="1" lang="ko" sz="2925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REINFORCE 및 A2C 비교</a:t>
            </a:r>
            <a:endParaRPr b="1" sz="2925">
              <a:solidFill>
                <a:srgbClr val="22222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57" name="Google Shape;35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68350"/>
            <a:ext cx="11886877" cy="4950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0"/>
          <p:cNvSpPr/>
          <p:nvPr/>
        </p:nvSpPr>
        <p:spPr>
          <a:xfrm>
            <a:off x="438150" y="352425"/>
            <a:ext cx="2857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 1 | REINFORCE VS A2C </a:t>
            </a:r>
            <a:endParaRPr b="1" sz="1250">
              <a:solidFill>
                <a:srgbClr val="3B82F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4" name="Google Shape;364;p30"/>
          <p:cNvSpPr/>
          <p:nvPr/>
        </p:nvSpPr>
        <p:spPr>
          <a:xfrm>
            <a:off x="438150" y="638175"/>
            <a:ext cx="11239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925">
                <a:solidFill>
                  <a:srgbClr val="1D1D1F"/>
                </a:solidFill>
                <a:latin typeface="Noto Sans KR"/>
                <a:ea typeface="Noto Sans KR"/>
                <a:cs typeface="Noto Sans KR"/>
                <a:sym typeface="Noto Sans KR"/>
              </a:rPr>
              <a:t>25구 전체 실험 결과: </a:t>
            </a:r>
            <a:r>
              <a:rPr b="1" lang="ko" sz="295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A2C</a:t>
            </a:r>
            <a:r>
              <a:rPr b="1" lang="ko" sz="2950">
                <a:solidFill>
                  <a:srgbClr val="222222"/>
                </a:solidFill>
              </a:rPr>
              <a:t>가 </a:t>
            </a:r>
            <a:r>
              <a:rPr b="1" lang="ko" sz="295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Best </a:t>
            </a:r>
            <a:r>
              <a:rPr b="1" lang="ko" sz="2950">
                <a:solidFill>
                  <a:srgbClr val="222222"/>
                </a:solidFill>
              </a:rPr>
              <a:t>와 </a:t>
            </a:r>
            <a:r>
              <a:rPr b="1" lang="ko" sz="295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Final 모두에서 우위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 b="1" sz="2925">
              <a:solidFill>
                <a:srgbClr val="1D1D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65" name="Google Shape;36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62075"/>
            <a:ext cx="11886875" cy="4855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1"/>
          <p:cNvSpPr/>
          <p:nvPr/>
        </p:nvSpPr>
        <p:spPr>
          <a:xfrm>
            <a:off x="438150" y="638175"/>
            <a:ext cx="11239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25"/>
              <a:buFont typeface="Arial"/>
              <a:buNone/>
            </a:pPr>
            <a:r>
              <a:rPr b="1" lang="ko" sz="295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</a:t>
            </a:r>
            <a:r>
              <a:rPr b="1" lang="ko" sz="320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곡선: A2C는 더 빠르고 안정적으로 수렴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371" name="Google Shape;371;p31"/>
          <p:cNvSpPr/>
          <p:nvPr/>
        </p:nvSpPr>
        <p:spPr>
          <a:xfrm>
            <a:off x="438150" y="352425"/>
            <a:ext cx="2857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 1 | REINFORCE VS A2C </a:t>
            </a:r>
            <a:endParaRPr b="1" sz="1250">
              <a:solidFill>
                <a:srgbClr val="3B82F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72" name="Google Shape;37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2075"/>
            <a:ext cx="11886873" cy="5214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2"/>
          <p:cNvSpPr/>
          <p:nvPr/>
        </p:nvSpPr>
        <p:spPr>
          <a:xfrm>
            <a:off x="438150" y="638175"/>
            <a:ext cx="11239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25"/>
              <a:buFont typeface="Arial"/>
              <a:buNone/>
            </a:pPr>
            <a:r>
              <a:rPr b="1" lang="ko" sz="320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Top-K Ablation – REINFORCE 는 후보 수(k)에 민감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378" name="Google Shape;378;p32"/>
          <p:cNvSpPr/>
          <p:nvPr/>
        </p:nvSpPr>
        <p:spPr>
          <a:xfrm>
            <a:off x="438150" y="352425"/>
            <a:ext cx="2857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 1 | REINFORCE VS A2C </a:t>
            </a:r>
            <a:endParaRPr b="1" sz="1250">
              <a:solidFill>
                <a:srgbClr val="3B82F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79" name="Google Shape;37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2075"/>
            <a:ext cx="11886873" cy="5214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3"/>
          <p:cNvSpPr/>
          <p:nvPr/>
        </p:nvSpPr>
        <p:spPr>
          <a:xfrm>
            <a:off x="438150" y="638175"/>
            <a:ext cx="11239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25"/>
              <a:buFont typeface="Arial"/>
              <a:buNone/>
            </a:pPr>
            <a:r>
              <a:rPr b="1" lang="ko" sz="295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Seed </a:t>
            </a:r>
            <a:r>
              <a:rPr b="1" lang="ko" sz="320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안정성 - 24배 차이 나는 분산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385" name="Google Shape;385;p33"/>
          <p:cNvSpPr/>
          <p:nvPr/>
        </p:nvSpPr>
        <p:spPr>
          <a:xfrm>
            <a:off x="438150" y="352425"/>
            <a:ext cx="2857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 1 | REINFORCE VS A2C </a:t>
            </a:r>
            <a:endParaRPr b="1" sz="1250">
              <a:solidFill>
                <a:srgbClr val="3B82F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86" name="Google Shape;38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2075"/>
            <a:ext cx="11886873" cy="5119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4"/>
          <p:cNvSpPr/>
          <p:nvPr/>
        </p:nvSpPr>
        <p:spPr>
          <a:xfrm>
            <a:off x="438150" y="638175"/>
            <a:ext cx="11239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25"/>
              <a:buFont typeface="Arial"/>
              <a:buNone/>
            </a:pPr>
            <a:r>
              <a:rPr b="1" lang="ko" sz="3200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– Best Parameter로 전체 서울 학습</a:t>
            </a:r>
            <a:r>
              <a:rPr lang="ko" sz="1100">
                <a:solidFill>
                  <a:schemeClr val="dk1"/>
                </a:solidFill>
              </a:rPr>
              <a:t> 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392" name="Google Shape;392;p34"/>
          <p:cNvSpPr/>
          <p:nvPr/>
        </p:nvSpPr>
        <p:spPr>
          <a:xfrm>
            <a:off x="438150" y="352425"/>
            <a:ext cx="2857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 1 | REINFORCE VS A2C </a:t>
            </a:r>
            <a:endParaRPr b="1" sz="1250">
              <a:solidFill>
                <a:srgbClr val="3B82F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93" name="Google Shape;3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2075"/>
            <a:ext cx="11317969" cy="5343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8350" y="-554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438150" y="638175"/>
            <a:ext cx="1123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95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결론 : A2C + </a:t>
            </a:r>
            <a:r>
              <a:rPr b="1" lang="ko" sz="2950">
                <a:solidFill>
                  <a:srgbClr val="222222"/>
                </a:solidFill>
              </a:rPr>
              <a:t>수요예측</a:t>
            </a:r>
            <a:r>
              <a:rPr b="1" lang="ko" sz="295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+ Top-K </a:t>
            </a:r>
            <a:r>
              <a:rPr b="1" lang="ko" sz="2950">
                <a:solidFill>
                  <a:srgbClr val="222222"/>
                </a:solidFill>
              </a:rPr>
              <a:t>구조의</a:t>
            </a:r>
            <a:r>
              <a:rPr b="1" lang="ko" sz="295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" sz="2950">
                <a:solidFill>
                  <a:srgbClr val="222222"/>
                </a:solidFill>
              </a:rPr>
              <a:t>타당성</a:t>
            </a:r>
            <a:endParaRPr b="1" sz="2900">
              <a:solidFill>
                <a:srgbClr val="22222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5" name="Google Shape;405;p35"/>
          <p:cNvSpPr/>
          <p:nvPr/>
        </p:nvSpPr>
        <p:spPr>
          <a:xfrm>
            <a:off x="438150" y="352425"/>
            <a:ext cx="2857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 1 | REINFORCE VS A2C </a:t>
            </a:r>
            <a:endParaRPr b="1" sz="1250">
              <a:solidFill>
                <a:srgbClr val="3B82F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06" name="Google Shape;40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7937" y="1309315"/>
            <a:ext cx="12191674" cy="4544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6"/>
          <p:cNvSpPr/>
          <p:nvPr/>
        </p:nvSpPr>
        <p:spPr>
          <a:xfrm>
            <a:off x="655320" y="499872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EXPERIMENT 2  |  DOUBLE DQN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6"/>
          <p:cNvSpPr/>
          <p:nvPr/>
        </p:nvSpPr>
        <p:spPr>
          <a:xfrm>
            <a:off x="655320" y="774192"/>
            <a:ext cx="1115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Arial"/>
              <a:buNone/>
            </a:pPr>
            <a:r>
              <a:rPr b="1" i="0" lang="ko" sz="3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실험 목적 : 5개 실험으로 DQN 추월 조건 규명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6"/>
          <p:cNvSpPr/>
          <p:nvPr/>
        </p:nvSpPr>
        <p:spPr>
          <a:xfrm>
            <a:off x="655320" y="1706880"/>
            <a:ext cx="3612000" cy="4983600"/>
          </a:xfrm>
          <a:prstGeom prst="roundRect">
            <a:avLst>
              <a:gd fmla="val 2025" name="adj"/>
            </a:avLst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6"/>
          <p:cNvSpPr/>
          <p:nvPr/>
        </p:nvSpPr>
        <p:spPr>
          <a:xfrm>
            <a:off x="865632" y="1871472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Arial"/>
              <a:buNone/>
            </a:pPr>
            <a:r>
              <a:rPr b="1" i="0" lang="ko" sz="12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실험 목적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6"/>
          <p:cNvSpPr/>
          <p:nvPr/>
        </p:nvSpPr>
        <p:spPr>
          <a:xfrm>
            <a:off x="865632" y="2145792"/>
            <a:ext cx="32004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ko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가치 기반 DQN이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ko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휴리스틱을 초과하는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ko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환경 조건을 규명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7" name="Google Shape;417;p36"/>
          <p:cNvCxnSpPr/>
          <p:nvPr/>
        </p:nvCxnSpPr>
        <p:spPr>
          <a:xfrm>
            <a:off x="865632" y="3224784"/>
            <a:ext cx="3154800" cy="0"/>
          </a:xfrm>
          <a:prstGeom prst="straightConnector1">
            <a:avLst/>
          </a:prstGeom>
          <a:noFill/>
          <a:ln cap="flat" cmpd="sng" w="12700">
            <a:solidFill>
              <a:srgbClr val="2D4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36"/>
          <p:cNvSpPr/>
          <p:nvPr/>
        </p:nvSpPr>
        <p:spPr>
          <a:xfrm>
            <a:off x="865632" y="3352800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Arial"/>
              <a:buNone/>
            </a:pPr>
            <a:r>
              <a:rPr b="1" i="0" lang="ko" sz="12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핵심 검증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6"/>
          <p:cNvSpPr/>
          <p:nvPr/>
        </p:nvSpPr>
        <p:spPr>
          <a:xfrm>
            <a:off x="865632" y="3627120"/>
            <a:ext cx="3200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ko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Delta &gt; 0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6"/>
          <p:cNvSpPr/>
          <p:nvPr/>
        </p:nvSpPr>
        <p:spPr>
          <a:xfrm>
            <a:off x="865632" y="4312920"/>
            <a:ext cx="3200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B8D8"/>
              </a:buClr>
              <a:buSzPts val="1050"/>
              <a:buFont typeface="Arial"/>
              <a:buNone/>
            </a:pPr>
            <a:r>
              <a:rPr b="0" i="0" lang="ko" sz="1050" u="none" cap="none" strike="noStrike">
                <a:solidFill>
                  <a:srgbClr val="99B8D8"/>
                </a:solidFill>
                <a:latin typeface="Arial"/>
                <a:ea typeface="Arial"/>
                <a:cs typeface="Arial"/>
                <a:sym typeface="Arial"/>
              </a:rPr>
              <a:t>Delta = DQN reward − 휴리스틱 reward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B8D8"/>
              </a:buClr>
              <a:buSzPts val="1050"/>
              <a:buFont typeface="Arial"/>
              <a:buNone/>
            </a:pPr>
            <a:r>
              <a:rPr b="0" i="0" lang="ko" sz="1050" u="none" cap="none" strike="noStrike">
                <a:solidFill>
                  <a:srgbClr val="99B8D8"/>
                </a:solidFill>
                <a:latin typeface="Arial"/>
                <a:ea typeface="Arial"/>
                <a:cs typeface="Arial"/>
                <a:sym typeface="Arial"/>
              </a:rPr>
              <a:t>휴리스틱: MostImbalanced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B8D8"/>
              </a:buClr>
              <a:buSzPts val="1050"/>
              <a:buFont typeface="Arial"/>
              <a:buNone/>
            </a:pPr>
            <a:r>
              <a:rPr b="0" i="0" lang="ko" sz="1050" u="none" cap="none" strike="noStrike">
                <a:solidFill>
                  <a:srgbClr val="99B8D8"/>
                </a:solidFill>
                <a:latin typeface="Arial"/>
                <a:ea typeface="Arial"/>
                <a:cs typeface="Arial"/>
                <a:sym typeface="Arial"/>
              </a:rPr>
              <a:t>(forecast 미사용 반응형 그리디, 결정적)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1" name="Google Shape;421;p36"/>
          <p:cNvCxnSpPr/>
          <p:nvPr/>
        </p:nvCxnSpPr>
        <p:spPr>
          <a:xfrm>
            <a:off x="865632" y="5199888"/>
            <a:ext cx="3154800" cy="0"/>
          </a:xfrm>
          <a:prstGeom prst="straightConnector1">
            <a:avLst/>
          </a:prstGeom>
          <a:noFill/>
          <a:ln cap="flat" cmpd="sng" w="12700">
            <a:solidFill>
              <a:srgbClr val="2D4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36"/>
          <p:cNvSpPr/>
          <p:nvPr/>
        </p:nvSpPr>
        <p:spPr>
          <a:xfrm>
            <a:off x="865632" y="5309616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Arial"/>
              <a:buNone/>
            </a:pPr>
            <a:r>
              <a:rPr b="1" i="0" lang="ko" sz="12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공통 보상 설계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6"/>
          <p:cNvSpPr/>
          <p:nvPr/>
        </p:nvSpPr>
        <p:spPr>
          <a:xfrm>
            <a:off x="865632" y="5583936"/>
            <a:ext cx="3200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ko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stockout × (−1.0)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ko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full × (−0.8)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ko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이동km × (−0.008)  step × (−0.002)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6"/>
          <p:cNvSpPr/>
          <p:nvPr/>
        </p:nvSpPr>
        <p:spPr>
          <a:xfrm>
            <a:off x="4495800" y="1706880"/>
            <a:ext cx="7315200" cy="877800"/>
          </a:xfrm>
          <a:prstGeom prst="roundRect">
            <a:avLst>
              <a:gd fmla="val 8333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6"/>
          <p:cNvSpPr/>
          <p:nvPr/>
        </p:nvSpPr>
        <p:spPr>
          <a:xfrm>
            <a:off x="4495800" y="1706880"/>
            <a:ext cx="54900" cy="877800"/>
          </a:xfrm>
          <a:prstGeom prst="rect">
            <a:avLst/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6"/>
          <p:cNvSpPr/>
          <p:nvPr/>
        </p:nvSpPr>
        <p:spPr>
          <a:xfrm>
            <a:off x="4724400" y="1953768"/>
            <a:ext cx="384000" cy="384000"/>
          </a:xfrm>
          <a:prstGeom prst="ellipse">
            <a:avLst/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6"/>
          <p:cNvSpPr/>
          <p:nvPr/>
        </p:nvSpPr>
        <p:spPr>
          <a:xfrm>
            <a:off x="4724400" y="195376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6"/>
          <p:cNvSpPr/>
          <p:nvPr/>
        </p:nvSpPr>
        <p:spPr>
          <a:xfrm>
            <a:off x="5273040" y="1798320"/>
            <a:ext cx="6309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DQN FULL — 전체환경 25구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6"/>
          <p:cNvSpPr/>
          <p:nvPr/>
        </p:nvSpPr>
        <p:spPr>
          <a:xfrm>
            <a:off x="5273040" y="2145792"/>
            <a:ext cx="630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050"/>
              <a:buFont typeface="Arial"/>
              <a:buNone/>
            </a:pPr>
            <a:r>
              <a:rPr b="0" i="0" lang="ko" sz="105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정류소 73~245개 + 트럭 3대에서 학습 가능한가? + 알고리즘 4종 비교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4495800" y="2712720"/>
            <a:ext cx="7315200" cy="877800"/>
          </a:xfrm>
          <a:prstGeom prst="roundRect">
            <a:avLst>
              <a:gd fmla="val 8333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6"/>
          <p:cNvSpPr/>
          <p:nvPr/>
        </p:nvSpPr>
        <p:spPr>
          <a:xfrm>
            <a:off x="4495800" y="2712720"/>
            <a:ext cx="54900" cy="8778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6"/>
          <p:cNvSpPr/>
          <p:nvPr/>
        </p:nvSpPr>
        <p:spPr>
          <a:xfrm>
            <a:off x="4724400" y="2959608"/>
            <a:ext cx="384000" cy="384000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6"/>
          <p:cNvSpPr/>
          <p:nvPr/>
        </p:nvSpPr>
        <p:spPr>
          <a:xfrm>
            <a:off x="4724400" y="295960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6"/>
          <p:cNvSpPr/>
          <p:nvPr/>
        </p:nvSpPr>
        <p:spPr>
          <a:xfrm>
            <a:off x="5273040" y="2804160"/>
            <a:ext cx="6309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lang="ko" sz="1300">
                <a:solidFill>
                  <a:srgbClr val="1A1A1A"/>
                </a:solidFill>
              </a:rPr>
              <a:t>DQN SMALL — top-15 </a:t>
            </a:r>
            <a:r>
              <a:rPr b="1" i="0" lang="ko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축소환경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6"/>
          <p:cNvSpPr/>
          <p:nvPr/>
        </p:nvSpPr>
        <p:spPr>
          <a:xfrm>
            <a:off x="5273040" y="3151632"/>
            <a:ext cx="630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050"/>
              <a:buFont typeface="Arial"/>
              <a:buNone/>
            </a:pPr>
            <a:r>
              <a:rPr b="0" i="0" lang="ko" sz="105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환경을 "배울 수 있는 크기"로 줄이면 추월이 등장하는가?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6"/>
          <p:cNvSpPr/>
          <p:nvPr/>
        </p:nvSpPr>
        <p:spPr>
          <a:xfrm>
            <a:off x="4495800" y="3718560"/>
            <a:ext cx="7315200" cy="877800"/>
          </a:xfrm>
          <a:prstGeom prst="roundRect">
            <a:avLst>
              <a:gd fmla="val 8333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6"/>
          <p:cNvSpPr/>
          <p:nvPr/>
        </p:nvSpPr>
        <p:spPr>
          <a:xfrm>
            <a:off x="4495800" y="3718560"/>
            <a:ext cx="54900" cy="8778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6"/>
          <p:cNvSpPr/>
          <p:nvPr/>
        </p:nvSpPr>
        <p:spPr>
          <a:xfrm>
            <a:off x="4724400" y="3965448"/>
            <a:ext cx="384000" cy="3840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6"/>
          <p:cNvSpPr/>
          <p:nvPr/>
        </p:nvSpPr>
        <p:spPr>
          <a:xfrm>
            <a:off x="4724400" y="396544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6"/>
          <p:cNvSpPr/>
          <p:nvPr/>
        </p:nvSpPr>
        <p:spPr>
          <a:xfrm>
            <a:off x="5273040" y="3810000"/>
            <a:ext cx="6309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시드별 민감도 — Best-3 vs Worst-3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6"/>
          <p:cNvSpPr/>
          <p:nvPr/>
        </p:nvSpPr>
        <p:spPr>
          <a:xfrm>
            <a:off x="5273040" y="4157472"/>
            <a:ext cx="630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050"/>
              <a:buFont typeface="Arial"/>
              <a:buNone/>
            </a:pPr>
            <a:r>
              <a:rPr b="0" i="0" lang="ko" sz="105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추월·실패가 시드 운인지, 자치구 구조 때문인지 분리 검증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6"/>
          <p:cNvSpPr/>
          <p:nvPr/>
        </p:nvSpPr>
        <p:spPr>
          <a:xfrm>
            <a:off x="4495800" y="4724400"/>
            <a:ext cx="7315200" cy="877800"/>
          </a:xfrm>
          <a:prstGeom prst="roundRect">
            <a:avLst>
              <a:gd fmla="val 8333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6"/>
          <p:cNvSpPr/>
          <p:nvPr/>
        </p:nvSpPr>
        <p:spPr>
          <a:xfrm>
            <a:off x="4495800" y="4724400"/>
            <a:ext cx="54900" cy="877800"/>
          </a:xfrm>
          <a:prstGeom prst="rect">
            <a:avLst/>
          </a:prstGeom>
          <a:solidFill>
            <a:srgbClr val="2EA84E"/>
          </a:solidFill>
          <a:ln cap="flat" cmpd="sng" w="12700">
            <a:solidFill>
              <a:srgbClr val="2EA8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6"/>
          <p:cNvSpPr/>
          <p:nvPr/>
        </p:nvSpPr>
        <p:spPr>
          <a:xfrm>
            <a:off x="4724400" y="4971288"/>
            <a:ext cx="384000" cy="384000"/>
          </a:xfrm>
          <a:prstGeom prst="ellipse">
            <a:avLst/>
          </a:prstGeom>
          <a:solidFill>
            <a:srgbClr val="2EA84E"/>
          </a:solidFill>
          <a:ln cap="flat" cmpd="sng" w="12700">
            <a:solidFill>
              <a:srgbClr val="2EA8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6"/>
          <p:cNvSpPr/>
          <p:nvPr/>
        </p:nvSpPr>
        <p:spPr>
          <a:xfrm>
            <a:off x="4724400" y="497128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6"/>
          <p:cNvSpPr/>
          <p:nvPr/>
        </p:nvSpPr>
        <p:spPr>
          <a:xfrm>
            <a:off x="5273040" y="4815840"/>
            <a:ext cx="6309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보상 분해 — 강남</a:t>
            </a:r>
            <a:r>
              <a:rPr b="1" lang="ko" sz="1300">
                <a:solidFill>
                  <a:srgbClr val="1A1A1A"/>
                </a:solidFill>
              </a:rPr>
              <a:t>구가 휴리스틱을 추월하는 이유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6"/>
          <p:cNvSpPr/>
          <p:nvPr/>
        </p:nvSpPr>
        <p:spPr>
          <a:xfrm>
            <a:off x="5273040" y="5163312"/>
            <a:ext cx="630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050"/>
              <a:buFont typeface="Arial"/>
              <a:buNone/>
            </a:pPr>
            <a:r>
              <a:rPr b="0" i="0" lang="ko" sz="105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Δ를 stockout / full / travel로 분해해 추월 메커니즘 규명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6"/>
          <p:cNvSpPr/>
          <p:nvPr/>
        </p:nvSpPr>
        <p:spPr>
          <a:xfrm>
            <a:off x="4495800" y="5730240"/>
            <a:ext cx="7315200" cy="877800"/>
          </a:xfrm>
          <a:prstGeom prst="roundRect">
            <a:avLst>
              <a:gd fmla="val 8333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6"/>
          <p:cNvSpPr/>
          <p:nvPr/>
        </p:nvSpPr>
        <p:spPr>
          <a:xfrm>
            <a:off x="4495800" y="5730240"/>
            <a:ext cx="54900" cy="87780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6"/>
          <p:cNvSpPr/>
          <p:nvPr/>
        </p:nvSpPr>
        <p:spPr>
          <a:xfrm>
            <a:off x="4724400" y="5977128"/>
            <a:ext cx="384000" cy="384000"/>
          </a:xfrm>
          <a:prstGeom prst="ellipse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6"/>
          <p:cNvSpPr/>
          <p:nvPr/>
        </p:nvSpPr>
        <p:spPr>
          <a:xfrm>
            <a:off x="4724400" y="597712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6"/>
          <p:cNvSpPr/>
          <p:nvPr/>
        </p:nvSpPr>
        <p:spPr>
          <a:xfrm>
            <a:off x="5273040" y="5821680"/>
            <a:ext cx="6309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확장 레버 6종 — 추월 확대 시도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6"/>
          <p:cNvSpPr/>
          <p:nvPr/>
        </p:nvSpPr>
        <p:spPr>
          <a:xfrm>
            <a:off x="5273040" y="6169152"/>
            <a:ext cx="630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050"/>
              <a:buFont typeface="Arial"/>
              <a:buNone/>
            </a:pPr>
            <a:r>
              <a:rPr b="0" i="0" lang="ko" sz="105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트럭↑·정류소↓·호라이즌·학습연장·PBRS·BC 워밍업의 효과 검증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7"/>
          <p:cNvSpPr/>
          <p:nvPr/>
        </p:nvSpPr>
        <p:spPr>
          <a:xfrm>
            <a:off x="502920" y="347472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EXPERIMENT 2  |  DOUBLE DQN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7"/>
          <p:cNvSpPr/>
          <p:nvPr/>
        </p:nvSpPr>
        <p:spPr>
          <a:xfrm>
            <a:off x="502920" y="621792"/>
            <a:ext cx="1115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Arial"/>
              <a:buNone/>
            </a:pPr>
            <a:r>
              <a:rPr b="1" i="0" lang="ko" sz="3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환경 분석 : 전체환경 vs top-15 축소환경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7"/>
          <p:cNvSpPr/>
          <p:nvPr/>
        </p:nvSpPr>
        <p:spPr>
          <a:xfrm>
            <a:off x="502920" y="1554480"/>
            <a:ext cx="5651100" cy="3246000"/>
          </a:xfrm>
          <a:prstGeom prst="roundRect">
            <a:avLst>
              <a:gd fmla="val 2254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7"/>
          <p:cNvSpPr/>
          <p:nvPr/>
        </p:nvSpPr>
        <p:spPr>
          <a:xfrm>
            <a:off x="502920" y="1554480"/>
            <a:ext cx="5651100" cy="502800"/>
          </a:xfrm>
          <a:prstGeom prst="roundRect">
            <a:avLst>
              <a:gd fmla="val 14545" name="adj"/>
            </a:avLst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7"/>
          <p:cNvSpPr/>
          <p:nvPr/>
        </p:nvSpPr>
        <p:spPr>
          <a:xfrm>
            <a:off x="704088" y="1554480"/>
            <a:ext cx="1188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실험 1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7"/>
          <p:cNvSpPr/>
          <p:nvPr/>
        </p:nvSpPr>
        <p:spPr>
          <a:xfrm>
            <a:off x="1920240" y="1554480"/>
            <a:ext cx="4114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DQN FULL — 전체환경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7"/>
          <p:cNvSpPr/>
          <p:nvPr/>
        </p:nvSpPr>
        <p:spPr>
          <a:xfrm>
            <a:off x="704088" y="2194560"/>
            <a:ext cx="1234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정류소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7"/>
          <p:cNvSpPr/>
          <p:nvPr/>
        </p:nvSpPr>
        <p:spPr>
          <a:xfrm>
            <a:off x="2011680" y="2194560"/>
            <a:ext cx="40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73 ~ 245개 (자치구 전체)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7"/>
          <p:cNvSpPr/>
          <p:nvPr/>
        </p:nvSpPr>
        <p:spPr>
          <a:xfrm>
            <a:off x="704088" y="2697480"/>
            <a:ext cx="1234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트럭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7"/>
          <p:cNvSpPr/>
          <p:nvPr/>
        </p:nvSpPr>
        <p:spPr>
          <a:xfrm>
            <a:off x="2011680" y="2697480"/>
            <a:ext cx="40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3대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7"/>
          <p:cNvSpPr/>
          <p:nvPr/>
        </p:nvSpPr>
        <p:spPr>
          <a:xfrm>
            <a:off x="704088" y="3200400"/>
            <a:ext cx="1234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obs_dim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7"/>
          <p:cNvSpPr/>
          <p:nvPr/>
        </p:nvSpPr>
        <p:spPr>
          <a:xfrm>
            <a:off x="2011680" y="3200400"/>
            <a:ext cx="40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851 ~ 1,131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7"/>
          <p:cNvSpPr/>
          <p:nvPr/>
        </p:nvSpPr>
        <p:spPr>
          <a:xfrm>
            <a:off x="704088" y="3703320"/>
            <a:ext cx="1234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행동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7"/>
          <p:cNvSpPr/>
          <p:nvPr/>
        </p:nvSpPr>
        <p:spPr>
          <a:xfrm>
            <a:off x="2011680" y="3703320"/>
            <a:ext cx="40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candidate Top-K=12 후보 축소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7"/>
          <p:cNvSpPr/>
          <p:nvPr/>
        </p:nvSpPr>
        <p:spPr>
          <a:xfrm>
            <a:off x="704088" y="4206240"/>
            <a:ext cx="1234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학습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7"/>
          <p:cNvSpPr/>
          <p:nvPr/>
        </p:nvSpPr>
        <p:spPr>
          <a:xfrm>
            <a:off x="2011680" y="4206240"/>
            <a:ext cx="40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1A1A1A"/>
                </a:solidFill>
              </a:rPr>
              <a:t>200K</a:t>
            </a:r>
            <a:r>
              <a:rPr b="0" i="0" lang="ko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steps · chronological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7"/>
          <p:cNvSpPr/>
          <p:nvPr/>
        </p:nvSpPr>
        <p:spPr>
          <a:xfrm>
            <a:off x="6373368" y="1554480"/>
            <a:ext cx="5651100" cy="3246000"/>
          </a:xfrm>
          <a:prstGeom prst="roundRect">
            <a:avLst>
              <a:gd fmla="val 2254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7"/>
          <p:cNvSpPr/>
          <p:nvPr/>
        </p:nvSpPr>
        <p:spPr>
          <a:xfrm>
            <a:off x="6373368" y="1554480"/>
            <a:ext cx="5651100" cy="502800"/>
          </a:xfrm>
          <a:prstGeom prst="roundRect">
            <a:avLst>
              <a:gd fmla="val 14545" name="adj"/>
            </a:avLst>
          </a:prstGeom>
          <a:solidFill>
            <a:srgbClr val="2EA84E"/>
          </a:solidFill>
          <a:ln cap="flat" cmpd="sng" w="12700">
            <a:solidFill>
              <a:srgbClr val="2EA8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7"/>
          <p:cNvSpPr/>
          <p:nvPr/>
        </p:nvSpPr>
        <p:spPr>
          <a:xfrm>
            <a:off x="6574536" y="1554480"/>
            <a:ext cx="1188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실험 2~5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7"/>
          <p:cNvSpPr/>
          <p:nvPr/>
        </p:nvSpPr>
        <p:spPr>
          <a:xfrm>
            <a:off x="7790688" y="1554480"/>
            <a:ext cx="4114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top-15 — dqn_small 축소환경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7"/>
          <p:cNvSpPr/>
          <p:nvPr/>
        </p:nvSpPr>
        <p:spPr>
          <a:xfrm>
            <a:off x="6574536" y="2194560"/>
            <a:ext cx="1234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정류소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7"/>
          <p:cNvSpPr/>
          <p:nvPr/>
        </p:nvSpPr>
        <p:spPr>
          <a:xfrm>
            <a:off x="7882128" y="2194560"/>
            <a:ext cx="40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1A1A1A"/>
                </a:solidFill>
              </a:rPr>
              <a:t>출퇴근 시간대의 불균형이 심한 상위 15개 정류소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7"/>
          <p:cNvSpPr/>
          <p:nvPr/>
        </p:nvSpPr>
        <p:spPr>
          <a:xfrm>
            <a:off x="6574536" y="2697480"/>
            <a:ext cx="1234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트럭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7"/>
          <p:cNvSpPr/>
          <p:nvPr/>
        </p:nvSpPr>
        <p:spPr>
          <a:xfrm>
            <a:off x="7882128" y="2697480"/>
            <a:ext cx="40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1대 · 용량 20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7"/>
          <p:cNvSpPr/>
          <p:nvPr/>
        </p:nvSpPr>
        <p:spPr>
          <a:xfrm>
            <a:off x="6574536" y="3200400"/>
            <a:ext cx="1234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obs_dim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7"/>
          <p:cNvSpPr/>
          <p:nvPr/>
        </p:nvSpPr>
        <p:spPr>
          <a:xfrm>
            <a:off x="7882128" y="3200400"/>
            <a:ext cx="40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92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7"/>
          <p:cNvSpPr/>
          <p:nvPr/>
        </p:nvSpPr>
        <p:spPr>
          <a:xfrm>
            <a:off x="6574536" y="3703320"/>
            <a:ext cx="1234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평가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7"/>
          <p:cNvSpPr/>
          <p:nvPr/>
        </p:nvSpPr>
        <p:spPr>
          <a:xfrm>
            <a:off x="7882128" y="3703320"/>
            <a:ext cx="40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73일 holdout · paired (동일 실현 공유)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7"/>
          <p:cNvSpPr/>
          <p:nvPr/>
        </p:nvSpPr>
        <p:spPr>
          <a:xfrm>
            <a:off x="6574536" y="4206240"/>
            <a:ext cx="1234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학습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7"/>
          <p:cNvSpPr/>
          <p:nvPr/>
        </p:nvSpPr>
        <p:spPr>
          <a:xfrm>
            <a:off x="7882128" y="4206240"/>
            <a:ext cx="4023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200K steps · chronological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7"/>
          <p:cNvSpPr/>
          <p:nvPr/>
        </p:nvSpPr>
        <p:spPr>
          <a:xfrm>
            <a:off x="502920" y="4983480"/>
            <a:ext cx="11137500" cy="1554600"/>
          </a:xfrm>
          <a:prstGeom prst="roundRect">
            <a:avLst>
              <a:gd fmla="val 4706" name="adj"/>
            </a:avLst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7"/>
          <p:cNvSpPr/>
          <p:nvPr/>
        </p:nvSpPr>
        <p:spPr>
          <a:xfrm>
            <a:off x="713232" y="5102352"/>
            <a:ext cx="1051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Arial"/>
              <a:buNone/>
            </a:pPr>
            <a:r>
              <a:rPr b="1" i="0" lang="ko" sz="12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두 환경의 본질적 차이 — "상태·신용할당 공간의 크기"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7"/>
          <p:cNvSpPr/>
          <p:nvPr/>
        </p:nvSpPr>
        <p:spPr>
          <a:xfrm>
            <a:off x="713232" y="5468112"/>
            <a:ext cx="2606100" cy="274200"/>
          </a:xfrm>
          <a:prstGeom prst="roundRect">
            <a:avLst>
              <a:gd fmla="val 13333" name="adj"/>
            </a:avLst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7"/>
          <p:cNvSpPr/>
          <p:nvPr/>
        </p:nvSpPr>
        <p:spPr>
          <a:xfrm>
            <a:off x="713232" y="5468112"/>
            <a:ext cx="260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ko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전체환경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7"/>
          <p:cNvSpPr/>
          <p:nvPr/>
        </p:nvSpPr>
        <p:spPr>
          <a:xfrm>
            <a:off x="758952" y="5779008"/>
            <a:ext cx="2541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obs_dim 851~1,131 → 상태공간 폭발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+ 지연 보상 신용할당 실패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+ deadly triad 발생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7"/>
          <p:cNvSpPr/>
          <p:nvPr/>
        </p:nvSpPr>
        <p:spPr>
          <a:xfrm>
            <a:off x="3502152" y="5468112"/>
            <a:ext cx="2606100" cy="274200"/>
          </a:xfrm>
          <a:prstGeom prst="roundRect">
            <a:avLst>
              <a:gd fmla="val 13333" name="adj"/>
            </a:avLst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7"/>
          <p:cNvSpPr/>
          <p:nvPr/>
        </p:nvSpPr>
        <p:spPr>
          <a:xfrm>
            <a:off x="3502152" y="5468112"/>
            <a:ext cx="260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ko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top-15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7"/>
          <p:cNvSpPr/>
          <p:nvPr/>
        </p:nvSpPr>
        <p:spPr>
          <a:xfrm>
            <a:off x="3547872" y="5779008"/>
            <a:ext cx="2541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obs_dim 92 → 학습 가능 크기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forecast 60차원이 미래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순수요 신호를 직접 전달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7"/>
          <p:cNvSpPr/>
          <p:nvPr/>
        </p:nvSpPr>
        <p:spPr>
          <a:xfrm>
            <a:off x="6291072" y="5468112"/>
            <a:ext cx="2606100" cy="274200"/>
          </a:xfrm>
          <a:prstGeom prst="roundRect">
            <a:avLst>
              <a:gd fmla="val 13333" name="adj"/>
            </a:avLst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7"/>
          <p:cNvSpPr/>
          <p:nvPr/>
        </p:nvSpPr>
        <p:spPr>
          <a:xfrm>
            <a:off x="6291072" y="5468112"/>
            <a:ext cx="260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ko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가설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7"/>
          <p:cNvSpPr/>
          <p:nvPr/>
        </p:nvSpPr>
        <p:spPr>
          <a:xfrm>
            <a:off x="6336792" y="5779008"/>
            <a:ext cx="2541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같은 DQN이라도 환경 크기에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따라 학습 성패가 갈린다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→ 실험 1 vs 2로 검증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7"/>
          <p:cNvSpPr/>
          <p:nvPr/>
        </p:nvSpPr>
        <p:spPr>
          <a:xfrm>
            <a:off x="9079999" y="5468100"/>
            <a:ext cx="2420100" cy="274200"/>
          </a:xfrm>
          <a:prstGeom prst="roundRect">
            <a:avLst>
              <a:gd fmla="val 13333" name="adj"/>
            </a:avLst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7"/>
          <p:cNvSpPr/>
          <p:nvPr/>
        </p:nvSpPr>
        <p:spPr>
          <a:xfrm>
            <a:off x="9080000" y="5468100"/>
            <a:ext cx="248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ko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통제 변수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7"/>
          <p:cNvSpPr/>
          <p:nvPr/>
        </p:nvSpPr>
        <p:spPr>
          <a:xfrm>
            <a:off x="9125712" y="5779008"/>
            <a:ext cx="2541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보상·분할(chronological)·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평가 지표(Δ) 동일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차이는 환경 규모뿐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8"/>
          <p:cNvSpPr/>
          <p:nvPr/>
        </p:nvSpPr>
        <p:spPr>
          <a:xfrm>
            <a:off x="502920" y="347472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EXPERIMENT 2  |  DOUBLE DQN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8"/>
          <p:cNvSpPr/>
          <p:nvPr/>
        </p:nvSpPr>
        <p:spPr>
          <a:xfrm>
            <a:off x="502920" y="621792"/>
            <a:ext cx="1115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Arial"/>
              <a:buNone/>
            </a:pPr>
            <a:r>
              <a:rPr b="1" i="0" lang="ko" sz="3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실험 결과 ① : 전체환경 25구 — 학습 실패가 표준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s/fig1_fullenv_25gu.png" id="510" name="Google Shape;51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481328"/>
            <a:ext cx="4434841" cy="5029201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8"/>
          <p:cNvSpPr/>
          <p:nvPr/>
        </p:nvSpPr>
        <p:spPr>
          <a:xfrm>
            <a:off x="5074920" y="1517904"/>
            <a:ext cx="2103000" cy="868800"/>
          </a:xfrm>
          <a:prstGeom prst="roundRect">
            <a:avLst>
              <a:gd fmla="val 8421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8"/>
          <p:cNvSpPr/>
          <p:nvPr/>
        </p:nvSpPr>
        <p:spPr>
          <a:xfrm>
            <a:off x="5074920" y="1554480"/>
            <a:ext cx="2103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2400"/>
              <a:buFont typeface="Arial"/>
              <a:buNone/>
            </a:pPr>
            <a:r>
              <a:rPr b="1" i="0" lang="ko" sz="2400" u="none" cap="none" strike="noStrike">
                <a:solidFill>
                  <a:srgbClr val="E53E3E"/>
                </a:solidFill>
                <a:latin typeface="Arial"/>
                <a:ea typeface="Arial"/>
                <a:cs typeface="Arial"/>
                <a:sym typeface="Arial"/>
              </a:rPr>
              <a:t>1/25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8"/>
          <p:cNvSpPr/>
          <p:nvPr/>
        </p:nvSpPr>
        <p:spPr>
          <a:xfrm>
            <a:off x="5074920" y="2084832"/>
            <a:ext cx="2103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추월 (서초 +26.0)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8"/>
          <p:cNvSpPr/>
          <p:nvPr/>
        </p:nvSpPr>
        <p:spPr>
          <a:xfrm>
            <a:off x="7315200" y="1517904"/>
            <a:ext cx="2103000" cy="868800"/>
          </a:xfrm>
          <a:prstGeom prst="roundRect">
            <a:avLst>
              <a:gd fmla="val 8421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8"/>
          <p:cNvSpPr/>
          <p:nvPr/>
        </p:nvSpPr>
        <p:spPr>
          <a:xfrm>
            <a:off x="7315200" y="1554480"/>
            <a:ext cx="2103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400"/>
              <a:buFont typeface="Arial"/>
              <a:buNone/>
            </a:pPr>
            <a:r>
              <a:rPr b="1" i="0" lang="ko" sz="24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−234.1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8"/>
          <p:cNvSpPr/>
          <p:nvPr/>
        </p:nvSpPr>
        <p:spPr>
          <a:xfrm>
            <a:off x="7315200" y="2084832"/>
            <a:ext cx="2103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최대 격차 (송파)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8"/>
          <p:cNvSpPr/>
          <p:nvPr/>
        </p:nvSpPr>
        <p:spPr>
          <a:xfrm>
            <a:off x="9555480" y="1517904"/>
            <a:ext cx="2103000" cy="868800"/>
          </a:xfrm>
          <a:prstGeom prst="roundRect">
            <a:avLst>
              <a:gd fmla="val 8421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8"/>
          <p:cNvSpPr/>
          <p:nvPr/>
        </p:nvSpPr>
        <p:spPr>
          <a:xfrm>
            <a:off x="9555480" y="1554480"/>
            <a:ext cx="2103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2400"/>
              <a:buFont typeface="Arial"/>
              <a:buNone/>
            </a:pPr>
            <a:r>
              <a:rPr b="1" i="0" lang="ko" sz="2400" u="none" cap="none" strike="noStrike">
                <a:solidFill>
                  <a:srgbClr val="E53E3E"/>
                </a:solidFill>
                <a:latin typeface="Arial"/>
                <a:ea typeface="Arial"/>
                <a:cs typeface="Arial"/>
                <a:sym typeface="Arial"/>
              </a:rPr>
              <a:t>최하위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8"/>
          <p:cNvSpPr/>
          <p:nvPr/>
        </p:nvSpPr>
        <p:spPr>
          <a:xfrm>
            <a:off x="9555480" y="2084832"/>
            <a:ext cx="2103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알고리즘 4종 중 DQN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s/fig2_algo_compare.png" id="520" name="Google Shape;52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4920" y="2560320"/>
            <a:ext cx="6675121" cy="3749039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38"/>
          <p:cNvSpPr/>
          <p:nvPr/>
        </p:nvSpPr>
        <p:spPr>
          <a:xfrm>
            <a:off x="502920" y="6492240"/>
            <a:ext cx="11247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50"/>
              <a:buFont typeface="Arial"/>
              <a:buNone/>
            </a:pPr>
            <a:r>
              <a:rPr b="0" i="1" lang="ko" sz="95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※ 초기 7일 평균도 일관: 영등포 Δ−122.0 · 마포 미달  |  DQN 부진 = deadly triad + 거대 상태·지연 보상 신용할당 + 강한 휴리스틱의 argmax 취약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9"/>
          <p:cNvSpPr/>
          <p:nvPr/>
        </p:nvSpPr>
        <p:spPr>
          <a:xfrm>
            <a:off x="502920" y="347472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EXPERIMENT 2  |  DOUBLE DQN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9"/>
          <p:cNvSpPr/>
          <p:nvPr/>
        </p:nvSpPr>
        <p:spPr>
          <a:xfrm>
            <a:off x="502920" y="621792"/>
            <a:ext cx="1115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Arial"/>
              <a:buNone/>
            </a:pPr>
            <a:r>
              <a:rPr b="1" i="0" lang="ko" sz="3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실험 결과 ② : top-15 — 강남만 견고한 추월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9"/>
          <p:cNvSpPr/>
          <p:nvPr/>
        </p:nvSpPr>
        <p:spPr>
          <a:xfrm>
            <a:off x="502920" y="1517904"/>
            <a:ext cx="3730800" cy="868800"/>
          </a:xfrm>
          <a:prstGeom prst="roundRect">
            <a:avLst>
              <a:gd fmla="val 8421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9"/>
          <p:cNvSpPr/>
          <p:nvPr/>
        </p:nvSpPr>
        <p:spPr>
          <a:xfrm>
            <a:off x="502920" y="1554480"/>
            <a:ext cx="373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A84E"/>
              </a:buClr>
              <a:buSzPts val="3400"/>
              <a:buFont typeface="Arial"/>
              <a:buNone/>
            </a:pPr>
            <a:r>
              <a:rPr b="1" i="0" lang="ko" sz="3400" u="none" cap="none" strike="noStrike">
                <a:solidFill>
                  <a:srgbClr val="2EA84E"/>
                </a:solidFill>
                <a:latin typeface="Arial"/>
                <a:ea typeface="Arial"/>
                <a:cs typeface="Arial"/>
                <a:sym typeface="Arial"/>
              </a:rPr>
              <a:t>+8.0</a:t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9"/>
          <p:cNvSpPr/>
          <p:nvPr/>
        </p:nvSpPr>
        <p:spPr>
          <a:xfrm>
            <a:off x="502920" y="2084832"/>
            <a:ext cx="3730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강남 3시드 평균 Δ (3/3 추월)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9"/>
          <p:cNvSpPr/>
          <p:nvPr/>
        </p:nvSpPr>
        <p:spPr>
          <a:xfrm>
            <a:off x="4434840" y="1517904"/>
            <a:ext cx="3730800" cy="868800"/>
          </a:xfrm>
          <a:prstGeom prst="roundRect">
            <a:avLst>
              <a:gd fmla="val 8421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9"/>
          <p:cNvSpPr/>
          <p:nvPr/>
        </p:nvSpPr>
        <p:spPr>
          <a:xfrm>
            <a:off x="4434840" y="1554480"/>
            <a:ext cx="373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3400"/>
              <a:buFont typeface="Arial"/>
              <a:buNone/>
            </a:pPr>
            <a:r>
              <a:rPr b="1" i="0" lang="ko" sz="34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2/25</a:t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9"/>
          <p:cNvSpPr/>
          <p:nvPr/>
        </p:nvSpPr>
        <p:spPr>
          <a:xfrm>
            <a:off x="4434840" y="2084832"/>
            <a:ext cx="3730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k15·seed42 추월 (보정평가 6/25)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9"/>
          <p:cNvSpPr/>
          <p:nvPr/>
        </p:nvSpPr>
        <p:spPr>
          <a:xfrm>
            <a:off x="8366760" y="1517904"/>
            <a:ext cx="3730800" cy="868800"/>
          </a:xfrm>
          <a:prstGeom prst="roundRect">
            <a:avLst>
              <a:gd fmla="val 8421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9"/>
          <p:cNvSpPr/>
          <p:nvPr/>
        </p:nvSpPr>
        <p:spPr>
          <a:xfrm>
            <a:off x="8366760" y="1554480"/>
            <a:ext cx="373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3400"/>
              <a:buFont typeface="Arial"/>
              <a:buNone/>
            </a:pPr>
            <a:r>
              <a:rPr b="1" i="0" lang="ko" sz="34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±12pt</a:t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9"/>
          <p:cNvSpPr/>
          <p:nvPr/>
        </p:nvSpPr>
        <p:spPr>
          <a:xfrm>
            <a:off x="8366760" y="2084832"/>
            <a:ext cx="3730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송파 시드 변동폭 (부호 뒤집힘)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s/fig3_seed_sensitivity.png" id="538" name="Google Shape;53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60320"/>
            <a:ext cx="6720839" cy="3840479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9"/>
          <p:cNvSpPr/>
          <p:nvPr/>
        </p:nvSpPr>
        <p:spPr>
          <a:xfrm>
            <a:off x="7360920" y="2560320"/>
            <a:ext cx="4343400" cy="1828800"/>
          </a:xfrm>
          <a:prstGeom prst="roundRect">
            <a:avLst>
              <a:gd fmla="val 4000" name="adj"/>
            </a:avLst>
          </a:prstGeom>
          <a:solidFill>
            <a:srgbClr val="EFF9F0"/>
          </a:solidFill>
          <a:ln cap="flat" cmpd="sng" w="9525">
            <a:solidFill>
              <a:srgbClr val="BBE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9"/>
          <p:cNvSpPr/>
          <p:nvPr/>
        </p:nvSpPr>
        <p:spPr>
          <a:xfrm>
            <a:off x="7516368" y="2651760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84E"/>
              </a:buClr>
              <a:buSzPts val="1150"/>
              <a:buFont typeface="Arial"/>
              <a:buNone/>
            </a:pPr>
            <a:r>
              <a:rPr b="1" i="0" lang="ko" sz="1150" u="none" cap="none" strike="noStrike">
                <a:solidFill>
                  <a:srgbClr val="2EA84E"/>
                </a:solidFill>
                <a:latin typeface="Arial"/>
                <a:ea typeface="Arial"/>
                <a:cs typeface="Arial"/>
                <a:sym typeface="Arial"/>
              </a:rPr>
              <a:t>견고한 추월 = 강남 1구뿐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9"/>
          <p:cNvSpPr/>
          <p:nvPr/>
        </p:nvSpPr>
        <p:spPr>
          <a:xfrm>
            <a:off x="7516368" y="2962656"/>
            <a:ext cx="40233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0" i="0" lang="ko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3시드 +6.0 ~ +10.9 일관 양수.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0" i="0" lang="ko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송파는 시드운: 폭 12pt에 부호까지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0" i="0" lang="ko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뒤집힘 (s123에서 −3.7).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9"/>
          <p:cNvSpPr/>
          <p:nvPr/>
        </p:nvSpPr>
        <p:spPr>
          <a:xfrm>
            <a:off x="7360920" y="4526280"/>
            <a:ext cx="4343400" cy="1874400"/>
          </a:xfrm>
          <a:prstGeom prst="roundRect">
            <a:avLst>
              <a:gd fmla="val 3902" name="adj"/>
            </a:avLst>
          </a:prstGeom>
          <a:solidFill>
            <a:srgbClr val="FFF5F5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9"/>
          <p:cNvSpPr/>
          <p:nvPr/>
        </p:nvSpPr>
        <p:spPr>
          <a:xfrm>
            <a:off x="7516368" y="4617720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150"/>
              <a:buFont typeface="Arial"/>
              <a:buNone/>
            </a:pPr>
            <a:r>
              <a:rPr b="1" i="0" lang="ko" sz="1150" u="none" cap="none" strike="noStrike">
                <a:solidFill>
                  <a:srgbClr val="E53E3E"/>
                </a:solidFill>
                <a:latin typeface="Arial"/>
                <a:ea typeface="Arial"/>
                <a:cs typeface="Arial"/>
                <a:sym typeface="Arial"/>
              </a:rPr>
              <a:t>Worst-3는 구조적 실패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9"/>
          <p:cNvSpPr/>
          <p:nvPr/>
        </p:nvSpPr>
        <p:spPr>
          <a:xfrm>
            <a:off x="7516368" y="4928616"/>
            <a:ext cx="4023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0" i="0" lang="ko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시드 노이즈(±7~8pt)가 격차(−18~−46)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0" i="0" lang="ko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보다 작아 어떤 시드로도 구제 불가.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0" i="0" lang="ko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→ 추월은 시드가 아니라 자치구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0" i="0" lang="ko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구조(수요 포화도)의 문제.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0"/>
          <p:cNvSpPr/>
          <p:nvPr/>
        </p:nvSpPr>
        <p:spPr>
          <a:xfrm>
            <a:off x="502920" y="347472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EXPERIMENT 2  |  DOUBLE DQN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0"/>
          <p:cNvSpPr/>
          <p:nvPr/>
        </p:nvSpPr>
        <p:spPr>
          <a:xfrm>
            <a:off x="502920" y="621792"/>
            <a:ext cx="1115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Arial"/>
              <a:buNone/>
            </a:pPr>
            <a:r>
              <a:rPr b="1" i="0" lang="ko" sz="3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보상 분해 : 강남은 왜 이기나 — 가르는 변수는 "포화도"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2" name="Google Shape;552;p40"/>
          <p:cNvGraphicFramePr/>
          <p:nvPr/>
        </p:nvGraphicFramePr>
        <p:xfrm>
          <a:off x="7315200" y="1627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{4F513249-047F-4794-A86B-7318042056CE}</a:tableStyleId>
              </a:tblPr>
              <a:tblGrid>
                <a:gridCol w="1508750"/>
                <a:gridCol w="868675"/>
                <a:gridCol w="1097275"/>
                <a:gridCol w="9144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Δ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travel_kmΔ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미충족(휴)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044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" sz="10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강남 (비포화)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9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A84E"/>
                        </a:buClr>
                        <a:buSzPts val="1000"/>
                        <a:buFont typeface="Arial"/>
                        <a:buNone/>
                      </a:pPr>
                      <a:r>
                        <a:rPr lang="ko" sz="1000" u="none" cap="none" strike="noStrike">
                          <a:solidFill>
                            <a:srgbClr val="2EA84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+11.0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9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lang="ko" sz="10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−49.9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9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lang="ko" sz="10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155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9F0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" sz="10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영등포 (포화)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3E3E"/>
                        </a:buClr>
                        <a:buSzPts val="1000"/>
                        <a:buFont typeface="Arial"/>
                        <a:buNone/>
                      </a:pPr>
                      <a:r>
                        <a:rPr lang="ko" sz="1000" u="none" cap="none" strike="noStrike">
                          <a:solidFill>
                            <a:srgbClr val="E53E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−25.8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lang="ko" sz="10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−2.2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lang="ko" sz="10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534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" sz="10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강서 (포화)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3E3E"/>
                        </a:buClr>
                        <a:buSzPts val="1000"/>
                        <a:buFont typeface="Arial"/>
                        <a:buNone/>
                      </a:pPr>
                      <a:r>
                        <a:rPr lang="ko" sz="1000" u="none" cap="none" strike="noStrike">
                          <a:solidFill>
                            <a:srgbClr val="E53E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−30.2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lang="ko" sz="10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+1.7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lang="ko" sz="10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773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  <p:sp>
        <p:nvSpPr>
          <p:cNvPr id="553" name="Google Shape;553;p40"/>
          <p:cNvSpPr/>
          <p:nvPr/>
        </p:nvSpPr>
        <p:spPr>
          <a:xfrm>
            <a:off x="7315200" y="3246120"/>
            <a:ext cx="4389000" cy="1481400"/>
          </a:xfrm>
          <a:prstGeom prst="roundRect">
            <a:avLst>
              <a:gd fmla="val 4938" name="adj"/>
            </a:avLst>
          </a:prstGeom>
          <a:solidFill>
            <a:srgbClr val="EFF9F0"/>
          </a:solidFill>
          <a:ln cap="flat" cmpd="sng" w="9525">
            <a:solidFill>
              <a:srgbClr val="BBE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0"/>
          <p:cNvSpPr/>
          <p:nvPr/>
        </p:nvSpPr>
        <p:spPr>
          <a:xfrm>
            <a:off x="7470648" y="3337560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84E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2EA84E"/>
                </a:solidFill>
                <a:latin typeface="Arial"/>
                <a:ea typeface="Arial"/>
                <a:cs typeface="Arial"/>
                <a:sym typeface="Arial"/>
              </a:rPr>
              <a:t>강남 (비포화, 미충족 155건)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0"/>
          <p:cNvSpPr/>
          <p:nvPr/>
        </p:nvSpPr>
        <p:spPr>
          <a:xfrm>
            <a:off x="7470648" y="3611880"/>
            <a:ext cx="41148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1트럭이 감당 가능 → 라우팅 슬랙 존재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DQN이 forecast로 길목 선점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→ 이동 50km↓ + 미충족 12건↓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→ 이득의 ~96%가 미충족 감소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0"/>
          <p:cNvSpPr/>
          <p:nvPr/>
        </p:nvSpPr>
        <p:spPr>
          <a:xfrm>
            <a:off x="7315200" y="4864608"/>
            <a:ext cx="4389000" cy="1481400"/>
          </a:xfrm>
          <a:prstGeom prst="roundRect">
            <a:avLst>
              <a:gd fmla="val 4938" name="adj"/>
            </a:avLst>
          </a:prstGeom>
          <a:solidFill>
            <a:srgbClr val="FFF5F5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0"/>
          <p:cNvSpPr/>
          <p:nvPr/>
        </p:nvSpPr>
        <p:spPr>
          <a:xfrm>
            <a:off x="7470648" y="4956048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E53E3E"/>
                </a:solidFill>
                <a:latin typeface="Arial"/>
                <a:ea typeface="Arial"/>
                <a:cs typeface="Arial"/>
                <a:sym typeface="Arial"/>
              </a:rPr>
              <a:t>영등포·강서 (포화, 강남의 3.5~5배)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40"/>
          <p:cNvSpPr/>
          <p:nvPr/>
        </p:nvSpPr>
        <p:spPr>
          <a:xfrm>
            <a:off x="7470648" y="5230368"/>
            <a:ext cx="41148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트럭 풀가동 → 줄일 슬랙 없음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이동거리 휴리스틱과 동일(±2km)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미충족에서 오히려 짐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→ 1트럭 물리천장 아래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9" name="Google Shape;55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51492"/>
            <a:ext cx="7010401" cy="4418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1"/>
          <p:cNvSpPr/>
          <p:nvPr/>
        </p:nvSpPr>
        <p:spPr>
          <a:xfrm>
            <a:off x="502920" y="347472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EXPERIMENT 2  |  DOUBLE DQN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41"/>
          <p:cNvSpPr/>
          <p:nvPr/>
        </p:nvSpPr>
        <p:spPr>
          <a:xfrm>
            <a:off x="502920" y="621792"/>
            <a:ext cx="1115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Arial"/>
              <a:buNone/>
            </a:pPr>
            <a:r>
              <a:rPr b="1" i="0" lang="ko" sz="3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하이퍼파라미터별 분석 : 확장 레버 6종 검증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s/fig5_station_sweep.png"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17904"/>
            <a:ext cx="5715002" cy="3310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figs/fig6_truck_count.png" id="568" name="Google Shape;56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1517904"/>
            <a:ext cx="5714999" cy="3310127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/>
          <p:nvPr/>
        </p:nvSpPr>
        <p:spPr>
          <a:xfrm>
            <a:off x="502920" y="5010912"/>
            <a:ext cx="2761500" cy="1335000"/>
          </a:xfrm>
          <a:prstGeom prst="roundRect">
            <a:avLst>
              <a:gd fmla="val 5479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1"/>
          <p:cNvSpPr/>
          <p:nvPr/>
        </p:nvSpPr>
        <p:spPr>
          <a:xfrm>
            <a:off x="2130552" y="5102352"/>
            <a:ext cx="1024200" cy="274200"/>
          </a:xfrm>
          <a:prstGeom prst="roundRect">
            <a:avLst>
              <a:gd fmla="val 13333" name="adj"/>
            </a:avLst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1"/>
          <p:cNvSpPr/>
          <p:nvPr/>
        </p:nvSpPr>
        <p:spPr>
          <a:xfrm>
            <a:off x="2130552" y="5102352"/>
            <a:ext cx="102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ko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악화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41"/>
          <p:cNvSpPr/>
          <p:nvPr/>
        </p:nvSpPr>
        <p:spPr>
          <a:xfrm>
            <a:off x="630936" y="5084064"/>
            <a:ext cx="1554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Arial"/>
              <a:buNone/>
            </a:pPr>
            <a:r>
              <a:rPr b="1" i="0" lang="ko" sz="9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🔭 호라이즌 h6→h12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1"/>
          <p:cNvSpPr/>
          <p:nvPr/>
        </p:nvSpPr>
        <p:spPr>
          <a:xfrm>
            <a:off x="630936" y="5541264"/>
            <a:ext cx="2523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강남 +10.9→+8.4 · 영등포·강서 악화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h12는 예측오차 누적 노이즈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1"/>
          <p:cNvSpPr/>
          <p:nvPr/>
        </p:nvSpPr>
        <p:spPr>
          <a:xfrm>
            <a:off x="3447288" y="5010912"/>
            <a:ext cx="2761500" cy="1335000"/>
          </a:xfrm>
          <a:prstGeom prst="roundRect">
            <a:avLst>
              <a:gd fmla="val 5479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41"/>
          <p:cNvSpPr/>
          <p:nvPr/>
        </p:nvSpPr>
        <p:spPr>
          <a:xfrm>
            <a:off x="5074920" y="5102352"/>
            <a:ext cx="1024200" cy="274200"/>
          </a:xfrm>
          <a:prstGeom prst="roundRect">
            <a:avLst>
              <a:gd fmla="val 13333" name="adj"/>
            </a:avLst>
          </a:prstGeom>
          <a:solidFill>
            <a:srgbClr val="6B7B8D"/>
          </a:solidFill>
          <a:ln cap="flat" cmpd="sng" w="12700">
            <a:solidFill>
              <a:srgbClr val="6B7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1"/>
          <p:cNvSpPr/>
          <p:nvPr/>
        </p:nvSpPr>
        <p:spPr>
          <a:xfrm>
            <a:off x="5074920" y="5102352"/>
            <a:ext cx="102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ko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효과 없음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1"/>
          <p:cNvSpPr/>
          <p:nvPr/>
        </p:nvSpPr>
        <p:spPr>
          <a:xfrm>
            <a:off x="3575304" y="5084064"/>
            <a:ext cx="1554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Arial"/>
              <a:buNone/>
            </a:pPr>
            <a:r>
              <a:rPr b="1" i="0" lang="ko" sz="9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⏱ 학습 연장 200k→400k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1"/>
          <p:cNvSpPr/>
          <p:nvPr/>
        </p:nvSpPr>
        <p:spPr>
          <a:xfrm>
            <a:off x="3575304" y="5541264"/>
            <a:ext cx="2523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셋 다 100~260k 수렴 (강남 100k 평탄)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→ 200k 충분, 2배 연산 낭비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1"/>
          <p:cNvSpPr/>
          <p:nvPr/>
        </p:nvSpPr>
        <p:spPr>
          <a:xfrm>
            <a:off x="6391656" y="5010912"/>
            <a:ext cx="2761500" cy="1335000"/>
          </a:xfrm>
          <a:prstGeom prst="roundRect">
            <a:avLst>
              <a:gd fmla="val 5479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1"/>
          <p:cNvSpPr/>
          <p:nvPr/>
        </p:nvSpPr>
        <p:spPr>
          <a:xfrm>
            <a:off x="8019288" y="5102352"/>
            <a:ext cx="1024200" cy="274200"/>
          </a:xfrm>
          <a:prstGeom prst="roundRect">
            <a:avLst>
              <a:gd fmla="val 13333" name="adj"/>
            </a:avLst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41"/>
          <p:cNvSpPr/>
          <p:nvPr/>
        </p:nvSpPr>
        <p:spPr>
          <a:xfrm>
            <a:off x="8019288" y="5102352"/>
            <a:ext cx="102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ko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무효~악화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1"/>
          <p:cNvSpPr/>
          <p:nvPr/>
        </p:nvSpPr>
        <p:spPr>
          <a:xfrm>
            <a:off x="6519672" y="5084064"/>
            <a:ext cx="1554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Arial"/>
              <a:buNone/>
            </a:pPr>
            <a:r>
              <a:rPr b="1" i="0" lang="ko" sz="9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🎯 보상 셰이핑 PBRS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1"/>
          <p:cNvSpPr/>
          <p:nvPr/>
        </p:nvSpPr>
        <p:spPr>
          <a:xfrm>
            <a:off x="6519672" y="5541264"/>
            <a:ext cx="2523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강남 무변화 · 강서 −30→−49 악화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PBRS는 최적정책 불변 → 수렴 구 무효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1"/>
          <p:cNvSpPr/>
          <p:nvPr/>
        </p:nvSpPr>
        <p:spPr>
          <a:xfrm>
            <a:off x="9336024" y="5010912"/>
            <a:ext cx="2761500" cy="1335000"/>
          </a:xfrm>
          <a:prstGeom prst="roundRect">
            <a:avLst>
              <a:gd fmla="val 5479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1"/>
          <p:cNvSpPr/>
          <p:nvPr/>
        </p:nvSpPr>
        <p:spPr>
          <a:xfrm>
            <a:off x="10963656" y="5102352"/>
            <a:ext cx="1024200" cy="274200"/>
          </a:xfrm>
          <a:prstGeom prst="roundRect">
            <a:avLst>
              <a:gd fmla="val 13333" name="adj"/>
            </a:avLst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1"/>
          <p:cNvSpPr/>
          <p:nvPr/>
        </p:nvSpPr>
        <p:spPr>
          <a:xfrm>
            <a:off x="10963656" y="5102352"/>
            <a:ext cx="102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ko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추월 소멸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1"/>
          <p:cNvSpPr/>
          <p:nvPr/>
        </p:nvSpPr>
        <p:spPr>
          <a:xfrm>
            <a:off x="9464040" y="5084064"/>
            <a:ext cx="1554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Arial"/>
              <a:buNone/>
            </a:pPr>
            <a:r>
              <a:rPr b="1" i="0" lang="ko" sz="9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🤖 SLA BC 워밍업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41"/>
          <p:cNvSpPr/>
          <p:nvPr/>
        </p:nvSpPr>
        <p:spPr>
          <a:xfrm>
            <a:off x="9464040" y="5541264"/>
            <a:ext cx="2523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RL fine-tune이 BC를 한 번도 미초과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강남 +5.4 → −0.2 · 탐험 억제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41"/>
          <p:cNvSpPr/>
          <p:nvPr/>
        </p:nvSpPr>
        <p:spPr>
          <a:xfrm>
            <a:off x="502920" y="6455664"/>
            <a:ext cx="11137500" cy="292500"/>
          </a:xfrm>
          <a:prstGeom prst="roundRect">
            <a:avLst>
              <a:gd fmla="val 15625" name="adj"/>
            </a:avLst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1"/>
          <p:cNvSpPr/>
          <p:nvPr/>
        </p:nvSpPr>
        <p:spPr>
          <a:xfrm>
            <a:off x="658368" y="6473952"/>
            <a:ext cx="1088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📌  4개 세션 · 6개 레버 전부 추월 확대 실패 — 한계는 DQN 하이퍼파라미터가 아니라 자치구 구조 (수요 포화도 · 1트럭 물리천장)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2"/>
          <p:cNvSpPr/>
          <p:nvPr/>
        </p:nvSpPr>
        <p:spPr>
          <a:xfrm>
            <a:off x="658368" y="457200"/>
            <a:ext cx="82296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71E3"/>
                </a:solidFill>
              </a:rPr>
              <a:t>EXPERIMENT 2  |  DOUBLE DQN</a:t>
            </a:r>
            <a:endParaRPr b="1" sz="1250">
              <a:solidFill>
                <a:srgbClr val="0071E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2"/>
          <p:cNvSpPr/>
          <p:nvPr/>
        </p:nvSpPr>
        <p:spPr>
          <a:xfrm>
            <a:off x="658375" y="749800"/>
            <a:ext cx="10457700" cy="65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00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DOUBLE DQN </a:t>
            </a:r>
            <a:r>
              <a:rPr b="1" lang="ko" sz="3100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트럭 에이전트 재배치 시뮬레이션</a:t>
            </a:r>
            <a:endParaRPr b="1" sz="3100">
              <a:solidFill>
                <a:srgbClr val="1D1D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2"/>
          <p:cNvSpPr/>
          <p:nvPr/>
        </p:nvSpPr>
        <p:spPr>
          <a:xfrm>
            <a:off x="658368" y="1554480"/>
            <a:ext cx="38100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50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학습된 에이전트의 실시간 의사결정 시연</a:t>
            </a:r>
            <a:endParaRPr b="1" sz="1350">
              <a:solidFill>
                <a:srgbClr val="1D1D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9" name="Google Shape;599;p42"/>
          <p:cNvGrpSpPr/>
          <p:nvPr/>
        </p:nvGrpSpPr>
        <p:grpSpPr>
          <a:xfrm>
            <a:off x="8295132" y="1901190"/>
            <a:ext cx="3238500" cy="4110000"/>
            <a:chOff x="8295132" y="1901190"/>
            <a:chExt cx="3238500" cy="4110000"/>
          </a:xfrm>
        </p:grpSpPr>
        <p:sp>
          <p:nvSpPr>
            <p:cNvPr id="600" name="Google Shape;600;p42"/>
            <p:cNvSpPr/>
            <p:nvPr/>
          </p:nvSpPr>
          <p:spPr>
            <a:xfrm>
              <a:off x="8295132" y="1901190"/>
              <a:ext cx="3238500" cy="4110000"/>
            </a:xfrm>
            <a:prstGeom prst="roundRect">
              <a:avLst>
                <a:gd fmla="val 3529" name="adj"/>
              </a:avLst>
            </a:prstGeom>
            <a:solidFill>
              <a:srgbClr val="F5F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2"/>
            <p:cNvSpPr txBox="1"/>
            <p:nvPr/>
          </p:nvSpPr>
          <p:spPr>
            <a:xfrm>
              <a:off x="8572500" y="2190750"/>
              <a:ext cx="26670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1D1D1F"/>
                  </a:solidFill>
                  <a:latin typeface="Arial"/>
                  <a:ea typeface="Arial"/>
                  <a:cs typeface="Arial"/>
                  <a:sym typeface="Arial"/>
                </a:rPr>
                <a:t>시연 시나리오</a:t>
              </a:r>
              <a:endParaRPr b="1" sz="1400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0071E3"/>
                  </a:solidFill>
                  <a:latin typeface="Arial"/>
                  <a:ea typeface="Arial"/>
                  <a:cs typeface="Arial"/>
                  <a:sym typeface="Arial"/>
                </a:rPr>
                <a:t>01. 수요 예측 (State)</a:t>
              </a:r>
              <a:r>
                <a:rPr lang="ko">
                  <a:latin typeface="Arial"/>
                  <a:ea typeface="Arial"/>
                  <a:cs typeface="Arial"/>
                  <a:sym typeface="Arial"/>
                </a:rPr>
                <a:t> </a:t>
              </a:r>
              <a:br>
                <a:rPr lang="ko">
                  <a:latin typeface="Arial"/>
                  <a:ea typeface="Arial"/>
                  <a:cs typeface="Arial"/>
                  <a:sym typeface="Arial"/>
                </a:rPr>
              </a:br>
              <a:r>
                <a:rPr lang="ko" sz="1100">
                  <a:solidFill>
                    <a:srgbClr val="6E6E73"/>
                  </a:solidFill>
                </a:rPr>
                <a:t>forecast로 핵심 15개 정류소의 1시간 내 불균형 선제 감지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0071E3"/>
                  </a:solidFill>
                  <a:latin typeface="Arial"/>
                  <a:ea typeface="Arial"/>
                  <a:cs typeface="Arial"/>
                  <a:sym typeface="Arial"/>
                </a:rPr>
                <a:t>02. </a:t>
              </a:r>
              <a:r>
                <a:rPr b="1" lang="ko" sz="1200">
                  <a:solidFill>
                    <a:srgbClr val="0071E3"/>
                  </a:solidFill>
                  <a:latin typeface="Arial"/>
                  <a:ea typeface="Arial"/>
                  <a:cs typeface="Arial"/>
                  <a:sym typeface="Arial"/>
                </a:rPr>
                <a:t>가치 기반 행동 선택 (Action)</a:t>
              </a:r>
              <a:br>
                <a:rPr b="1" lang="ko" sz="1200">
                  <a:solidFill>
                    <a:srgbClr val="0071E3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ko" sz="1100">
                  <a:solidFill>
                    <a:srgbClr val="6E6E73"/>
                  </a:solidFill>
                </a:rPr>
                <a:t>트럭 3대 각각 Top-12 후보의 Q 값을 평가해 이동 </a:t>
              </a:r>
              <a:endParaRPr b="1" sz="1200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0071E3"/>
                  </a:solidFill>
                  <a:latin typeface="Arial"/>
                  <a:ea typeface="Arial"/>
                  <a:cs typeface="Arial"/>
                  <a:sym typeface="Arial"/>
                </a:rPr>
                <a:t>03. 동적 재배치 수행</a:t>
              </a:r>
              <a:r>
                <a:rPr lang="ko">
                  <a:latin typeface="Arial"/>
                  <a:ea typeface="Arial"/>
                  <a:cs typeface="Arial"/>
                  <a:sym typeface="Arial"/>
                </a:rPr>
                <a:t> </a:t>
              </a:r>
              <a:br>
                <a:rPr lang="ko"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ko" sz="1100">
                  <a:solidFill>
                    <a:srgbClr val="6E6E73"/>
                  </a:solidFill>
                  <a:latin typeface="Arial"/>
                  <a:ea typeface="Arial"/>
                  <a:cs typeface="Arial"/>
                  <a:sym typeface="Arial"/>
                </a:rPr>
                <a:t>실시간 대여/반납 데이터에 대응하여 트럭 적재량 조절 및 불균형 해소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5EC8FF"/>
                  </a:solidFill>
                  <a:latin typeface="Arial"/>
                  <a:ea typeface="Arial"/>
                  <a:cs typeface="Arial"/>
                  <a:sym typeface="Arial"/>
                </a:rPr>
                <a:t>Model: DQN</a:t>
              </a:r>
              <a:endParaRPr b="1" sz="1200">
                <a:solidFill>
                  <a:srgbClr val="5EC8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ko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Performance: Delta +</a:t>
              </a:r>
              <a:r>
                <a:rPr lang="ko" sz="1200">
                  <a:solidFill>
                    <a:schemeClr val="dk1"/>
                  </a:solidFill>
                </a:rPr>
                <a:t>10.9</a:t>
              </a:r>
              <a:endPara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02" name="Google Shape;602;p42" title="2026-06-12 16-09-10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375" y="1974850"/>
            <a:ext cx="7212825" cy="420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3"/>
          <p:cNvSpPr/>
          <p:nvPr/>
        </p:nvSpPr>
        <p:spPr>
          <a:xfrm>
            <a:off x="502920" y="347472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CONCLUSION  |  DOUBLE DQN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3"/>
          <p:cNvSpPr/>
          <p:nvPr/>
        </p:nvSpPr>
        <p:spPr>
          <a:xfrm>
            <a:off x="502920" y="621792"/>
            <a:ext cx="1115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Arial"/>
              <a:buNone/>
            </a:pPr>
            <a:r>
              <a:rPr b="1" lang="ko" sz="3200">
                <a:solidFill>
                  <a:srgbClr val="1A1A1A"/>
                </a:solidFill>
              </a:rPr>
              <a:t>Double DQN 알고리즘 실험 </a:t>
            </a:r>
            <a:r>
              <a:rPr b="1" i="0" lang="ko" sz="3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종합 결론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3"/>
          <p:cNvSpPr/>
          <p:nvPr/>
        </p:nvSpPr>
        <p:spPr>
          <a:xfrm>
            <a:off x="502920" y="1554480"/>
            <a:ext cx="11137500" cy="932700"/>
          </a:xfrm>
          <a:prstGeom prst="roundRect">
            <a:avLst>
              <a:gd fmla="val 7843" name="adj"/>
            </a:avLst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43"/>
          <p:cNvSpPr/>
          <p:nvPr/>
        </p:nvSpPr>
        <p:spPr>
          <a:xfrm>
            <a:off x="713232" y="1645920"/>
            <a:ext cx="1069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1" lang="ko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"추월은 배울 수 있는 크기에서만 일어나며, 견고한 추월은 강남(비포화·단일트럭) 1곳뿐이다."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3"/>
          <p:cNvSpPr/>
          <p:nvPr/>
        </p:nvSpPr>
        <p:spPr>
          <a:xfrm>
            <a:off x="713232" y="2048256"/>
            <a:ext cx="10698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메커니즘 = forecast 기반 선제 라우팅 효율 (이동 −50km · 미충족 −12건)  |  전체환경 알고리즘 1위는 A2C (17/25)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43"/>
          <p:cNvSpPr/>
          <p:nvPr/>
        </p:nvSpPr>
        <p:spPr>
          <a:xfrm>
            <a:off x="502920" y="2670048"/>
            <a:ext cx="11137500" cy="896100"/>
          </a:xfrm>
          <a:prstGeom prst="roundRect">
            <a:avLst>
              <a:gd fmla="val 8163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43"/>
          <p:cNvSpPr/>
          <p:nvPr/>
        </p:nvSpPr>
        <p:spPr>
          <a:xfrm>
            <a:off x="502920" y="2670048"/>
            <a:ext cx="640200" cy="896100"/>
          </a:xfrm>
          <a:prstGeom prst="roundRect">
            <a:avLst>
              <a:gd fmla="val 11429" name="adj"/>
            </a:avLst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43"/>
          <p:cNvSpPr/>
          <p:nvPr/>
        </p:nvSpPr>
        <p:spPr>
          <a:xfrm>
            <a:off x="502920" y="2670048"/>
            <a:ext cx="6402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3"/>
          <p:cNvSpPr/>
          <p:nvPr/>
        </p:nvSpPr>
        <p:spPr>
          <a:xfrm>
            <a:off x="1298448" y="2743200"/>
            <a:ext cx="10058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추월은 "배울 수 있는 크기"에서만 일어난다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3"/>
          <p:cNvSpPr/>
          <p:nvPr/>
        </p:nvSpPr>
        <p:spPr>
          <a:xfrm>
            <a:off x="1298448" y="30815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전체환경(25구 중 1구, 단일일) = 학습 실패가 표준. obs_dim 851~1,131의 상태공간 폭발.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축소환경(top-15·1트럭, obs_dim 92)에서만 추월 등장.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3"/>
          <p:cNvSpPr/>
          <p:nvPr/>
        </p:nvSpPr>
        <p:spPr>
          <a:xfrm>
            <a:off x="502920" y="3675888"/>
            <a:ext cx="11137500" cy="896100"/>
          </a:xfrm>
          <a:prstGeom prst="roundRect">
            <a:avLst>
              <a:gd fmla="val 8163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43"/>
          <p:cNvSpPr/>
          <p:nvPr/>
        </p:nvSpPr>
        <p:spPr>
          <a:xfrm>
            <a:off x="502920" y="3675888"/>
            <a:ext cx="640200" cy="896100"/>
          </a:xfrm>
          <a:prstGeom prst="roundRect">
            <a:avLst>
              <a:gd fmla="val 11429" name="adj"/>
            </a:avLst>
          </a:prstGeom>
          <a:solidFill>
            <a:srgbClr val="2EA84E"/>
          </a:solidFill>
          <a:ln cap="flat" cmpd="sng" w="12700">
            <a:solidFill>
              <a:srgbClr val="2EA8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43"/>
          <p:cNvSpPr/>
          <p:nvPr/>
        </p:nvSpPr>
        <p:spPr>
          <a:xfrm>
            <a:off x="502920" y="3675888"/>
            <a:ext cx="6402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3"/>
          <p:cNvSpPr/>
          <p:nvPr/>
        </p:nvSpPr>
        <p:spPr>
          <a:xfrm>
            <a:off x="1298448" y="3749040"/>
            <a:ext cx="10058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실환경 견고 추월은 강남 1곳 — 조건은 구조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43"/>
          <p:cNvSpPr/>
          <p:nvPr/>
        </p:nvSpPr>
        <p:spPr>
          <a:xfrm>
            <a:off x="1298448" y="408736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단일 트럭 · 비포화 자치구 · 충분한 정류소 수(k15)가 모두 갖춰져야 성립.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3시드 +6~+11 일관. 포화 구(강서·영등포)는 1트럭 물리천장으로 구조적 불가.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3"/>
          <p:cNvSpPr/>
          <p:nvPr/>
        </p:nvSpPr>
        <p:spPr>
          <a:xfrm>
            <a:off x="502920" y="4681728"/>
            <a:ext cx="11137500" cy="896100"/>
          </a:xfrm>
          <a:prstGeom prst="roundRect">
            <a:avLst>
              <a:gd fmla="val 8163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3"/>
          <p:cNvSpPr/>
          <p:nvPr/>
        </p:nvSpPr>
        <p:spPr>
          <a:xfrm>
            <a:off x="502920" y="4681728"/>
            <a:ext cx="640200" cy="896100"/>
          </a:xfrm>
          <a:prstGeom prst="roundRect">
            <a:avLst>
              <a:gd fmla="val 11429" name="adj"/>
            </a:avLst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3"/>
          <p:cNvSpPr/>
          <p:nvPr/>
        </p:nvSpPr>
        <p:spPr>
          <a:xfrm>
            <a:off x="502920" y="4681728"/>
            <a:ext cx="6402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43"/>
          <p:cNvSpPr/>
          <p:nvPr/>
        </p:nvSpPr>
        <p:spPr>
          <a:xfrm>
            <a:off x="1298448" y="4754880"/>
            <a:ext cx="10058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확장 레버 6종 전부 실패 — 한계는 문제 구조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43"/>
          <p:cNvSpPr/>
          <p:nvPr/>
        </p:nvSpPr>
        <p:spPr>
          <a:xfrm>
            <a:off x="1298448" y="50932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트럭↑ / 정류소↓ / 호라이즌 / 학습연장 / PBRS / BC 워밍업 모두 무효~악화.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DQN 튜닝이 아니라 수요 포화 · 멀티트럭 협응 · 단순화 한계가 본질.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43"/>
          <p:cNvSpPr/>
          <p:nvPr/>
        </p:nvSpPr>
        <p:spPr>
          <a:xfrm>
            <a:off x="502920" y="5687568"/>
            <a:ext cx="11137500" cy="896100"/>
          </a:xfrm>
          <a:prstGeom prst="roundRect">
            <a:avLst>
              <a:gd fmla="val 8163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3"/>
          <p:cNvSpPr/>
          <p:nvPr/>
        </p:nvSpPr>
        <p:spPr>
          <a:xfrm>
            <a:off x="502920" y="5687568"/>
            <a:ext cx="640200" cy="896100"/>
          </a:xfrm>
          <a:prstGeom prst="roundRect">
            <a:avLst>
              <a:gd fmla="val 11429" name="adj"/>
            </a:avLst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3"/>
          <p:cNvSpPr/>
          <p:nvPr/>
        </p:nvSpPr>
        <p:spPr>
          <a:xfrm>
            <a:off x="502920" y="5687568"/>
            <a:ext cx="6402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3"/>
          <p:cNvSpPr/>
          <p:nvPr/>
        </p:nvSpPr>
        <p:spPr>
          <a:xfrm>
            <a:off x="1298448" y="5760720"/>
            <a:ext cx="10058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알고리즘 선택 : 전체환경에선 A2C가 1위, DQN 최하위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3"/>
          <p:cNvSpPr/>
          <p:nvPr/>
        </p:nvSpPr>
        <p:spPr>
          <a:xfrm>
            <a:off x="1298448" y="609904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DQN 부진 = deadly triad + 거대 상태·지연 보상 신용할당 + 강한 휴리스틱의 argmax 취약.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확장하려면 튜닝보다 A2C/PPO 계열 전환이 효과적.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4"/>
          <p:cNvSpPr/>
          <p:nvPr/>
        </p:nvSpPr>
        <p:spPr>
          <a:xfrm>
            <a:off x="502920" y="347472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INSIGHT  |  DOUBLE DQN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4"/>
          <p:cNvSpPr/>
          <p:nvPr/>
        </p:nvSpPr>
        <p:spPr>
          <a:xfrm>
            <a:off x="502920" y="621792"/>
            <a:ext cx="1115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Arial"/>
              <a:buNone/>
            </a:pPr>
            <a:r>
              <a:rPr b="1" i="0" lang="ko" sz="3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인사이트 도출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4"/>
          <p:cNvSpPr/>
          <p:nvPr/>
        </p:nvSpPr>
        <p:spPr>
          <a:xfrm>
            <a:off x="502920" y="1554480"/>
            <a:ext cx="5651100" cy="1518000"/>
          </a:xfrm>
          <a:prstGeom prst="roundRect">
            <a:avLst>
              <a:gd fmla="val 4819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4"/>
          <p:cNvSpPr/>
          <p:nvPr/>
        </p:nvSpPr>
        <p:spPr>
          <a:xfrm>
            <a:off x="502920" y="1554480"/>
            <a:ext cx="54900" cy="15180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44"/>
          <p:cNvSpPr/>
          <p:nvPr/>
        </p:nvSpPr>
        <p:spPr>
          <a:xfrm>
            <a:off x="685800" y="1700784"/>
            <a:ext cx="365700" cy="365700"/>
          </a:xfrm>
          <a:prstGeom prst="ellipse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44"/>
          <p:cNvSpPr/>
          <p:nvPr/>
        </p:nvSpPr>
        <p:spPr>
          <a:xfrm>
            <a:off x="685800" y="1700784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44"/>
          <p:cNvSpPr/>
          <p:nvPr/>
        </p:nvSpPr>
        <p:spPr>
          <a:xfrm>
            <a:off x="1179576" y="1700784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1" i="0" lang="ko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"크기↔학습량" 균형이 RL 성패를 가른다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44"/>
          <p:cNvSpPr/>
          <p:nvPr/>
        </p:nvSpPr>
        <p:spPr>
          <a:xfrm>
            <a:off x="722376" y="2121408"/>
            <a:ext cx="5257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같은 DQN이 전체환경(실패) vs top-15(추월)로 갈린 건 알고리즘이 아니라 상태·신용할당 공간의 크기. 추월을 보려면 먼저 문제를 학습 가능한 규모로 정의해야 한다.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44"/>
          <p:cNvSpPr/>
          <p:nvPr/>
        </p:nvSpPr>
        <p:spPr>
          <a:xfrm>
            <a:off x="6373368" y="1554480"/>
            <a:ext cx="5651100" cy="1518000"/>
          </a:xfrm>
          <a:prstGeom prst="roundRect">
            <a:avLst>
              <a:gd fmla="val 4819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44"/>
          <p:cNvSpPr/>
          <p:nvPr/>
        </p:nvSpPr>
        <p:spPr>
          <a:xfrm>
            <a:off x="6373368" y="1554480"/>
            <a:ext cx="54900" cy="1518000"/>
          </a:xfrm>
          <a:prstGeom prst="rect">
            <a:avLst/>
          </a:prstGeom>
          <a:solidFill>
            <a:srgbClr val="2EA84E"/>
          </a:solidFill>
          <a:ln cap="flat" cmpd="sng" w="12700">
            <a:solidFill>
              <a:srgbClr val="2EA8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4"/>
          <p:cNvSpPr/>
          <p:nvPr/>
        </p:nvSpPr>
        <p:spPr>
          <a:xfrm>
            <a:off x="6556248" y="1700784"/>
            <a:ext cx="365700" cy="365700"/>
          </a:xfrm>
          <a:prstGeom prst="ellipse">
            <a:avLst/>
          </a:prstGeom>
          <a:solidFill>
            <a:srgbClr val="2EA84E"/>
          </a:solidFill>
          <a:ln cap="flat" cmpd="sng" w="12700">
            <a:solidFill>
              <a:srgbClr val="2EA8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44"/>
          <p:cNvSpPr/>
          <p:nvPr/>
        </p:nvSpPr>
        <p:spPr>
          <a:xfrm>
            <a:off x="6556248" y="1700784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4"/>
          <p:cNvSpPr/>
          <p:nvPr/>
        </p:nvSpPr>
        <p:spPr>
          <a:xfrm>
            <a:off x="7050024" y="1700784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1" i="0" lang="ko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forecast의 가치는 "비포화구"에서만 발현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4"/>
          <p:cNvSpPr/>
          <p:nvPr/>
        </p:nvSpPr>
        <p:spPr>
          <a:xfrm>
            <a:off x="6592824" y="2121408"/>
            <a:ext cx="5257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forecast 선제 배치는 줄일 슬랙이 있을 때만 이득(강남). 포화구는 1트럭 물리천장이라 어떤 입력·튜닝도 천장을 못 뚫는다 → forecast/VAE/셰이핑이 무효였던 이유.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4"/>
          <p:cNvSpPr/>
          <p:nvPr/>
        </p:nvSpPr>
        <p:spPr>
          <a:xfrm>
            <a:off x="502920" y="3218688"/>
            <a:ext cx="5651100" cy="1518000"/>
          </a:xfrm>
          <a:prstGeom prst="roundRect">
            <a:avLst>
              <a:gd fmla="val 4819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4"/>
          <p:cNvSpPr/>
          <p:nvPr/>
        </p:nvSpPr>
        <p:spPr>
          <a:xfrm>
            <a:off x="502920" y="3218688"/>
            <a:ext cx="54900" cy="15180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4"/>
          <p:cNvSpPr/>
          <p:nvPr/>
        </p:nvSpPr>
        <p:spPr>
          <a:xfrm>
            <a:off x="685800" y="3364992"/>
            <a:ext cx="365700" cy="365700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4"/>
          <p:cNvSpPr/>
          <p:nvPr/>
        </p:nvSpPr>
        <p:spPr>
          <a:xfrm>
            <a:off x="685800" y="3364992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4"/>
          <p:cNvSpPr/>
          <p:nvPr/>
        </p:nvSpPr>
        <p:spPr>
          <a:xfrm>
            <a:off x="1179576" y="3364992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1" i="0" lang="ko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value-based는 이 문제에 구조적으로 불리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4"/>
          <p:cNvSpPr/>
          <p:nvPr/>
        </p:nvSpPr>
        <p:spPr>
          <a:xfrm>
            <a:off x="722376" y="3785616"/>
            <a:ext cx="5257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거대 상태 · 지연 보상 · 강한 휴리스틱 조합에서 DQN은 최하위, on-policy 정책경사(A2C)가 17/25. 확장하려면 알고리즘을 A2C/PPO 계열로 바꾸는 게 튜닝보다 효과적.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4"/>
          <p:cNvSpPr/>
          <p:nvPr/>
        </p:nvSpPr>
        <p:spPr>
          <a:xfrm>
            <a:off x="6373368" y="3218688"/>
            <a:ext cx="5651100" cy="1518000"/>
          </a:xfrm>
          <a:prstGeom prst="roundRect">
            <a:avLst>
              <a:gd fmla="val 4819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4"/>
          <p:cNvSpPr/>
          <p:nvPr/>
        </p:nvSpPr>
        <p:spPr>
          <a:xfrm>
            <a:off x="6373368" y="3218688"/>
            <a:ext cx="54900" cy="151800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4"/>
          <p:cNvSpPr/>
          <p:nvPr/>
        </p:nvSpPr>
        <p:spPr>
          <a:xfrm>
            <a:off x="6556248" y="3364992"/>
            <a:ext cx="365700" cy="365700"/>
          </a:xfrm>
          <a:prstGeom prst="ellipse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44"/>
          <p:cNvSpPr/>
          <p:nvPr/>
        </p:nvSpPr>
        <p:spPr>
          <a:xfrm>
            <a:off x="6556248" y="3364992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4"/>
          <p:cNvSpPr/>
          <p:nvPr/>
        </p:nvSpPr>
        <p:spPr>
          <a:xfrm>
            <a:off x="7050024" y="3364992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1" i="0" lang="ko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포화구 개선은 학습이 아니라 운영 변수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4"/>
          <p:cNvSpPr/>
          <p:nvPr/>
        </p:nvSpPr>
        <p:spPr>
          <a:xfrm>
            <a:off x="6592824" y="3785616"/>
            <a:ext cx="5257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강서·영등포는 "트럭 수·용량"을 늘려 de-saturation 해야 RL이 의미를 갖는다. 1트럭 고정 하에선 RL·휴리스틱 모두 천장 아래.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44"/>
          <p:cNvSpPr/>
          <p:nvPr/>
        </p:nvSpPr>
        <p:spPr>
          <a:xfrm>
            <a:off x="502920" y="4882896"/>
            <a:ext cx="5651100" cy="1518000"/>
          </a:xfrm>
          <a:prstGeom prst="roundRect">
            <a:avLst>
              <a:gd fmla="val 4819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44"/>
          <p:cNvSpPr/>
          <p:nvPr/>
        </p:nvSpPr>
        <p:spPr>
          <a:xfrm>
            <a:off x="502920" y="4882896"/>
            <a:ext cx="54900" cy="15180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44"/>
          <p:cNvSpPr/>
          <p:nvPr/>
        </p:nvSpPr>
        <p:spPr>
          <a:xfrm>
            <a:off x="685800" y="5029200"/>
            <a:ext cx="365700" cy="3657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44"/>
          <p:cNvSpPr/>
          <p:nvPr/>
        </p:nvSpPr>
        <p:spPr>
          <a:xfrm>
            <a:off x="685800" y="502920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⑤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44"/>
          <p:cNvSpPr/>
          <p:nvPr/>
        </p:nvSpPr>
        <p:spPr>
          <a:xfrm>
            <a:off x="1179576" y="5029200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1" i="0" lang="ko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운영 권고 : RL은 비포화·단일트럭 구에 선별 배치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4"/>
          <p:cNvSpPr/>
          <p:nvPr/>
        </p:nvSpPr>
        <p:spPr>
          <a:xfrm>
            <a:off x="722376" y="5449824"/>
            <a:ext cx="5257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포화·멀티트럭 구는 반응형 휴리스틱 유지. "대형구·멀티트럭에서 RL이 휴리스틱을 압도한다"는 주장은 데이터로 뒷받침되지 않는다.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44"/>
          <p:cNvSpPr/>
          <p:nvPr/>
        </p:nvSpPr>
        <p:spPr>
          <a:xfrm>
            <a:off x="6373368" y="4882896"/>
            <a:ext cx="5651100" cy="1518000"/>
          </a:xfrm>
          <a:prstGeom prst="roundRect">
            <a:avLst>
              <a:gd fmla="val 4819" name="adj"/>
            </a:avLst>
          </a:prstGeom>
          <a:solidFill>
            <a:srgbClr val="F5F6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44"/>
          <p:cNvSpPr/>
          <p:nvPr/>
        </p:nvSpPr>
        <p:spPr>
          <a:xfrm>
            <a:off x="6373368" y="4882896"/>
            <a:ext cx="54900" cy="15180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44"/>
          <p:cNvSpPr/>
          <p:nvPr/>
        </p:nvSpPr>
        <p:spPr>
          <a:xfrm>
            <a:off x="6556248" y="5029200"/>
            <a:ext cx="365700" cy="36570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44"/>
          <p:cNvSpPr/>
          <p:nvPr/>
        </p:nvSpPr>
        <p:spPr>
          <a:xfrm>
            <a:off x="6556248" y="502920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⑥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44"/>
          <p:cNvSpPr/>
          <p:nvPr/>
        </p:nvSpPr>
        <p:spPr>
          <a:xfrm>
            <a:off x="7050024" y="5029200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1" i="0" lang="ko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평가 방법론 교훈 : 검증 절차가 결론을 바꾼다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4"/>
          <p:cNvSpPr/>
          <p:nvPr/>
        </p:nvSpPr>
        <p:spPr>
          <a:xfrm>
            <a:off x="6592824" y="5449824"/>
            <a:ext cx="5257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D"/>
              </a:buClr>
              <a:buSzPts val="950"/>
              <a:buFont typeface="Arial"/>
              <a:buNone/>
            </a:pPr>
            <a:r>
              <a:rPr b="0" i="0" lang="ko" sz="950" u="none" cap="none" strike="noStrike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rPr>
              <a:t>best-on-test 낙관 편향(강남 +10.9→+8.3 보정), split-mode 불일치 등 — 학습과 평가의 분할·체크포인트 정책을 일치시켜야 한다.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81" name="Google Shape;68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74" cy="68578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2" name="Google Shape;68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159" y="1350913"/>
            <a:ext cx="6851713" cy="7542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3" name="Google Shape;683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4159" y="2221855"/>
            <a:ext cx="6851713" cy="7542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4" name="Google Shape;684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4159" y="3092946"/>
            <a:ext cx="6851713" cy="7542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5" name="Google Shape;685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159" y="3963888"/>
            <a:ext cx="6851713" cy="7542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6" name="Google Shape;686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4159" y="4834830"/>
            <a:ext cx="6851713" cy="7542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7" name="Google Shape;68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159" y="5705773"/>
            <a:ext cx="6851713" cy="7542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8" name="Google Shape;688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56259" y="1350913"/>
            <a:ext cx="4010960" cy="51089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9" name="Google Shape;689;p4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36444" y="2777430"/>
            <a:ext cx="1450738" cy="8160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0" name="Google Shape;690;p4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80467" y="4080421"/>
            <a:ext cx="1962841" cy="514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1" name="Google Shape;691;p4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960851" y="2791123"/>
            <a:ext cx="1158149" cy="1179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2" name="Google Shape;692;p4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43426" y="5932140"/>
            <a:ext cx="402271" cy="3222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3" name="Google Shape;693;p4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3842" y="5870377"/>
            <a:ext cx="402271" cy="390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4" name="Google Shape;694;p4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243426" y="5019973"/>
            <a:ext cx="402271" cy="3976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5" name="Google Shape;695;p4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33842" y="5006280"/>
            <a:ext cx="402271" cy="3976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6" name="Google Shape;696;p4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243426" y="4169569"/>
            <a:ext cx="402271" cy="370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7" name="Google Shape;697;p4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33842" y="4128492"/>
            <a:ext cx="402271" cy="3976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8" name="Google Shape;698;p4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243426" y="3298627"/>
            <a:ext cx="402271" cy="3976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9" name="Google Shape;699;p4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33842" y="3264396"/>
            <a:ext cx="402271" cy="4045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0" name="Google Shape;700;p4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243426" y="2413992"/>
            <a:ext cx="390069" cy="3976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1" name="Google Shape;701;p4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33842" y="2400300"/>
            <a:ext cx="402271" cy="41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2" name="Google Shape;702;p4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255630" y="1563588"/>
            <a:ext cx="365661" cy="3839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3" name="Google Shape;703;p4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21638" y="1529209"/>
            <a:ext cx="451086" cy="404504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45"/>
          <p:cNvSpPr/>
          <p:nvPr/>
        </p:nvSpPr>
        <p:spPr>
          <a:xfrm>
            <a:off x="402275" y="287968"/>
            <a:ext cx="2792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5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 3 | PPO</a:t>
            </a:r>
            <a:endParaRPr b="1" sz="1125">
              <a:solidFill>
                <a:srgbClr val="3B82F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5" name="Google Shape;705;p45"/>
          <p:cNvSpPr/>
          <p:nvPr/>
        </p:nvSpPr>
        <p:spPr>
          <a:xfrm>
            <a:off x="390069" y="603498"/>
            <a:ext cx="118017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25"/>
              <a:buFont typeface="Noto Sans KR"/>
              <a:buNone/>
            </a:pPr>
            <a:r>
              <a:rPr b="1" i="0" lang="ko" sz="2925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</a:t>
            </a:r>
            <a:r>
              <a:rPr b="1" lang="ko" sz="2925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목적 : Top-K 선정 및 Seed 재현성 검증</a:t>
            </a:r>
            <a:endParaRPr b="0" i="0" sz="29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5"/>
          <p:cNvSpPr/>
          <p:nvPr/>
        </p:nvSpPr>
        <p:spPr>
          <a:xfrm>
            <a:off x="1853010" y="1515517"/>
            <a:ext cx="58101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Noto Sans KR"/>
              <a:buNone/>
            </a:pPr>
            <a:r>
              <a:rPr b="1" i="0" lang="ko" sz="15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MaskablePPO + Top-K 구조 채택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5"/>
          <p:cNvSpPr/>
          <p:nvPr/>
        </p:nvSpPr>
        <p:spPr>
          <a:xfrm>
            <a:off x="1865213" y="1831032"/>
            <a:ext cx="10326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0" i="0" lang="ko" sz="12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sb3-contrib MaskablePPO로 action mask 적용, Top-K 후보 rank 선택 구조 설계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5"/>
          <p:cNvSpPr/>
          <p:nvPr/>
        </p:nvSpPr>
        <p:spPr>
          <a:xfrm>
            <a:off x="1865213" y="2379613"/>
            <a:ext cx="6800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Noto Sans KR"/>
              <a:buNone/>
            </a:pPr>
            <a:r>
              <a:rPr b="1" i="0" lang="ko" sz="15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73일 chronological holdout 평가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45"/>
          <p:cNvSpPr/>
          <p:nvPr/>
        </p:nvSpPr>
        <p:spPr>
          <a:xfrm>
            <a:off x="1865213" y="2701975"/>
            <a:ext cx="7635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0" i="0" lang="ko" sz="12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앞 292일 학습, 뒤 73일 시계열 순 평가로 실제</a:t>
            </a:r>
            <a:r>
              <a:rPr lang="ko" sz="12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환경</a:t>
            </a:r>
            <a:r>
              <a:rPr b="0" i="0" lang="ko" sz="12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재현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45"/>
          <p:cNvSpPr/>
          <p:nvPr/>
        </p:nvSpPr>
        <p:spPr>
          <a:xfrm>
            <a:off x="1865213" y="3250555"/>
            <a:ext cx="5581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Noto Sans KR"/>
              <a:buNone/>
            </a:pPr>
            <a:r>
              <a:rPr b="1" i="0" lang="ko" sz="15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Clipped update 안정성 효과 검증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5"/>
          <p:cNvSpPr/>
          <p:nvPr/>
        </p:nvSpPr>
        <p:spPr>
          <a:xfrm>
            <a:off x="1865213" y="3572917"/>
            <a:ext cx="103263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0" i="0" lang="ko" sz="12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clip_fraction ≈ 0 확인 → clipping 단독이 아닌 Top-K·lr 복합 효과 분석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5"/>
          <p:cNvSpPr/>
          <p:nvPr/>
        </p:nvSpPr>
        <p:spPr>
          <a:xfrm>
            <a:off x="1865213" y="4114800"/>
            <a:ext cx="6267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Noto Sans KR"/>
              <a:buNone/>
            </a:pPr>
            <a:r>
              <a:rPr b="1" i="0" lang="ko" sz="15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Top-K 크기별 Best-Final gap 비교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5"/>
          <p:cNvSpPr/>
          <p:nvPr/>
        </p:nvSpPr>
        <p:spPr>
          <a:xfrm>
            <a:off x="1865213" y="4437013"/>
            <a:ext cx="9402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0" i="0" lang="ko" sz="12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K=3~15 ablation으로 gap 변화 측정, K=3에서 gap 5.5로 최소화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5"/>
          <p:cNvSpPr/>
          <p:nvPr/>
        </p:nvSpPr>
        <p:spPr>
          <a:xfrm>
            <a:off x="1865213" y="4972050"/>
            <a:ext cx="58101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Noto Sans KR"/>
              <a:buNone/>
            </a:pPr>
            <a:r>
              <a:rPr b="1" i="0" lang="ko" sz="15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PPO diagnostics 지표 시계열 추적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5"/>
          <p:cNvSpPr/>
          <p:nvPr/>
        </p:nvSpPr>
        <p:spPr>
          <a:xfrm>
            <a:off x="1865213" y="5294263"/>
            <a:ext cx="10326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0" i="0" lang="ko" sz="12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approx_kl, clip_fraction, entropy_loss, explained_variance 시계열 모니터링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5"/>
          <p:cNvSpPr/>
          <p:nvPr/>
        </p:nvSpPr>
        <p:spPr>
          <a:xfrm>
            <a:off x="1865213" y="5842992"/>
            <a:ext cx="7943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Noto Sans KR"/>
              <a:buNone/>
            </a:pPr>
            <a:r>
              <a:rPr b="1" i="0" lang="ko" sz="15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Seed 재현성 검증 (seed 42/123/777)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45"/>
          <p:cNvSpPr/>
          <p:nvPr/>
        </p:nvSpPr>
        <p:spPr>
          <a:xfrm>
            <a:off x="1865213" y="6165205"/>
            <a:ext cx="10326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0" i="0" lang="ko" sz="12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Top-K3 조건에서 6구 × 3 seed = 18 run, 전 run Best 양수 달성 확인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8" name="Google Shape;718;p45"/>
          <p:cNvPicPr preferRelativeResize="0"/>
          <p:nvPr/>
        </p:nvPicPr>
        <p:blipFill rotWithShape="1">
          <a:blip r:embed="rId24">
            <a:alphaModFix/>
          </a:blip>
          <a:srcRect b="0" l="0" r="63635" t="9609"/>
          <a:stretch/>
        </p:blipFill>
        <p:spPr>
          <a:xfrm>
            <a:off x="8132525" y="1525603"/>
            <a:ext cx="3135601" cy="243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45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8132525" y="4080425"/>
            <a:ext cx="3135599" cy="2318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0" name="Google Shape;720;p45"/>
          <p:cNvGrpSpPr/>
          <p:nvPr/>
        </p:nvGrpSpPr>
        <p:grpSpPr>
          <a:xfrm>
            <a:off x="7853710" y="1208605"/>
            <a:ext cx="2112085" cy="334702"/>
            <a:chOff x="7853710" y="1208605"/>
            <a:chExt cx="2112085" cy="334702"/>
          </a:xfrm>
        </p:grpSpPr>
        <p:sp>
          <p:nvSpPr>
            <p:cNvPr id="721" name="Google Shape;721;p45"/>
            <p:cNvSpPr/>
            <p:nvPr/>
          </p:nvSpPr>
          <p:spPr>
            <a:xfrm>
              <a:off x="7853710" y="1208605"/>
              <a:ext cx="2095500" cy="324000"/>
            </a:xfrm>
            <a:prstGeom prst="roundRect">
              <a:avLst>
                <a:gd fmla="val 13235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45"/>
            <p:cNvSpPr txBox="1"/>
            <p:nvPr/>
          </p:nvSpPr>
          <p:spPr>
            <a:xfrm>
              <a:off x="7870295" y="1219307"/>
              <a:ext cx="2095500" cy="324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PPO</a:t>
              </a:r>
              <a:r>
                <a:rPr b="1" lang="ko" sz="12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b="1" lang="ko" sz="12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학습곡선</a:t>
              </a:r>
              <a:endParaRPr b="1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8" name="Google Shape;7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865" y="1083469"/>
            <a:ext cx="4071976" cy="891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9" name="Google Shape;72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865" y="2029867"/>
            <a:ext cx="4071976" cy="891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0" name="Google Shape;730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865" y="2976265"/>
            <a:ext cx="4071976" cy="891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1" name="Google Shape;73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865" y="3922663"/>
            <a:ext cx="4071976" cy="891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2" name="Google Shape;732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7865" y="4869061"/>
            <a:ext cx="4071976" cy="9119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3" name="Google Shape;733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7865" y="5836146"/>
            <a:ext cx="4071976" cy="891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4" name="Google Shape;734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3933" y="1062930"/>
            <a:ext cx="7290596" cy="2407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5" name="Google Shape;735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83933" y="3524994"/>
            <a:ext cx="7290596" cy="31820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6" name="Google Shape;736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02582" y="3703290"/>
            <a:ext cx="9525" cy="2811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7" name="Google Shape;737;p4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18172" y="3895279"/>
            <a:ext cx="3255177" cy="21281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8" name="Google Shape;738;p4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18172" y="3895279"/>
            <a:ext cx="488157" cy="275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9" name="Google Shape;739;p4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206329" y="3895279"/>
            <a:ext cx="581771" cy="275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0" name="Google Shape;740;p4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788101" y="3895279"/>
            <a:ext cx="581770" cy="275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1" name="Google Shape;741;p4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369871" y="3895279"/>
            <a:ext cx="581770" cy="275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2" name="Google Shape;742;p4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951642" y="3895279"/>
            <a:ext cx="533551" cy="275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3" name="Google Shape;743;p4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485191" y="3895279"/>
            <a:ext cx="488158" cy="275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4" name="Google Shape;744;p4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718172" y="4170467"/>
            <a:ext cx="488157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5" name="Google Shape;745;p4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206329" y="4170467"/>
            <a:ext cx="58177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6" name="Google Shape;746;p4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788101" y="4170467"/>
            <a:ext cx="58177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7" name="Google Shape;747;p4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369871" y="4170467"/>
            <a:ext cx="58177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8" name="Google Shape;748;p4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951642" y="4170467"/>
            <a:ext cx="53355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9" name="Google Shape;749;p4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485191" y="4170467"/>
            <a:ext cx="488158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0" name="Google Shape;750;p4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718172" y="4427309"/>
            <a:ext cx="488157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1" name="Google Shape;751;p4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206329" y="4427309"/>
            <a:ext cx="58177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2" name="Google Shape;752;p46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788101" y="4427309"/>
            <a:ext cx="58177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3" name="Google Shape;753;p46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6369871" y="4427309"/>
            <a:ext cx="58177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4" name="Google Shape;754;p46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6951642" y="4427309"/>
            <a:ext cx="53355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5" name="Google Shape;755;p46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7485191" y="4427309"/>
            <a:ext cx="488158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6" name="Google Shape;756;p46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4718172" y="4684151"/>
            <a:ext cx="488157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7" name="Google Shape;757;p46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5206329" y="4684151"/>
            <a:ext cx="58177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8" name="Google Shape;758;p46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5788101" y="4684151"/>
            <a:ext cx="58177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9" name="Google Shape;759;p46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6369871" y="4684151"/>
            <a:ext cx="58177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0" name="Google Shape;760;p46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6951642" y="4684151"/>
            <a:ext cx="53355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1" name="Google Shape;761;p46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7485191" y="4684151"/>
            <a:ext cx="488158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2" name="Google Shape;762;p46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4718172" y="4940993"/>
            <a:ext cx="488157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3" name="Google Shape;763;p46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5206329" y="4940993"/>
            <a:ext cx="58177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4" name="Google Shape;764;p46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5788101" y="4940993"/>
            <a:ext cx="58177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5" name="Google Shape;765;p46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6369871" y="4940993"/>
            <a:ext cx="58177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6" name="Google Shape;766;p46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6951642" y="4940993"/>
            <a:ext cx="53355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7" name="Google Shape;767;p46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7485191" y="4940993"/>
            <a:ext cx="488158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8" name="Google Shape;768;p46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4718172" y="5197836"/>
            <a:ext cx="488157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9" name="Google Shape;769;p46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5206329" y="5197836"/>
            <a:ext cx="58177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0" name="Google Shape;770;p46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5788101" y="5197836"/>
            <a:ext cx="58177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1" name="Google Shape;771;p46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6369871" y="5197836"/>
            <a:ext cx="58177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2" name="Google Shape;772;p46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6951642" y="5197836"/>
            <a:ext cx="53355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3" name="Google Shape;773;p46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7485191" y="5197836"/>
            <a:ext cx="488158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4" name="Google Shape;774;p46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4718172" y="5454678"/>
            <a:ext cx="488157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5" name="Google Shape;775;p46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5206329" y="5454678"/>
            <a:ext cx="58177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6" name="Google Shape;776;p46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5788101" y="5454678"/>
            <a:ext cx="58177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7" name="Google Shape;777;p46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6369871" y="5454678"/>
            <a:ext cx="58177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8" name="Google Shape;778;p46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6951642" y="5454678"/>
            <a:ext cx="533551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9" name="Google Shape;779;p46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7485191" y="5454678"/>
            <a:ext cx="488158" cy="25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0" name="Google Shape;780;p46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4718172" y="5711520"/>
            <a:ext cx="488157" cy="311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1" name="Google Shape;781;p46"/>
          <p:cNvPicPr preferRelativeResize="0"/>
          <p:nvPr/>
        </p:nvPicPr>
        <p:blipFill rotWithShape="1">
          <a:blip r:embed="rId55">
            <a:alphaModFix/>
          </a:blip>
          <a:srcRect b="0" l="0" r="0" t="0"/>
          <a:stretch/>
        </p:blipFill>
        <p:spPr>
          <a:xfrm>
            <a:off x="5206329" y="5711520"/>
            <a:ext cx="581771" cy="311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2" name="Google Shape;782;p46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5788101" y="5711520"/>
            <a:ext cx="581771" cy="311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3" name="Google Shape;783;p46"/>
          <p:cNvPicPr preferRelativeResize="0"/>
          <p:nvPr/>
        </p:nvPicPr>
        <p:blipFill rotWithShape="1">
          <a:blip r:embed="rId57">
            <a:alphaModFix/>
          </a:blip>
          <a:srcRect b="0" l="0" r="0" t="0"/>
          <a:stretch/>
        </p:blipFill>
        <p:spPr>
          <a:xfrm>
            <a:off x="6369871" y="5711520"/>
            <a:ext cx="581771" cy="311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4" name="Google Shape;784;p46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6951642" y="5711520"/>
            <a:ext cx="533551" cy="311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5" name="Google Shape;785;p46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7485191" y="5711520"/>
            <a:ext cx="488158" cy="311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6" name="Google Shape;786;p46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4779042" y="1433215"/>
            <a:ext cx="3499004" cy="19132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7" name="Google Shape;787;p46"/>
          <p:cNvPicPr preferRelativeResize="0"/>
          <p:nvPr/>
        </p:nvPicPr>
        <p:blipFill rotWithShape="1">
          <a:blip r:embed="rId61">
            <a:alphaModFix/>
          </a:blip>
          <a:srcRect b="0" l="0" r="0" t="0"/>
          <a:stretch/>
        </p:blipFill>
        <p:spPr>
          <a:xfrm>
            <a:off x="4779042" y="1433215"/>
            <a:ext cx="479511" cy="323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8" name="Google Shape;788;p46"/>
          <p:cNvPicPr preferRelativeResize="0"/>
          <p:nvPr/>
        </p:nvPicPr>
        <p:blipFill rotWithShape="1">
          <a:blip r:embed="rId62">
            <a:alphaModFix/>
          </a:blip>
          <a:srcRect b="0" l="0" r="0" t="0"/>
          <a:stretch/>
        </p:blipFill>
        <p:spPr>
          <a:xfrm>
            <a:off x="5258553" y="1433215"/>
            <a:ext cx="1003521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9" name="Google Shape;789;p46"/>
          <p:cNvPicPr preferRelativeResize="0"/>
          <p:nvPr/>
        </p:nvPicPr>
        <p:blipFill rotWithShape="1">
          <a:blip r:embed="rId63">
            <a:alphaModFix/>
          </a:blip>
          <a:srcRect b="0" l="0" r="0" t="0"/>
          <a:stretch/>
        </p:blipFill>
        <p:spPr>
          <a:xfrm>
            <a:off x="6262074" y="1433215"/>
            <a:ext cx="1023018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0" name="Google Shape;790;p46"/>
          <p:cNvPicPr preferRelativeResize="0"/>
          <p:nvPr/>
        </p:nvPicPr>
        <p:blipFill rotWithShape="1">
          <a:blip r:embed="rId64">
            <a:alphaModFix/>
          </a:blip>
          <a:srcRect b="0" l="0" r="0" t="0"/>
          <a:stretch/>
        </p:blipFill>
        <p:spPr>
          <a:xfrm>
            <a:off x="7285092" y="1433215"/>
            <a:ext cx="99295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1" name="Google Shape;791;p46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4779042" y="1757065"/>
            <a:ext cx="3499004" cy="317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2" name="Google Shape;792;p46"/>
          <p:cNvPicPr preferRelativeResize="0"/>
          <p:nvPr/>
        </p:nvPicPr>
        <p:blipFill rotWithShape="1">
          <a:blip r:embed="rId66">
            <a:alphaModFix/>
          </a:blip>
          <a:srcRect b="0" l="0" r="0" t="0"/>
          <a:stretch/>
        </p:blipFill>
        <p:spPr>
          <a:xfrm>
            <a:off x="4779042" y="1757065"/>
            <a:ext cx="479511" cy="317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3" name="Google Shape;793;p46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5258553" y="1757065"/>
            <a:ext cx="1003521" cy="317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4" name="Google Shape;794;p46"/>
          <p:cNvPicPr preferRelativeResize="0"/>
          <p:nvPr/>
        </p:nvPicPr>
        <p:blipFill rotWithShape="1">
          <a:blip r:embed="rId68">
            <a:alphaModFix/>
          </a:blip>
          <a:srcRect b="0" l="0" r="0" t="0"/>
          <a:stretch/>
        </p:blipFill>
        <p:spPr>
          <a:xfrm>
            <a:off x="6262074" y="1757065"/>
            <a:ext cx="1023018" cy="317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5" name="Google Shape;795;p46"/>
          <p:cNvPicPr preferRelativeResize="0"/>
          <p:nvPr/>
        </p:nvPicPr>
        <p:blipFill rotWithShape="1">
          <a:blip r:embed="rId69">
            <a:alphaModFix/>
          </a:blip>
          <a:srcRect b="0" l="0" r="0" t="0"/>
          <a:stretch/>
        </p:blipFill>
        <p:spPr>
          <a:xfrm>
            <a:off x="7285092" y="1757065"/>
            <a:ext cx="992955" cy="317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6" name="Google Shape;796;p46"/>
          <p:cNvPicPr preferRelativeResize="0"/>
          <p:nvPr/>
        </p:nvPicPr>
        <p:blipFill rotWithShape="1">
          <a:blip r:embed="rId70">
            <a:alphaModFix/>
          </a:blip>
          <a:srcRect b="0" l="0" r="0" t="0"/>
          <a:stretch/>
        </p:blipFill>
        <p:spPr>
          <a:xfrm>
            <a:off x="4779042" y="2074962"/>
            <a:ext cx="479511" cy="317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7" name="Google Shape;797;p46"/>
          <p:cNvPicPr preferRelativeResize="0"/>
          <p:nvPr/>
        </p:nvPicPr>
        <p:blipFill rotWithShape="1">
          <a:blip r:embed="rId71">
            <a:alphaModFix/>
          </a:blip>
          <a:srcRect b="0" l="0" r="0" t="0"/>
          <a:stretch/>
        </p:blipFill>
        <p:spPr>
          <a:xfrm>
            <a:off x="5258553" y="2074962"/>
            <a:ext cx="1003521" cy="317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8" name="Google Shape;798;p46"/>
          <p:cNvPicPr preferRelativeResize="0"/>
          <p:nvPr/>
        </p:nvPicPr>
        <p:blipFill rotWithShape="1">
          <a:blip r:embed="rId72">
            <a:alphaModFix/>
          </a:blip>
          <a:srcRect b="0" l="0" r="0" t="0"/>
          <a:stretch/>
        </p:blipFill>
        <p:spPr>
          <a:xfrm>
            <a:off x="6262074" y="2074962"/>
            <a:ext cx="1023018" cy="317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9" name="Google Shape;799;p46"/>
          <p:cNvPicPr preferRelativeResize="0"/>
          <p:nvPr/>
        </p:nvPicPr>
        <p:blipFill rotWithShape="1">
          <a:blip r:embed="rId73">
            <a:alphaModFix/>
          </a:blip>
          <a:srcRect b="0" l="0" r="0" t="0"/>
          <a:stretch/>
        </p:blipFill>
        <p:spPr>
          <a:xfrm>
            <a:off x="7285092" y="2074962"/>
            <a:ext cx="992955" cy="317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0" name="Google Shape;800;p46"/>
          <p:cNvPicPr preferRelativeResize="0"/>
          <p:nvPr/>
        </p:nvPicPr>
        <p:blipFill rotWithShape="1">
          <a:blip r:embed="rId74">
            <a:alphaModFix/>
          </a:blip>
          <a:srcRect b="0" l="0" r="0" t="0"/>
          <a:stretch/>
        </p:blipFill>
        <p:spPr>
          <a:xfrm>
            <a:off x="4779042" y="2392859"/>
            <a:ext cx="479511" cy="317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1" name="Google Shape;801;p46"/>
          <p:cNvPicPr preferRelativeResize="0"/>
          <p:nvPr/>
        </p:nvPicPr>
        <p:blipFill rotWithShape="1">
          <a:blip r:embed="rId75">
            <a:alphaModFix/>
          </a:blip>
          <a:srcRect b="0" l="0" r="0" t="0"/>
          <a:stretch/>
        </p:blipFill>
        <p:spPr>
          <a:xfrm>
            <a:off x="5258553" y="2392859"/>
            <a:ext cx="1003521" cy="317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2" name="Google Shape;802;p46"/>
          <p:cNvPicPr preferRelativeResize="0"/>
          <p:nvPr/>
        </p:nvPicPr>
        <p:blipFill rotWithShape="1">
          <a:blip r:embed="rId76">
            <a:alphaModFix/>
          </a:blip>
          <a:srcRect b="0" l="0" r="0" t="0"/>
          <a:stretch/>
        </p:blipFill>
        <p:spPr>
          <a:xfrm>
            <a:off x="6262074" y="2392859"/>
            <a:ext cx="1023018" cy="317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3" name="Google Shape;803;p46"/>
          <p:cNvPicPr preferRelativeResize="0"/>
          <p:nvPr/>
        </p:nvPicPr>
        <p:blipFill rotWithShape="1">
          <a:blip r:embed="rId77">
            <a:alphaModFix/>
          </a:blip>
          <a:srcRect b="0" l="0" r="0" t="0"/>
          <a:stretch/>
        </p:blipFill>
        <p:spPr>
          <a:xfrm>
            <a:off x="7285092" y="2392859"/>
            <a:ext cx="992955" cy="317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4" name="Google Shape;804;p46"/>
          <p:cNvPicPr preferRelativeResize="0"/>
          <p:nvPr/>
        </p:nvPicPr>
        <p:blipFill rotWithShape="1">
          <a:blip r:embed="rId78">
            <a:alphaModFix/>
          </a:blip>
          <a:srcRect b="0" l="0" r="0" t="0"/>
          <a:stretch/>
        </p:blipFill>
        <p:spPr>
          <a:xfrm>
            <a:off x="4779042" y="2710755"/>
            <a:ext cx="479511" cy="3178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5" name="Google Shape;805;p46"/>
          <p:cNvPicPr preferRelativeResize="0"/>
          <p:nvPr/>
        </p:nvPicPr>
        <p:blipFill rotWithShape="1">
          <a:blip r:embed="rId79">
            <a:alphaModFix/>
          </a:blip>
          <a:srcRect b="0" l="0" r="0" t="0"/>
          <a:stretch/>
        </p:blipFill>
        <p:spPr>
          <a:xfrm>
            <a:off x="5258553" y="2710755"/>
            <a:ext cx="1003521" cy="3178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6" name="Google Shape;806;p46"/>
          <p:cNvPicPr preferRelativeResize="0"/>
          <p:nvPr/>
        </p:nvPicPr>
        <p:blipFill rotWithShape="1">
          <a:blip r:embed="rId80">
            <a:alphaModFix/>
          </a:blip>
          <a:srcRect b="0" l="0" r="0" t="0"/>
          <a:stretch/>
        </p:blipFill>
        <p:spPr>
          <a:xfrm>
            <a:off x="6262074" y="2710755"/>
            <a:ext cx="1023018" cy="3178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7" name="Google Shape;807;p46"/>
          <p:cNvPicPr preferRelativeResize="0"/>
          <p:nvPr/>
        </p:nvPicPr>
        <p:blipFill rotWithShape="1">
          <a:blip r:embed="rId81">
            <a:alphaModFix/>
          </a:blip>
          <a:srcRect b="0" l="0" r="0" t="0"/>
          <a:stretch/>
        </p:blipFill>
        <p:spPr>
          <a:xfrm>
            <a:off x="7285092" y="2710755"/>
            <a:ext cx="992955" cy="3178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8" name="Google Shape;808;p46"/>
          <p:cNvPicPr preferRelativeResize="0"/>
          <p:nvPr/>
        </p:nvPicPr>
        <p:blipFill rotWithShape="1">
          <a:blip r:embed="rId82">
            <a:alphaModFix/>
          </a:blip>
          <a:srcRect b="0" l="0" r="0" t="0"/>
          <a:stretch/>
        </p:blipFill>
        <p:spPr>
          <a:xfrm>
            <a:off x="4779042" y="3028652"/>
            <a:ext cx="479511" cy="3178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9" name="Google Shape;809;p46"/>
          <p:cNvPicPr preferRelativeResize="0"/>
          <p:nvPr/>
        </p:nvPicPr>
        <p:blipFill rotWithShape="1">
          <a:blip r:embed="rId83">
            <a:alphaModFix/>
          </a:blip>
          <a:srcRect b="0" l="0" r="0" t="0"/>
          <a:stretch/>
        </p:blipFill>
        <p:spPr>
          <a:xfrm>
            <a:off x="5258553" y="3028652"/>
            <a:ext cx="1003521" cy="3178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0" name="Google Shape;810;p46"/>
          <p:cNvPicPr preferRelativeResize="0"/>
          <p:nvPr/>
        </p:nvPicPr>
        <p:blipFill rotWithShape="1">
          <a:blip r:embed="rId84">
            <a:alphaModFix/>
          </a:blip>
          <a:srcRect b="0" l="0" r="0" t="0"/>
          <a:stretch/>
        </p:blipFill>
        <p:spPr>
          <a:xfrm>
            <a:off x="6262074" y="3028652"/>
            <a:ext cx="1023018" cy="3178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1" name="Google Shape;811;p46"/>
          <p:cNvPicPr preferRelativeResize="0"/>
          <p:nvPr/>
        </p:nvPicPr>
        <p:blipFill rotWithShape="1">
          <a:blip r:embed="rId85">
            <a:alphaModFix/>
          </a:blip>
          <a:srcRect b="0" l="0" r="0" t="0"/>
          <a:stretch/>
        </p:blipFill>
        <p:spPr>
          <a:xfrm>
            <a:off x="7285092" y="3028652"/>
            <a:ext cx="992955" cy="3178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2" name="Google Shape;812;p46"/>
          <p:cNvPicPr preferRelativeResize="0"/>
          <p:nvPr/>
        </p:nvPicPr>
        <p:blipFill rotWithShape="1">
          <a:blip r:embed="rId86">
            <a:alphaModFix/>
          </a:blip>
          <a:srcRect b="0" l="0" r="0" t="0"/>
          <a:stretch/>
        </p:blipFill>
        <p:spPr>
          <a:xfrm>
            <a:off x="9960503" y="5424636"/>
            <a:ext cx="1792140" cy="10971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3" name="Google Shape;813;p46"/>
          <p:cNvPicPr preferRelativeResize="0"/>
          <p:nvPr/>
        </p:nvPicPr>
        <p:blipFill rotWithShape="1">
          <a:blip r:embed="rId87">
            <a:alphaModFix/>
          </a:blip>
          <a:srcRect b="0" l="0" r="0" t="0"/>
          <a:stretch/>
        </p:blipFill>
        <p:spPr>
          <a:xfrm>
            <a:off x="8119549" y="5424636"/>
            <a:ext cx="1755530" cy="10971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4" name="Google Shape;814;p46"/>
          <p:cNvPicPr preferRelativeResize="0"/>
          <p:nvPr/>
        </p:nvPicPr>
        <p:blipFill rotWithShape="1">
          <a:blip r:embed="rId88">
            <a:alphaModFix/>
          </a:blip>
          <a:srcRect b="0" l="0" r="0" t="0"/>
          <a:stretch/>
        </p:blipFill>
        <p:spPr>
          <a:xfrm>
            <a:off x="9948300" y="3929509"/>
            <a:ext cx="1804344" cy="1227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5" name="Google Shape;815;p46"/>
          <p:cNvPicPr preferRelativeResize="0"/>
          <p:nvPr/>
        </p:nvPicPr>
        <p:blipFill rotWithShape="1">
          <a:blip r:embed="rId89">
            <a:alphaModFix/>
          </a:blip>
          <a:srcRect b="0" l="0" r="0" t="0"/>
          <a:stretch/>
        </p:blipFill>
        <p:spPr>
          <a:xfrm>
            <a:off x="8119549" y="3908971"/>
            <a:ext cx="1755530" cy="1248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6" name="Google Shape;816;p46"/>
          <p:cNvPicPr preferRelativeResize="0"/>
          <p:nvPr/>
        </p:nvPicPr>
        <p:blipFill rotWithShape="1">
          <a:blip r:embed="rId90">
            <a:alphaModFix/>
          </a:blip>
          <a:srcRect b="0" l="0" r="0" t="0"/>
          <a:stretch/>
        </p:blipFill>
        <p:spPr>
          <a:xfrm>
            <a:off x="8229381" y="3566071"/>
            <a:ext cx="255977" cy="2674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7" name="Google Shape;817;p46"/>
          <p:cNvPicPr preferRelativeResize="0"/>
          <p:nvPr/>
        </p:nvPicPr>
        <p:blipFill rotWithShape="1">
          <a:blip r:embed="rId91">
            <a:alphaModFix/>
          </a:blip>
          <a:srcRect b="0" l="0" r="0" t="0"/>
          <a:stretch/>
        </p:blipFill>
        <p:spPr>
          <a:xfrm>
            <a:off x="5254535" y="6192738"/>
            <a:ext cx="2145598" cy="287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8" name="Google Shape;818;p46"/>
          <p:cNvPicPr preferRelativeResize="0"/>
          <p:nvPr/>
        </p:nvPicPr>
        <p:blipFill rotWithShape="1">
          <a:blip r:embed="rId92">
            <a:alphaModFix/>
          </a:blip>
          <a:srcRect b="0" l="0" r="0" t="0"/>
          <a:stretch/>
        </p:blipFill>
        <p:spPr>
          <a:xfrm>
            <a:off x="4742431" y="3566071"/>
            <a:ext cx="243774" cy="260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9" name="Google Shape;819;p46"/>
          <p:cNvPicPr preferRelativeResize="0"/>
          <p:nvPr/>
        </p:nvPicPr>
        <p:blipFill rotWithShape="1">
          <a:blip r:embed="rId93">
            <a:alphaModFix/>
          </a:blip>
          <a:srcRect b="0" l="0" r="0" t="0"/>
          <a:stretch/>
        </p:blipFill>
        <p:spPr>
          <a:xfrm>
            <a:off x="8497561" y="1392138"/>
            <a:ext cx="3255082" cy="1947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0" name="Google Shape;820;p46"/>
          <p:cNvPicPr preferRelativeResize="0"/>
          <p:nvPr/>
        </p:nvPicPr>
        <p:blipFill rotWithShape="1">
          <a:blip r:embed="rId94">
            <a:alphaModFix/>
          </a:blip>
          <a:srcRect b="0" l="0" r="0" t="0"/>
          <a:stretch/>
        </p:blipFill>
        <p:spPr>
          <a:xfrm>
            <a:off x="4746592" y="1124694"/>
            <a:ext cx="255977" cy="253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1" name="Google Shape;821;p46"/>
          <p:cNvPicPr preferRelativeResize="0"/>
          <p:nvPr/>
        </p:nvPicPr>
        <p:blipFill rotWithShape="1">
          <a:blip r:embed="rId95">
            <a:alphaModFix/>
          </a:blip>
          <a:srcRect b="0" l="0" r="0" t="0"/>
          <a:stretch/>
        </p:blipFill>
        <p:spPr>
          <a:xfrm>
            <a:off x="914376" y="6089898"/>
            <a:ext cx="438882" cy="418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2" name="Google Shape;822;p46"/>
          <p:cNvPicPr preferRelativeResize="0"/>
          <p:nvPr/>
        </p:nvPicPr>
        <p:blipFill rotWithShape="1">
          <a:blip r:embed="rId96">
            <a:alphaModFix/>
          </a:blip>
          <a:srcRect b="0" l="0" r="0" t="0"/>
          <a:stretch/>
        </p:blipFill>
        <p:spPr>
          <a:xfrm>
            <a:off x="463141" y="5911453"/>
            <a:ext cx="377865" cy="335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3" name="Google Shape;823;p46"/>
          <p:cNvPicPr preferRelativeResize="0"/>
          <p:nvPr/>
        </p:nvPicPr>
        <p:blipFill rotWithShape="1">
          <a:blip r:embed="rId97">
            <a:alphaModFix/>
          </a:blip>
          <a:srcRect b="0" l="0" r="0" t="0"/>
          <a:stretch/>
        </p:blipFill>
        <p:spPr>
          <a:xfrm>
            <a:off x="914376" y="5143500"/>
            <a:ext cx="438882" cy="41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4" name="Google Shape;824;p46"/>
          <p:cNvPicPr preferRelativeResize="0"/>
          <p:nvPr/>
        </p:nvPicPr>
        <p:blipFill rotWithShape="1">
          <a:blip r:embed="rId98">
            <a:alphaModFix/>
          </a:blip>
          <a:srcRect b="0" l="0" r="0" t="0"/>
          <a:stretch/>
        </p:blipFill>
        <p:spPr>
          <a:xfrm>
            <a:off x="463141" y="4958209"/>
            <a:ext cx="377865" cy="335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5" name="Google Shape;825;p46"/>
          <p:cNvPicPr preferRelativeResize="0"/>
          <p:nvPr/>
        </p:nvPicPr>
        <p:blipFill rotWithShape="1">
          <a:blip r:embed="rId99">
            <a:alphaModFix/>
          </a:blip>
          <a:srcRect b="0" l="0" r="0" t="0"/>
          <a:stretch/>
        </p:blipFill>
        <p:spPr>
          <a:xfrm>
            <a:off x="914376" y="4231332"/>
            <a:ext cx="438882" cy="3839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6" name="Google Shape;826;p46"/>
          <p:cNvPicPr preferRelativeResize="0"/>
          <p:nvPr/>
        </p:nvPicPr>
        <p:blipFill rotWithShape="1">
          <a:blip r:embed="rId100">
            <a:alphaModFix/>
          </a:blip>
          <a:srcRect b="0" l="0" r="0" t="0"/>
          <a:stretch/>
        </p:blipFill>
        <p:spPr>
          <a:xfrm>
            <a:off x="463141" y="4004965"/>
            <a:ext cx="377865" cy="335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7" name="Google Shape;827;p46"/>
          <p:cNvPicPr preferRelativeResize="0"/>
          <p:nvPr/>
        </p:nvPicPr>
        <p:blipFill rotWithShape="1">
          <a:blip r:embed="rId101">
            <a:alphaModFix/>
          </a:blip>
          <a:srcRect b="0" l="0" r="0" t="0"/>
          <a:stretch/>
        </p:blipFill>
        <p:spPr>
          <a:xfrm>
            <a:off x="914376" y="3236863"/>
            <a:ext cx="438882" cy="4320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8" name="Google Shape;828;p46"/>
          <p:cNvPicPr preferRelativeResize="0"/>
          <p:nvPr/>
        </p:nvPicPr>
        <p:blipFill rotWithShape="1">
          <a:blip r:embed="rId102">
            <a:alphaModFix/>
          </a:blip>
          <a:srcRect b="0" l="0" r="0" t="0"/>
          <a:stretch/>
        </p:blipFill>
        <p:spPr>
          <a:xfrm>
            <a:off x="463141" y="3058567"/>
            <a:ext cx="377865" cy="335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9" name="Google Shape;829;p46"/>
          <p:cNvPicPr preferRelativeResize="0"/>
          <p:nvPr/>
        </p:nvPicPr>
        <p:blipFill rotWithShape="1">
          <a:blip r:embed="rId103">
            <a:alphaModFix/>
          </a:blip>
          <a:srcRect b="0" l="0" r="0" t="0"/>
          <a:stretch/>
        </p:blipFill>
        <p:spPr>
          <a:xfrm>
            <a:off x="914376" y="2304157"/>
            <a:ext cx="438882" cy="4045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0" name="Google Shape;830;p46"/>
          <p:cNvPicPr preferRelativeResize="0"/>
          <p:nvPr/>
        </p:nvPicPr>
        <p:blipFill rotWithShape="1">
          <a:blip r:embed="rId104">
            <a:alphaModFix/>
          </a:blip>
          <a:srcRect b="0" l="0" r="0" t="0"/>
          <a:stretch/>
        </p:blipFill>
        <p:spPr>
          <a:xfrm>
            <a:off x="463141" y="2098477"/>
            <a:ext cx="377865" cy="342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1" name="Google Shape;831;p46"/>
          <p:cNvPicPr preferRelativeResize="0"/>
          <p:nvPr/>
        </p:nvPicPr>
        <p:blipFill rotWithShape="1">
          <a:blip r:embed="rId105">
            <a:alphaModFix/>
          </a:blip>
          <a:srcRect b="0" l="0" r="0" t="0"/>
          <a:stretch/>
        </p:blipFill>
        <p:spPr>
          <a:xfrm>
            <a:off x="914376" y="1344067"/>
            <a:ext cx="438882" cy="41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2" name="Google Shape;832;p46"/>
          <p:cNvPicPr preferRelativeResize="0"/>
          <p:nvPr/>
        </p:nvPicPr>
        <p:blipFill rotWithShape="1">
          <a:blip r:embed="rId106">
            <a:alphaModFix/>
          </a:blip>
          <a:srcRect b="0" l="0" r="0" t="0"/>
          <a:stretch/>
        </p:blipFill>
        <p:spPr>
          <a:xfrm>
            <a:off x="451086" y="1145232"/>
            <a:ext cx="377865" cy="349737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46"/>
          <p:cNvSpPr/>
          <p:nvPr/>
        </p:nvSpPr>
        <p:spPr>
          <a:xfrm>
            <a:off x="4680073" y="3895279"/>
            <a:ext cx="5454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구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6"/>
          <p:cNvSpPr/>
          <p:nvPr/>
        </p:nvSpPr>
        <p:spPr>
          <a:xfrm>
            <a:off x="5168230" y="3895279"/>
            <a:ext cx="6390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Seed-1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46"/>
          <p:cNvSpPr/>
          <p:nvPr/>
        </p:nvSpPr>
        <p:spPr>
          <a:xfrm>
            <a:off x="5750002" y="3895279"/>
            <a:ext cx="6390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Seed-2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46"/>
          <p:cNvSpPr/>
          <p:nvPr/>
        </p:nvSpPr>
        <p:spPr>
          <a:xfrm>
            <a:off x="6331772" y="3895279"/>
            <a:ext cx="6390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Seed-3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46"/>
          <p:cNvSpPr/>
          <p:nvPr/>
        </p:nvSpPr>
        <p:spPr>
          <a:xfrm>
            <a:off x="6913543" y="3895279"/>
            <a:ext cx="5907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평균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46"/>
          <p:cNvSpPr/>
          <p:nvPr/>
        </p:nvSpPr>
        <p:spPr>
          <a:xfrm>
            <a:off x="7447092" y="3895279"/>
            <a:ext cx="5454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표준편차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46"/>
          <p:cNvSpPr/>
          <p:nvPr/>
        </p:nvSpPr>
        <p:spPr>
          <a:xfrm>
            <a:off x="4680073" y="4170467"/>
            <a:ext cx="488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강남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46"/>
          <p:cNvSpPr/>
          <p:nvPr/>
        </p:nvSpPr>
        <p:spPr>
          <a:xfrm>
            <a:off x="5168230" y="4170467"/>
            <a:ext cx="581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+32.4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6"/>
          <p:cNvSpPr/>
          <p:nvPr/>
        </p:nvSpPr>
        <p:spPr>
          <a:xfrm>
            <a:off x="5750002" y="4170467"/>
            <a:ext cx="581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+35.5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6"/>
          <p:cNvSpPr/>
          <p:nvPr/>
        </p:nvSpPr>
        <p:spPr>
          <a:xfrm>
            <a:off x="6331772" y="4170467"/>
            <a:ext cx="581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+31.0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46"/>
          <p:cNvSpPr/>
          <p:nvPr/>
        </p:nvSpPr>
        <p:spPr>
          <a:xfrm>
            <a:off x="6913543" y="4170467"/>
            <a:ext cx="533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+32.9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6"/>
          <p:cNvSpPr/>
          <p:nvPr/>
        </p:nvSpPr>
        <p:spPr>
          <a:xfrm>
            <a:off x="7447092" y="4170467"/>
            <a:ext cx="488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2.3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6"/>
          <p:cNvSpPr/>
          <p:nvPr/>
        </p:nvSpPr>
        <p:spPr>
          <a:xfrm>
            <a:off x="4680073" y="4427309"/>
            <a:ext cx="488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종로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6"/>
          <p:cNvSpPr/>
          <p:nvPr/>
        </p:nvSpPr>
        <p:spPr>
          <a:xfrm>
            <a:off x="5168230" y="4427309"/>
            <a:ext cx="581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+28.7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46"/>
          <p:cNvSpPr/>
          <p:nvPr/>
        </p:nvSpPr>
        <p:spPr>
          <a:xfrm>
            <a:off x="5750002" y="4427309"/>
            <a:ext cx="581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+31.2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6"/>
          <p:cNvSpPr/>
          <p:nvPr/>
        </p:nvSpPr>
        <p:spPr>
          <a:xfrm>
            <a:off x="6331772" y="4427309"/>
            <a:ext cx="581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+27.9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46"/>
          <p:cNvSpPr/>
          <p:nvPr/>
        </p:nvSpPr>
        <p:spPr>
          <a:xfrm>
            <a:off x="6913543" y="4427309"/>
            <a:ext cx="533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+29.3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46"/>
          <p:cNvSpPr/>
          <p:nvPr/>
        </p:nvSpPr>
        <p:spPr>
          <a:xfrm>
            <a:off x="7447092" y="4427309"/>
            <a:ext cx="488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1.7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6"/>
          <p:cNvSpPr/>
          <p:nvPr/>
        </p:nvSpPr>
        <p:spPr>
          <a:xfrm>
            <a:off x="4680073" y="4684151"/>
            <a:ext cx="488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마</a:t>
            </a:r>
            <a:r>
              <a:rPr b="1" lang="ko" sz="975">
                <a:latin typeface="Calibri"/>
                <a:ea typeface="Calibri"/>
                <a:cs typeface="Calibri"/>
                <a:sym typeface="Calibri"/>
              </a:rPr>
              <a:t>포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46"/>
          <p:cNvSpPr/>
          <p:nvPr/>
        </p:nvSpPr>
        <p:spPr>
          <a:xfrm>
            <a:off x="5168230" y="4684151"/>
            <a:ext cx="581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+37.1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6"/>
          <p:cNvSpPr/>
          <p:nvPr/>
        </p:nvSpPr>
        <p:spPr>
          <a:xfrm>
            <a:off x="5750002" y="4684151"/>
            <a:ext cx="581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+36.4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46"/>
          <p:cNvSpPr/>
          <p:nvPr/>
        </p:nvSpPr>
        <p:spPr>
          <a:xfrm>
            <a:off x="6331772" y="4684151"/>
            <a:ext cx="581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+38.0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46"/>
          <p:cNvSpPr/>
          <p:nvPr/>
        </p:nvSpPr>
        <p:spPr>
          <a:xfrm>
            <a:off x="6913543" y="4684151"/>
            <a:ext cx="533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+37.2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46"/>
          <p:cNvSpPr/>
          <p:nvPr/>
        </p:nvSpPr>
        <p:spPr>
          <a:xfrm>
            <a:off x="7447092" y="4684151"/>
            <a:ext cx="488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A9B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009A9B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46"/>
          <p:cNvSpPr/>
          <p:nvPr/>
        </p:nvSpPr>
        <p:spPr>
          <a:xfrm>
            <a:off x="4680073" y="4940993"/>
            <a:ext cx="488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성동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46"/>
          <p:cNvSpPr/>
          <p:nvPr/>
        </p:nvSpPr>
        <p:spPr>
          <a:xfrm>
            <a:off x="5168230" y="4940993"/>
            <a:ext cx="581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+26.6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46"/>
          <p:cNvSpPr/>
          <p:nvPr/>
        </p:nvSpPr>
        <p:spPr>
          <a:xfrm>
            <a:off x="5750002" y="4940993"/>
            <a:ext cx="581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+27.8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46"/>
          <p:cNvSpPr/>
          <p:nvPr/>
        </p:nvSpPr>
        <p:spPr>
          <a:xfrm>
            <a:off x="6331772" y="4940993"/>
            <a:ext cx="581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+25.9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46"/>
          <p:cNvSpPr/>
          <p:nvPr/>
        </p:nvSpPr>
        <p:spPr>
          <a:xfrm>
            <a:off x="6913543" y="4940993"/>
            <a:ext cx="533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+26.8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46"/>
          <p:cNvSpPr/>
          <p:nvPr/>
        </p:nvSpPr>
        <p:spPr>
          <a:xfrm>
            <a:off x="7447092" y="4940993"/>
            <a:ext cx="488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46"/>
          <p:cNvSpPr/>
          <p:nvPr/>
        </p:nvSpPr>
        <p:spPr>
          <a:xfrm>
            <a:off x="4680073" y="5197836"/>
            <a:ext cx="488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광진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46"/>
          <p:cNvSpPr/>
          <p:nvPr/>
        </p:nvSpPr>
        <p:spPr>
          <a:xfrm>
            <a:off x="5168230" y="5197836"/>
            <a:ext cx="581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+24.3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46"/>
          <p:cNvSpPr/>
          <p:nvPr/>
        </p:nvSpPr>
        <p:spPr>
          <a:xfrm>
            <a:off x="5750002" y="5197836"/>
            <a:ext cx="581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+27.1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46"/>
          <p:cNvSpPr/>
          <p:nvPr/>
        </p:nvSpPr>
        <p:spPr>
          <a:xfrm>
            <a:off x="6331772" y="5197836"/>
            <a:ext cx="581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+23.8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46"/>
          <p:cNvSpPr/>
          <p:nvPr/>
        </p:nvSpPr>
        <p:spPr>
          <a:xfrm>
            <a:off x="6913543" y="5197836"/>
            <a:ext cx="533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+25.1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46"/>
          <p:cNvSpPr/>
          <p:nvPr/>
        </p:nvSpPr>
        <p:spPr>
          <a:xfrm>
            <a:off x="7447092" y="5197836"/>
            <a:ext cx="488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1.7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46"/>
          <p:cNvSpPr/>
          <p:nvPr/>
        </p:nvSpPr>
        <p:spPr>
          <a:xfrm>
            <a:off x="4680073" y="5454678"/>
            <a:ext cx="488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동작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46"/>
          <p:cNvSpPr/>
          <p:nvPr/>
        </p:nvSpPr>
        <p:spPr>
          <a:xfrm>
            <a:off x="5168230" y="5454678"/>
            <a:ext cx="581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+29.6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46"/>
          <p:cNvSpPr/>
          <p:nvPr/>
        </p:nvSpPr>
        <p:spPr>
          <a:xfrm>
            <a:off x="5750002" y="5454678"/>
            <a:ext cx="581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+32.0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46"/>
          <p:cNvSpPr/>
          <p:nvPr/>
        </p:nvSpPr>
        <p:spPr>
          <a:xfrm>
            <a:off x="6331772" y="5454678"/>
            <a:ext cx="581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+28.2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46"/>
          <p:cNvSpPr/>
          <p:nvPr/>
        </p:nvSpPr>
        <p:spPr>
          <a:xfrm>
            <a:off x="6913543" y="5454678"/>
            <a:ext cx="533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+29.9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46"/>
          <p:cNvSpPr/>
          <p:nvPr/>
        </p:nvSpPr>
        <p:spPr>
          <a:xfrm>
            <a:off x="7447092" y="5454678"/>
            <a:ext cx="488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1.9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46"/>
          <p:cNvSpPr/>
          <p:nvPr/>
        </p:nvSpPr>
        <p:spPr>
          <a:xfrm>
            <a:off x="4676154" y="5711525"/>
            <a:ext cx="5817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전</a:t>
            </a:r>
            <a:r>
              <a:rPr b="1" lang="ko" sz="975">
                <a:latin typeface="Calibri"/>
                <a:ea typeface="Calibri"/>
                <a:cs typeface="Calibri"/>
                <a:sym typeface="Calibri"/>
              </a:rPr>
              <a:t>체</a:t>
            </a:r>
            <a:r>
              <a:rPr b="1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(18)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6"/>
          <p:cNvSpPr/>
          <p:nvPr/>
        </p:nvSpPr>
        <p:spPr>
          <a:xfrm>
            <a:off x="5168230" y="5711520"/>
            <a:ext cx="5817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+29.8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46"/>
          <p:cNvSpPr/>
          <p:nvPr/>
        </p:nvSpPr>
        <p:spPr>
          <a:xfrm>
            <a:off x="5750002" y="5711520"/>
            <a:ext cx="5817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+31.7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6"/>
          <p:cNvSpPr/>
          <p:nvPr/>
        </p:nvSpPr>
        <p:spPr>
          <a:xfrm>
            <a:off x="6331772" y="5711520"/>
            <a:ext cx="5817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0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+29.1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46"/>
          <p:cNvSpPr/>
          <p:nvPr/>
        </p:nvSpPr>
        <p:spPr>
          <a:xfrm>
            <a:off x="6913543" y="5711520"/>
            <a:ext cx="5337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78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1A3A78"/>
                </a:solidFill>
                <a:latin typeface="Calibri"/>
                <a:ea typeface="Calibri"/>
                <a:cs typeface="Calibri"/>
                <a:sym typeface="Calibri"/>
              </a:rPr>
              <a:t>+30.2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6"/>
          <p:cNvSpPr/>
          <p:nvPr/>
        </p:nvSpPr>
        <p:spPr>
          <a:xfrm>
            <a:off x="7447092" y="5711520"/>
            <a:ext cx="488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Calibri"/>
              <a:buNone/>
            </a:pPr>
            <a:r>
              <a:rPr b="1" i="0" lang="ko" sz="97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46"/>
          <p:cNvSpPr/>
          <p:nvPr/>
        </p:nvSpPr>
        <p:spPr>
          <a:xfrm>
            <a:off x="4779042" y="1433215"/>
            <a:ext cx="384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Top-K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46"/>
          <p:cNvSpPr/>
          <p:nvPr/>
        </p:nvSpPr>
        <p:spPr>
          <a:xfrm>
            <a:off x="5258553" y="1433215"/>
            <a:ext cx="908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Δ median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46"/>
          <p:cNvSpPr/>
          <p:nvPr/>
        </p:nvSpPr>
        <p:spPr>
          <a:xfrm>
            <a:off x="6262074" y="1433215"/>
            <a:ext cx="927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Δ median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46"/>
          <p:cNvSpPr/>
          <p:nvPr/>
        </p:nvSpPr>
        <p:spPr>
          <a:xfrm>
            <a:off x="7285092" y="1433215"/>
            <a:ext cx="897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Best-Final Gap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46"/>
          <p:cNvSpPr/>
          <p:nvPr/>
        </p:nvSpPr>
        <p:spPr>
          <a:xfrm>
            <a:off x="4740943" y="1757065"/>
            <a:ext cx="4605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989C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18989C"/>
                </a:solidFill>
                <a:latin typeface="Calibri"/>
                <a:ea typeface="Calibri"/>
                <a:cs typeface="Calibri"/>
                <a:sym typeface="Calibri"/>
              </a:rPr>
              <a:t>K3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46"/>
          <p:cNvSpPr/>
          <p:nvPr/>
        </p:nvSpPr>
        <p:spPr>
          <a:xfrm>
            <a:off x="5220454" y="1757065"/>
            <a:ext cx="9846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989C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18989C"/>
                </a:solidFill>
                <a:latin typeface="Calibri"/>
                <a:ea typeface="Calibri"/>
                <a:cs typeface="Calibri"/>
                <a:sym typeface="Calibri"/>
              </a:rPr>
              <a:t>+35.1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46"/>
          <p:cNvSpPr/>
          <p:nvPr/>
        </p:nvSpPr>
        <p:spPr>
          <a:xfrm>
            <a:off x="6223975" y="1757065"/>
            <a:ext cx="10041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989C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18989C"/>
                </a:solidFill>
                <a:latin typeface="Calibri"/>
                <a:ea typeface="Calibri"/>
                <a:cs typeface="Calibri"/>
                <a:sym typeface="Calibri"/>
              </a:rPr>
              <a:t>+29.6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6"/>
          <p:cNvSpPr/>
          <p:nvPr/>
        </p:nvSpPr>
        <p:spPr>
          <a:xfrm>
            <a:off x="7246993" y="1757065"/>
            <a:ext cx="9738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989C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18989C"/>
                </a:solidFill>
                <a:latin typeface="Calibri"/>
                <a:ea typeface="Calibri"/>
                <a:cs typeface="Calibri"/>
                <a:sym typeface="Calibri"/>
              </a:rPr>
              <a:t>5.5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46"/>
          <p:cNvSpPr/>
          <p:nvPr/>
        </p:nvSpPr>
        <p:spPr>
          <a:xfrm>
            <a:off x="4740943" y="2074962"/>
            <a:ext cx="4605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b="0" i="0" lang="ko" sz="112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K6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46"/>
          <p:cNvSpPr/>
          <p:nvPr/>
        </p:nvSpPr>
        <p:spPr>
          <a:xfrm>
            <a:off x="5220454" y="2074962"/>
            <a:ext cx="9846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+25.0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46"/>
          <p:cNvSpPr/>
          <p:nvPr/>
        </p:nvSpPr>
        <p:spPr>
          <a:xfrm>
            <a:off x="6223975" y="2074962"/>
            <a:ext cx="10041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+15.0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46"/>
          <p:cNvSpPr/>
          <p:nvPr/>
        </p:nvSpPr>
        <p:spPr>
          <a:xfrm>
            <a:off x="7246993" y="2074962"/>
            <a:ext cx="9738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10.0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46"/>
          <p:cNvSpPr/>
          <p:nvPr/>
        </p:nvSpPr>
        <p:spPr>
          <a:xfrm>
            <a:off x="4740943" y="2392859"/>
            <a:ext cx="4605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b="0" i="0" lang="ko" sz="112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K9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46"/>
          <p:cNvSpPr/>
          <p:nvPr/>
        </p:nvSpPr>
        <p:spPr>
          <a:xfrm>
            <a:off x="5220454" y="2392859"/>
            <a:ext cx="9846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+5.8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46"/>
          <p:cNvSpPr/>
          <p:nvPr/>
        </p:nvSpPr>
        <p:spPr>
          <a:xfrm>
            <a:off x="6223975" y="2392859"/>
            <a:ext cx="10041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6554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EC6554"/>
                </a:solidFill>
                <a:latin typeface="Calibri"/>
                <a:ea typeface="Calibri"/>
                <a:cs typeface="Calibri"/>
                <a:sym typeface="Calibri"/>
              </a:rPr>
              <a:t>-0.4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46"/>
          <p:cNvSpPr/>
          <p:nvPr/>
        </p:nvSpPr>
        <p:spPr>
          <a:xfrm>
            <a:off x="7246993" y="2392859"/>
            <a:ext cx="9738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6.2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46"/>
          <p:cNvSpPr/>
          <p:nvPr/>
        </p:nvSpPr>
        <p:spPr>
          <a:xfrm>
            <a:off x="4740943" y="2710755"/>
            <a:ext cx="4605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b="0" i="0" lang="ko" sz="112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K12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6"/>
          <p:cNvSpPr/>
          <p:nvPr/>
        </p:nvSpPr>
        <p:spPr>
          <a:xfrm>
            <a:off x="5220454" y="2710755"/>
            <a:ext cx="9846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+1.5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46"/>
          <p:cNvSpPr/>
          <p:nvPr/>
        </p:nvSpPr>
        <p:spPr>
          <a:xfrm>
            <a:off x="6223975" y="2710755"/>
            <a:ext cx="10041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6554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EC6554"/>
                </a:solidFill>
                <a:latin typeface="Calibri"/>
                <a:ea typeface="Calibri"/>
                <a:cs typeface="Calibri"/>
                <a:sym typeface="Calibri"/>
              </a:rPr>
              <a:t>-58.6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46"/>
          <p:cNvSpPr/>
          <p:nvPr/>
        </p:nvSpPr>
        <p:spPr>
          <a:xfrm>
            <a:off x="7246993" y="2710755"/>
            <a:ext cx="9738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60.1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46"/>
          <p:cNvSpPr/>
          <p:nvPr/>
        </p:nvSpPr>
        <p:spPr>
          <a:xfrm>
            <a:off x="4740943" y="3028652"/>
            <a:ext cx="4605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b="0" i="0" lang="ko" sz="112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K15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46"/>
          <p:cNvSpPr/>
          <p:nvPr/>
        </p:nvSpPr>
        <p:spPr>
          <a:xfrm>
            <a:off x="5220454" y="3028652"/>
            <a:ext cx="9846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6554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EC6554"/>
                </a:solidFill>
                <a:latin typeface="Calibri"/>
                <a:ea typeface="Calibri"/>
                <a:cs typeface="Calibri"/>
                <a:sym typeface="Calibri"/>
              </a:rPr>
              <a:t>-7.5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46"/>
          <p:cNvSpPr/>
          <p:nvPr/>
        </p:nvSpPr>
        <p:spPr>
          <a:xfrm>
            <a:off x="6223975" y="3028652"/>
            <a:ext cx="10041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6554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EC6554"/>
                </a:solidFill>
                <a:latin typeface="Calibri"/>
                <a:ea typeface="Calibri"/>
                <a:cs typeface="Calibri"/>
                <a:sym typeface="Calibri"/>
              </a:rPr>
              <a:t>-28.5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46"/>
          <p:cNvSpPr/>
          <p:nvPr/>
        </p:nvSpPr>
        <p:spPr>
          <a:xfrm>
            <a:off x="7246993" y="3028652"/>
            <a:ext cx="9738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b="1" i="0" lang="ko" sz="112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21.0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46"/>
          <p:cNvSpPr/>
          <p:nvPr/>
        </p:nvSpPr>
        <p:spPr>
          <a:xfrm>
            <a:off x="1572625" y="1220701"/>
            <a:ext cx="243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b="1" i="0" lang="ko" sz="135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Top-K 크기별 성능: K=3이 최적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46"/>
          <p:cNvSpPr/>
          <p:nvPr/>
        </p:nvSpPr>
        <p:spPr>
          <a:xfrm>
            <a:off x="1584829" y="1508671"/>
            <a:ext cx="21456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4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25"/>
              <a:buFont typeface="Noto Sans KR"/>
              <a:buNone/>
            </a:pPr>
            <a:r>
              <a:rPr b="0" i="0" lang="ko" sz="1125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K3→Best/Final Δ 각 +35.1/+29.6,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4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25"/>
              <a:buFont typeface="Noto Sans KR"/>
              <a:buNone/>
            </a:pPr>
            <a:r>
              <a:rPr b="0" i="0" lang="ko" sz="1125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Gap 5.5로 가장 안정적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46"/>
          <p:cNvSpPr/>
          <p:nvPr/>
        </p:nvSpPr>
        <p:spPr>
          <a:xfrm>
            <a:off x="1572625" y="2167086"/>
            <a:ext cx="502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b="1" i="0" lang="ko" sz="135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K 증가 시 Best-Final Gap 급등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46"/>
          <p:cNvSpPr/>
          <p:nvPr/>
        </p:nvSpPr>
        <p:spPr>
          <a:xfrm>
            <a:off x="1584829" y="2455069"/>
            <a:ext cx="21093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4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25"/>
              <a:buFont typeface="Noto Sans KR"/>
              <a:buNone/>
            </a:pPr>
            <a:r>
              <a:rPr b="0" i="0" lang="ko" sz="1125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K12에서 Gap 26.2→55.4,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4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25"/>
              <a:buFont typeface="Noto Sans KR"/>
              <a:buNone/>
            </a:pPr>
            <a:r>
              <a:rPr b="0" i="0" lang="ko" sz="1125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Final Δ -58.6으로 정책 망각 심화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46"/>
          <p:cNvSpPr/>
          <p:nvPr/>
        </p:nvSpPr>
        <p:spPr>
          <a:xfrm>
            <a:off x="1572625" y="3120330"/>
            <a:ext cx="44748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b="1" i="0" lang="ko" sz="135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시드 재현성: 18 run 전원 양수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46"/>
          <p:cNvSpPr/>
          <p:nvPr/>
        </p:nvSpPr>
        <p:spPr>
          <a:xfrm>
            <a:off x="1584829" y="3408313"/>
            <a:ext cx="26577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4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25"/>
              <a:buFont typeface="Noto Sans KR"/>
              <a:buNone/>
            </a:pPr>
            <a:r>
              <a:rPr b="0" i="0" lang="ko" sz="1125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Top-K3 기준 6구×3seed 모두 Best Δ 양수,</a:t>
            </a:r>
            <a:r>
              <a:rPr lang="ko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ko" sz="1125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마포 std 0.7로 최고 안정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46"/>
          <p:cNvSpPr/>
          <p:nvPr/>
        </p:nvSpPr>
        <p:spPr>
          <a:xfrm>
            <a:off x="1572625" y="4073575"/>
            <a:ext cx="5435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b="1" i="0" lang="ko" sz="135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PPO 진단 지표: clipping 거의 미작동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46"/>
          <p:cNvSpPr/>
          <p:nvPr/>
        </p:nvSpPr>
        <p:spPr>
          <a:xfrm>
            <a:off x="1584829" y="4368403"/>
            <a:ext cx="2255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4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25"/>
              <a:buFont typeface="Noto Sans KR"/>
              <a:buNone/>
            </a:pPr>
            <a:r>
              <a:rPr b="0" i="0" lang="ko" sz="1125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clip_fraction≈0, approx_kl≈0 →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4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25"/>
              <a:buFont typeface="Noto Sans KR"/>
              <a:buNone/>
            </a:pPr>
            <a:r>
              <a:rPr b="0" i="0" lang="ko" sz="1125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안정성운 Top-K 축소+보수적 lr 합작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46"/>
          <p:cNvSpPr/>
          <p:nvPr/>
        </p:nvSpPr>
        <p:spPr>
          <a:xfrm>
            <a:off x="1572625" y="5026819"/>
            <a:ext cx="46119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b="1" i="0" lang="ko" sz="135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Best vs Final 이중 평가 필수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46"/>
          <p:cNvSpPr/>
          <p:nvPr/>
        </p:nvSpPr>
        <p:spPr>
          <a:xfrm>
            <a:off x="1584825" y="5307950"/>
            <a:ext cx="2691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4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25"/>
              <a:buFont typeface="Noto Sans KR"/>
              <a:buNone/>
            </a:pPr>
            <a:r>
              <a:rPr b="0" i="0" lang="ko" sz="1125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Best만 보면 과대평가, Final 함께 확인 시</a:t>
            </a:r>
            <a:r>
              <a:rPr lang="ko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ko" sz="1125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운용 성능 판별 가능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46"/>
          <p:cNvSpPr/>
          <p:nvPr/>
        </p:nvSpPr>
        <p:spPr>
          <a:xfrm>
            <a:off x="1572625" y="5966371"/>
            <a:ext cx="5092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b="1" i="0" lang="ko" sz="135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권고: K=3~6 + 보수적 하이퍼파라미터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46"/>
          <p:cNvSpPr/>
          <p:nvPr/>
        </p:nvSpPr>
        <p:spPr>
          <a:xfrm>
            <a:off x="1584829" y="6254353"/>
            <a:ext cx="22920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4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25"/>
              <a:buFont typeface="Noto Sans KR"/>
              <a:buNone/>
            </a:pPr>
            <a:r>
              <a:rPr b="0" i="0" lang="ko" sz="1125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target_kl·낮은 lr 병행 시 Gap 최소화,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4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25"/>
              <a:buFont typeface="Noto Sans KR"/>
              <a:buNone/>
            </a:pPr>
            <a:r>
              <a:rPr b="0" i="0" lang="ko" sz="1125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안정적 배포 가능 조건 확보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46"/>
          <p:cNvSpPr/>
          <p:nvPr/>
        </p:nvSpPr>
        <p:spPr>
          <a:xfrm>
            <a:off x="5047222" y="1172617"/>
            <a:ext cx="43968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Noto Sans KR"/>
              <a:buNone/>
            </a:pPr>
            <a:r>
              <a:rPr b="1" i="0" lang="ko" sz="105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Top-K Ablation 결과 (Δ 성능 비교)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46"/>
          <p:cNvSpPr/>
          <p:nvPr/>
        </p:nvSpPr>
        <p:spPr>
          <a:xfrm>
            <a:off x="9399733" y="1186309"/>
            <a:ext cx="2792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Noto Sans KR"/>
              <a:buNone/>
            </a:pPr>
            <a:r>
              <a:rPr b="1" i="0" lang="ko" sz="105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Best-Final Gap (Top-K별)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46"/>
          <p:cNvSpPr/>
          <p:nvPr/>
        </p:nvSpPr>
        <p:spPr>
          <a:xfrm>
            <a:off x="5010756" y="3614149"/>
            <a:ext cx="3091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Noto Sans KR"/>
              <a:buNone/>
            </a:pPr>
            <a:r>
              <a:rPr b="1" i="0" lang="ko" sz="105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시드별 Best Δ (Top-K3, 6구 × 3 seed = 18 run)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6"/>
          <p:cNvSpPr/>
          <p:nvPr/>
        </p:nvSpPr>
        <p:spPr>
          <a:xfrm>
            <a:off x="4705969" y="6542484"/>
            <a:ext cx="36423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75"/>
              <a:buFont typeface="Noto Sans KR"/>
              <a:buNone/>
            </a:pPr>
            <a:r>
              <a:rPr b="0" i="0" lang="ko" sz="675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* Δ: Baseline 대비 성능 변화 (Reward 기준)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46"/>
          <p:cNvSpPr/>
          <p:nvPr/>
        </p:nvSpPr>
        <p:spPr>
          <a:xfrm>
            <a:off x="8509765" y="3614142"/>
            <a:ext cx="36819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Noto Sans KR"/>
              <a:buNone/>
            </a:pPr>
            <a:r>
              <a:rPr b="1" i="0" lang="ko" sz="105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PPO 진단 지표 추이 (Top-K3 대표 run)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46"/>
          <p:cNvSpPr/>
          <p:nvPr/>
        </p:nvSpPr>
        <p:spPr>
          <a:xfrm>
            <a:off x="8692521" y="5253186"/>
            <a:ext cx="2019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50"/>
              <a:buFont typeface="Noto Sans KR"/>
              <a:buNone/>
            </a:pPr>
            <a:r>
              <a:rPr b="1" i="0" lang="ko" sz="75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entropy_loss (평균)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46"/>
          <p:cNvSpPr/>
          <p:nvPr/>
        </p:nvSpPr>
        <p:spPr>
          <a:xfrm>
            <a:off x="10411589" y="5253186"/>
            <a:ext cx="1780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50"/>
              <a:buFont typeface="Noto Sans KR"/>
              <a:buNone/>
            </a:pPr>
            <a:r>
              <a:rPr b="1" i="0" lang="ko" sz="75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explained_variance (평균)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46"/>
          <p:cNvSpPr/>
          <p:nvPr/>
        </p:nvSpPr>
        <p:spPr>
          <a:xfrm>
            <a:off x="402275" y="158082"/>
            <a:ext cx="2792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5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 3 | PPO</a:t>
            </a:r>
            <a:endParaRPr b="1" sz="1125">
              <a:solidFill>
                <a:srgbClr val="3B82F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25" name="Google Shape;925;p46"/>
          <p:cNvSpPr/>
          <p:nvPr/>
        </p:nvSpPr>
        <p:spPr>
          <a:xfrm>
            <a:off x="321294" y="517949"/>
            <a:ext cx="118017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25"/>
              <a:buFont typeface="Noto Sans KR"/>
              <a:buNone/>
            </a:pPr>
            <a:r>
              <a:rPr b="1" i="0" lang="ko" sz="2925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</a:t>
            </a:r>
            <a:r>
              <a:rPr b="1" lang="ko" sz="2925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endParaRPr b="0" i="0" sz="29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0" name="Google Shape;93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1252" y="1507289"/>
            <a:ext cx="9581471" cy="6274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1" name="Google Shape;93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1252" y="2427397"/>
            <a:ext cx="9581471" cy="6274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2" name="Google Shape;93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1252" y="3347506"/>
            <a:ext cx="9581471" cy="6274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3" name="Google Shape;933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1252" y="4267616"/>
            <a:ext cx="9581471" cy="6274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4" name="Google Shape;934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1252" y="5187724"/>
            <a:ext cx="9581471" cy="6274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5" name="Google Shape;935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01853" y="1611858"/>
            <a:ext cx="396408" cy="418276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47"/>
          <p:cNvSpPr txBox="1"/>
          <p:nvPr/>
        </p:nvSpPr>
        <p:spPr>
          <a:xfrm>
            <a:off x="1996466" y="1683750"/>
            <a:ext cx="26013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63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두 가지 분할 방식의 핵심 차이</a:t>
            </a:r>
            <a:endParaRPr sz="1821"/>
          </a:p>
        </p:txBody>
      </p:sp>
      <p:sp>
        <p:nvSpPr>
          <p:cNvPr id="937" name="Google Shape;937;p47"/>
          <p:cNvSpPr/>
          <p:nvPr/>
        </p:nvSpPr>
        <p:spPr>
          <a:xfrm>
            <a:off x="4796100" y="1703358"/>
            <a:ext cx="12300" cy="2355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59450" lIns="118925" spcFirstLastPara="1" rIns="118925" wrap="square" tIns="59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47"/>
          <p:cNvSpPr txBox="1"/>
          <p:nvPr/>
        </p:nvSpPr>
        <p:spPr>
          <a:xfrm>
            <a:off x="5006692" y="1690287"/>
            <a:ext cx="42366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66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Random Shuffle은 미래 데이터가 학습에 섞여 누수 발생</a:t>
            </a:r>
            <a:endParaRPr sz="1821"/>
          </a:p>
        </p:txBody>
      </p:sp>
      <p:pic>
        <p:nvPicPr>
          <p:cNvPr descr="image.png" id="939" name="Google Shape;939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01853" y="2531966"/>
            <a:ext cx="396408" cy="418287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47"/>
          <p:cNvSpPr txBox="1"/>
          <p:nvPr/>
        </p:nvSpPr>
        <p:spPr>
          <a:xfrm>
            <a:off x="1996466" y="2603860"/>
            <a:ext cx="26013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63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시나리오 A: 무작위 셔플 설정</a:t>
            </a:r>
            <a:endParaRPr sz="1821"/>
          </a:p>
        </p:txBody>
      </p:sp>
      <p:sp>
        <p:nvSpPr>
          <p:cNvPr id="941" name="Google Shape;941;p47"/>
          <p:cNvSpPr/>
          <p:nvPr/>
        </p:nvSpPr>
        <p:spPr>
          <a:xfrm>
            <a:off x="4796100" y="2623466"/>
            <a:ext cx="12300" cy="2355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59450" lIns="118925" spcFirstLastPara="1" rIns="118925" wrap="square" tIns="59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47"/>
          <p:cNvSpPr txBox="1"/>
          <p:nvPr/>
        </p:nvSpPr>
        <p:spPr>
          <a:xfrm>
            <a:off x="5006692" y="2610395"/>
            <a:ext cx="4274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66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데이터 무작위 분할 → 낙관적 편향으로 과대평가 위험</a:t>
            </a:r>
            <a:endParaRPr sz="1821"/>
          </a:p>
        </p:txBody>
      </p:sp>
      <p:pic>
        <p:nvPicPr>
          <p:cNvPr descr="image.png" id="943" name="Google Shape;943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01853" y="3452075"/>
            <a:ext cx="396408" cy="418287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47"/>
          <p:cNvSpPr txBox="1"/>
          <p:nvPr/>
        </p:nvSpPr>
        <p:spPr>
          <a:xfrm>
            <a:off x="1996466" y="3523968"/>
            <a:ext cx="26013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63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시나리오 B: 시계열 분할 설정</a:t>
            </a:r>
            <a:endParaRPr sz="1821"/>
          </a:p>
        </p:txBody>
      </p:sp>
      <p:sp>
        <p:nvSpPr>
          <p:cNvPr id="945" name="Google Shape;945;p47"/>
          <p:cNvSpPr/>
          <p:nvPr/>
        </p:nvSpPr>
        <p:spPr>
          <a:xfrm>
            <a:off x="4796100" y="3543576"/>
            <a:ext cx="12300" cy="2355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59450" lIns="118925" spcFirstLastPara="1" rIns="118925" wrap="square" tIns="59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47"/>
          <p:cNvSpPr txBox="1"/>
          <p:nvPr/>
        </p:nvSpPr>
        <p:spPr>
          <a:xfrm>
            <a:off x="5006692" y="3530504"/>
            <a:ext cx="4695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66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앞 80%(292일) 학습, 뒤 20%(73일) 평가로 실제 배포 조건 반영</a:t>
            </a:r>
            <a:endParaRPr sz="1821"/>
          </a:p>
        </p:txBody>
      </p:sp>
      <p:pic>
        <p:nvPicPr>
          <p:cNvPr descr="image.png" id="947" name="Google Shape;947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01853" y="4372185"/>
            <a:ext cx="396408" cy="418287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47"/>
          <p:cNvSpPr txBox="1"/>
          <p:nvPr/>
        </p:nvSpPr>
        <p:spPr>
          <a:xfrm>
            <a:off x="1996466" y="4444077"/>
            <a:ext cx="26013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63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평가 신뢰성 검증 목적</a:t>
            </a:r>
            <a:endParaRPr sz="1821"/>
          </a:p>
        </p:txBody>
      </p:sp>
      <p:sp>
        <p:nvSpPr>
          <p:cNvPr id="949" name="Google Shape;949;p47"/>
          <p:cNvSpPr/>
          <p:nvPr/>
        </p:nvSpPr>
        <p:spPr>
          <a:xfrm>
            <a:off x="4796100" y="4463685"/>
            <a:ext cx="12300" cy="2355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59450" lIns="118925" spcFirstLastPara="1" rIns="118925" wrap="square" tIns="59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47"/>
          <p:cNvSpPr txBox="1"/>
          <p:nvPr/>
        </p:nvSpPr>
        <p:spPr>
          <a:xfrm>
            <a:off x="5006692" y="4450614"/>
            <a:ext cx="4261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66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분할 방식이 모델 성능 수치를 얼마나 왜곡하는지 정량 비교</a:t>
            </a:r>
            <a:endParaRPr sz="1821"/>
          </a:p>
        </p:txBody>
      </p:sp>
      <p:pic>
        <p:nvPicPr>
          <p:cNvPr descr="image.png" id="951" name="Google Shape;951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01853" y="5292293"/>
            <a:ext cx="396408" cy="418287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47"/>
          <p:cNvSpPr txBox="1"/>
          <p:nvPr/>
        </p:nvSpPr>
        <p:spPr>
          <a:xfrm>
            <a:off x="1996466" y="5364187"/>
            <a:ext cx="26013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63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현업 적용 가능성 판단 기준</a:t>
            </a:r>
            <a:endParaRPr sz="1821"/>
          </a:p>
        </p:txBody>
      </p:sp>
      <p:sp>
        <p:nvSpPr>
          <p:cNvPr id="953" name="Google Shape;953;p47"/>
          <p:cNvSpPr/>
          <p:nvPr/>
        </p:nvSpPr>
        <p:spPr>
          <a:xfrm>
            <a:off x="4796100" y="5383793"/>
            <a:ext cx="12300" cy="2355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59450" lIns="118925" spcFirstLastPara="1" rIns="118925" wrap="square" tIns="59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47"/>
          <p:cNvSpPr txBox="1"/>
          <p:nvPr/>
        </p:nvSpPr>
        <p:spPr>
          <a:xfrm>
            <a:off x="5006692" y="5370722"/>
            <a:ext cx="4211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66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시계열 분할만이 미래 일반화 능력을 측정하는 유효한 기준</a:t>
            </a:r>
            <a:endParaRPr sz="1821"/>
          </a:p>
        </p:txBody>
      </p:sp>
      <p:pic>
        <p:nvPicPr>
          <p:cNvPr descr="image.png" id="955" name="Google Shape;955;p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88567" y="1729501"/>
            <a:ext cx="222980" cy="182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6" name="Google Shape;956;p4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513343" y="2649609"/>
            <a:ext cx="173428" cy="18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7" name="Google Shape;957;p4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13343" y="3569719"/>
            <a:ext cx="173428" cy="18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8" name="Google Shape;958;p4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513343" y="4489828"/>
            <a:ext cx="173428" cy="18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47"/>
          <p:cNvSpPr/>
          <p:nvPr/>
        </p:nvSpPr>
        <p:spPr>
          <a:xfrm>
            <a:off x="785679" y="1768714"/>
            <a:ext cx="12300" cy="394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59450" lIns="118925" spcFirstLastPara="1" rIns="118925" wrap="square" tIns="59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60" name="Google Shape;960;p4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513343" y="5409936"/>
            <a:ext cx="173428" cy="18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1" name="Google Shape;961;p4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62490" y="1585715"/>
            <a:ext cx="445959" cy="470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2" name="Google Shape;962;p4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62490" y="2505823"/>
            <a:ext cx="445959" cy="4705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3" name="Google Shape;963;p4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62490" y="3425933"/>
            <a:ext cx="445959" cy="4705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4" name="Google Shape;964;p4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62490" y="4346042"/>
            <a:ext cx="445959" cy="4705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5" name="Google Shape;965;p4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62490" y="5266150"/>
            <a:ext cx="445959" cy="470573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47"/>
          <p:cNvSpPr/>
          <p:nvPr/>
        </p:nvSpPr>
        <p:spPr>
          <a:xfrm>
            <a:off x="390069" y="560203"/>
            <a:ext cx="118017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25"/>
              <a:buFont typeface="Noto Sans KR"/>
              <a:buNone/>
            </a:pPr>
            <a:r>
              <a:rPr b="1" i="0" lang="ko" sz="2925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</a:t>
            </a:r>
            <a:r>
              <a:rPr b="1" lang="ko" sz="2925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목적 : </a:t>
            </a:r>
            <a:r>
              <a:rPr b="1" lang="ko" sz="2925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평가 신뢰성 검증</a:t>
            </a:r>
            <a:endParaRPr b="0" i="0" sz="29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7"/>
          <p:cNvSpPr/>
          <p:nvPr/>
        </p:nvSpPr>
        <p:spPr>
          <a:xfrm>
            <a:off x="402275" y="158082"/>
            <a:ext cx="2792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5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 4 | PPO DATA SPLIT</a:t>
            </a:r>
            <a:endParaRPr b="1" sz="1125">
              <a:solidFill>
                <a:srgbClr val="3B82F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73" name="Google Shape;97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5258" y="3065413"/>
            <a:ext cx="853357" cy="582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4" name="Google Shape;97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5358" y="3861048"/>
            <a:ext cx="1865213" cy="2193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5" name="Google Shape;975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7345" y="4231332"/>
            <a:ext cx="2608888" cy="185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6" name="Google Shape;976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5375" y="1484450"/>
            <a:ext cx="5980563" cy="9056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7" name="Google Shape;977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0331" y="1753425"/>
            <a:ext cx="327930" cy="367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8" name="Google Shape;978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5375" y="2505048"/>
            <a:ext cx="5980563" cy="9056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9" name="Google Shape;979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0331" y="2774023"/>
            <a:ext cx="327930" cy="367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0" name="Google Shape;980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5375" y="3525646"/>
            <a:ext cx="5980563" cy="9056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1" name="Google Shape;981;p4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0331" y="3794621"/>
            <a:ext cx="327930" cy="367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2" name="Google Shape;982;p4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95375" y="4546244"/>
            <a:ext cx="5980563" cy="9056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3" name="Google Shape;983;p4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00331" y="4815219"/>
            <a:ext cx="327930" cy="367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4" name="Google Shape;984;p4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95375" y="5566842"/>
            <a:ext cx="5980563" cy="9056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5" name="Google Shape;985;p4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00331" y="5835817"/>
            <a:ext cx="327930" cy="367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6" name="Google Shape;986;p4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033924" y="3017490"/>
            <a:ext cx="743674" cy="699473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48"/>
          <p:cNvSpPr/>
          <p:nvPr/>
        </p:nvSpPr>
        <p:spPr>
          <a:xfrm>
            <a:off x="718662" y="1753425"/>
            <a:ext cx="4098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5"/>
              <a:buFont typeface="Calibri"/>
              <a:buNone/>
            </a:pPr>
            <a:r>
              <a:rPr b="1" i="0" lang="ko" sz="12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48"/>
          <p:cNvSpPr/>
          <p:nvPr/>
        </p:nvSpPr>
        <p:spPr>
          <a:xfrm>
            <a:off x="1081979" y="1632763"/>
            <a:ext cx="50043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Calibri"/>
              <a:buNone/>
            </a:pPr>
            <a:r>
              <a:rPr b="1" i="0" lang="ko" sz="145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시나리오 A: 무작위 셔플 낙관적 편향</a:t>
            </a:r>
            <a:endParaRPr b="0" i="0" sz="14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48"/>
          <p:cNvSpPr/>
          <p:nvPr/>
        </p:nvSpPr>
        <p:spPr>
          <a:xfrm>
            <a:off x="1081979" y="2000495"/>
            <a:ext cx="88539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48"/>
              <a:buFont typeface="Calibri"/>
              <a:buNone/>
            </a:pPr>
            <a:r>
              <a:rPr b="0" i="0" lang="ko" sz="1148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강남 </a:t>
            </a:r>
            <a:r>
              <a:rPr b="1" i="0" lang="ko" sz="1148" u="none" cap="none" strike="noStrike">
                <a:solidFill>
                  <a:srgbClr val="1A9E9E"/>
                </a:solidFill>
                <a:latin typeface="Calibri"/>
                <a:ea typeface="Calibri"/>
                <a:cs typeface="Calibri"/>
                <a:sym typeface="Calibri"/>
              </a:rPr>
              <a:t>+46.3</a:t>
            </a:r>
            <a:r>
              <a:rPr b="0" i="0" lang="ko" sz="1148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, 강서 </a:t>
            </a:r>
            <a:r>
              <a:rPr b="1" i="0" lang="ko" sz="1148" u="none" cap="none" strike="noStrike">
                <a:solidFill>
                  <a:srgbClr val="1A9E9E"/>
                </a:solidFill>
                <a:latin typeface="Calibri"/>
                <a:ea typeface="Calibri"/>
                <a:cs typeface="Calibri"/>
                <a:sym typeface="Calibri"/>
              </a:rPr>
              <a:t>+45.6</a:t>
            </a:r>
            <a:r>
              <a:rPr b="0" i="0" lang="ko" sz="1148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등 대다수 양수 Δ → 데이터 누수로 과대평가</a:t>
            </a:r>
            <a:endParaRPr b="0" i="0" sz="11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48"/>
          <p:cNvSpPr/>
          <p:nvPr/>
        </p:nvSpPr>
        <p:spPr>
          <a:xfrm>
            <a:off x="718662" y="2774023"/>
            <a:ext cx="4098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5"/>
              <a:buFont typeface="Calibri"/>
              <a:buNone/>
            </a:pPr>
            <a:r>
              <a:rPr b="1" i="0" lang="ko" sz="12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48"/>
          <p:cNvSpPr/>
          <p:nvPr/>
        </p:nvSpPr>
        <p:spPr>
          <a:xfrm>
            <a:off x="1081979" y="2653361"/>
            <a:ext cx="46734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Calibri"/>
              <a:buNone/>
            </a:pPr>
            <a:r>
              <a:rPr b="1" i="0" lang="ko" sz="145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시나리오 B: </a:t>
            </a:r>
            <a:r>
              <a:rPr b="1" i="0" lang="ko" sz="1454" u="none" cap="none" strike="noStrike">
                <a:solidFill>
                  <a:srgbClr val="1A4A9E"/>
                </a:solidFill>
                <a:latin typeface="Calibri"/>
                <a:ea typeface="Calibri"/>
                <a:cs typeface="Calibri"/>
                <a:sym typeface="Calibri"/>
              </a:rPr>
              <a:t>시계열 분할 현실 성능</a:t>
            </a:r>
            <a:endParaRPr b="0" i="0" sz="14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48"/>
          <p:cNvSpPr/>
          <p:nvPr/>
        </p:nvSpPr>
        <p:spPr>
          <a:xfrm>
            <a:off x="1081979" y="3021093"/>
            <a:ext cx="78702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48"/>
              <a:buFont typeface="Calibri"/>
              <a:buNone/>
            </a:pPr>
            <a:r>
              <a:rPr b="0" i="0" lang="ko" sz="1148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전체 평균 Δ = </a:t>
            </a:r>
            <a:r>
              <a:rPr b="1" i="0" lang="ko" sz="1148" u="none" cap="none" strike="noStrike">
                <a:solidFill>
                  <a:srgbClr val="E66B5B"/>
                </a:solidFill>
                <a:latin typeface="Calibri"/>
                <a:ea typeface="Calibri"/>
                <a:cs typeface="Calibri"/>
                <a:sym typeface="Calibri"/>
              </a:rPr>
              <a:t>-24.5</a:t>
            </a:r>
            <a:r>
              <a:rPr b="0" i="0" lang="ko" sz="1148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, 10승 15패 → 실제 배포 조건 반영</a:t>
            </a:r>
            <a:endParaRPr b="0" i="0" sz="11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48"/>
          <p:cNvSpPr/>
          <p:nvPr/>
        </p:nvSpPr>
        <p:spPr>
          <a:xfrm>
            <a:off x="718662" y="3794621"/>
            <a:ext cx="4098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5"/>
              <a:buFont typeface="Calibri"/>
              <a:buNone/>
            </a:pPr>
            <a:r>
              <a:rPr b="1" i="0" lang="ko" sz="12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8"/>
          <p:cNvSpPr/>
          <p:nvPr/>
        </p:nvSpPr>
        <p:spPr>
          <a:xfrm>
            <a:off x="1081979" y="3673959"/>
            <a:ext cx="38361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Calibri"/>
              <a:buNone/>
            </a:pPr>
            <a:r>
              <a:rPr b="1" i="0" lang="ko" sz="145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최대 역전 사례: 강서구 비교</a:t>
            </a:r>
            <a:endParaRPr b="0" i="0" sz="14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48"/>
          <p:cNvSpPr/>
          <p:nvPr/>
        </p:nvSpPr>
        <p:spPr>
          <a:xfrm>
            <a:off x="1081979" y="4041691"/>
            <a:ext cx="76860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48"/>
              <a:buFont typeface="Calibri"/>
              <a:buNone/>
            </a:pPr>
            <a:r>
              <a:rPr b="0" i="0" lang="ko" sz="1148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셔플 </a:t>
            </a:r>
            <a:r>
              <a:rPr b="1" i="0" lang="ko" sz="1148" u="none" cap="none" strike="noStrike">
                <a:solidFill>
                  <a:srgbClr val="1A9E9E"/>
                </a:solidFill>
                <a:latin typeface="Calibri"/>
                <a:ea typeface="Calibri"/>
                <a:cs typeface="Calibri"/>
                <a:sym typeface="Calibri"/>
              </a:rPr>
              <a:t>+55.6</a:t>
            </a:r>
            <a:r>
              <a:rPr b="0" i="0" lang="ko" sz="1148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→ 시계열 </a:t>
            </a:r>
            <a:r>
              <a:rPr b="1" i="0" lang="ko" sz="1148" u="none" cap="none" strike="noStrike">
                <a:solidFill>
                  <a:srgbClr val="E66B5B"/>
                </a:solidFill>
                <a:latin typeface="Calibri"/>
                <a:ea typeface="Calibri"/>
                <a:cs typeface="Calibri"/>
                <a:sym typeface="Calibri"/>
              </a:rPr>
              <a:t>-360.2</a:t>
            </a:r>
            <a:r>
              <a:rPr b="0" i="0" lang="ko" sz="1148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→ 평가 방식이 결과를 결정</a:t>
            </a:r>
            <a:endParaRPr b="0" i="0" sz="11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48"/>
          <p:cNvSpPr/>
          <p:nvPr/>
        </p:nvSpPr>
        <p:spPr>
          <a:xfrm>
            <a:off x="718662" y="4815219"/>
            <a:ext cx="4098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5"/>
              <a:buFont typeface="Calibri"/>
              <a:buNone/>
            </a:pPr>
            <a:r>
              <a:rPr b="1" i="0" lang="ko" sz="12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48"/>
          <p:cNvSpPr/>
          <p:nvPr/>
        </p:nvSpPr>
        <p:spPr>
          <a:xfrm>
            <a:off x="1081979" y="4694557"/>
            <a:ext cx="3922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Calibri"/>
              <a:buNone/>
            </a:pPr>
            <a:r>
              <a:rPr b="1" i="0" lang="ko" sz="145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우세·열세 지역 분리 확인</a:t>
            </a:r>
            <a:endParaRPr b="0" i="0" sz="14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8"/>
          <p:cNvSpPr/>
          <p:nvPr/>
        </p:nvSpPr>
        <p:spPr>
          <a:xfrm>
            <a:off x="1081979" y="5062289"/>
            <a:ext cx="105756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48"/>
              <a:buFont typeface="Calibri"/>
              <a:buNone/>
            </a:pPr>
            <a:r>
              <a:rPr b="0" i="0" lang="ko" sz="1148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노원 </a:t>
            </a:r>
            <a:r>
              <a:rPr b="1" i="0" lang="ko" sz="1148" u="none" cap="none" strike="noStrike">
                <a:solidFill>
                  <a:srgbClr val="1A9E9E"/>
                </a:solidFill>
                <a:latin typeface="Calibri"/>
                <a:ea typeface="Calibri"/>
                <a:cs typeface="Calibri"/>
                <a:sym typeface="Calibri"/>
              </a:rPr>
              <a:t>+54.6</a:t>
            </a:r>
            <a:r>
              <a:rPr b="0" i="0" lang="ko" sz="1148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, 마포 </a:t>
            </a:r>
            <a:r>
              <a:rPr b="1" i="0" lang="ko" sz="1148" u="none" cap="none" strike="noStrike">
                <a:solidFill>
                  <a:srgbClr val="1A9E9E"/>
                </a:solidFill>
                <a:latin typeface="Calibri"/>
                <a:ea typeface="Calibri"/>
                <a:cs typeface="Calibri"/>
                <a:sym typeface="Calibri"/>
              </a:rPr>
              <a:t>+44.0</a:t>
            </a:r>
            <a:r>
              <a:rPr b="0" i="0" lang="ko" sz="1148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우세 / 영등포 </a:t>
            </a:r>
            <a:r>
              <a:rPr b="1" i="0" lang="ko" sz="1148" u="none" cap="none" strike="noStrike">
                <a:solidFill>
                  <a:srgbClr val="E66B5B"/>
                </a:solidFill>
                <a:latin typeface="Calibri"/>
                <a:ea typeface="Calibri"/>
                <a:cs typeface="Calibri"/>
                <a:sym typeface="Calibri"/>
              </a:rPr>
              <a:t>-178.6</a:t>
            </a:r>
            <a:r>
              <a:rPr b="0" i="0" lang="ko" sz="1148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, 송파 </a:t>
            </a:r>
            <a:r>
              <a:rPr b="1" i="0" lang="ko" sz="1148" u="none" cap="none" strike="noStrike">
                <a:solidFill>
                  <a:srgbClr val="E66B5B"/>
                </a:solidFill>
                <a:latin typeface="Calibri"/>
                <a:ea typeface="Calibri"/>
                <a:cs typeface="Calibri"/>
                <a:sym typeface="Calibri"/>
              </a:rPr>
              <a:t>-114.3</a:t>
            </a:r>
            <a:r>
              <a:rPr b="0" i="0" lang="ko" sz="1148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열세</a:t>
            </a:r>
            <a:endParaRPr b="0" i="0" sz="11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48"/>
          <p:cNvSpPr/>
          <p:nvPr/>
        </p:nvSpPr>
        <p:spPr>
          <a:xfrm>
            <a:off x="718662" y="5835817"/>
            <a:ext cx="4098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5"/>
              <a:buFont typeface="Calibri"/>
              <a:buNone/>
            </a:pPr>
            <a:r>
              <a:rPr b="1" i="0" lang="ko" sz="12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48"/>
          <p:cNvSpPr/>
          <p:nvPr/>
        </p:nvSpPr>
        <p:spPr>
          <a:xfrm>
            <a:off x="1081979" y="5715155"/>
            <a:ext cx="39723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Calibri"/>
              <a:buNone/>
            </a:pPr>
            <a:r>
              <a:rPr b="1" i="0" lang="ko" sz="145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평가 신뢰성: </a:t>
            </a:r>
            <a:r>
              <a:rPr b="1" i="0" lang="ko" sz="1454" u="none" cap="none" strike="noStrike">
                <a:solidFill>
                  <a:srgbClr val="1A4A9E"/>
                </a:solidFill>
                <a:latin typeface="Calibri"/>
                <a:ea typeface="Calibri"/>
                <a:cs typeface="Calibri"/>
                <a:sym typeface="Calibri"/>
              </a:rPr>
              <a:t>시계열 분할 필수</a:t>
            </a:r>
            <a:endParaRPr b="0" i="0" sz="14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48"/>
          <p:cNvSpPr/>
          <p:nvPr/>
        </p:nvSpPr>
        <p:spPr>
          <a:xfrm>
            <a:off x="1081979" y="6082887"/>
            <a:ext cx="7829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48"/>
              <a:buFont typeface="Calibri"/>
              <a:buNone/>
            </a:pPr>
            <a:r>
              <a:rPr b="0" i="0" lang="ko" sz="1148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미래 일반화 능력 측정은 Chronological Split만이 유효한 기준</a:t>
            </a:r>
            <a:endParaRPr b="0" i="0" sz="11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48"/>
          <p:cNvSpPr/>
          <p:nvPr/>
        </p:nvSpPr>
        <p:spPr>
          <a:xfrm>
            <a:off x="316847" y="617190"/>
            <a:ext cx="118749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KR"/>
              <a:buNone/>
            </a:pPr>
            <a:r>
              <a:rPr b="1" i="0" lang="ko" sz="3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분할 시나리오별 </a:t>
            </a:r>
            <a:r>
              <a:rPr b="1" lang="ko" sz="3100"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r>
              <a:rPr b="1" i="0" lang="ko" sz="3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i="0" lang="ko" sz="3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48"/>
          <p:cNvSpPr/>
          <p:nvPr/>
        </p:nvSpPr>
        <p:spPr>
          <a:xfrm>
            <a:off x="402275" y="158082"/>
            <a:ext cx="2792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5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 4 | PPO DATA SPLIT</a:t>
            </a:r>
            <a:endParaRPr b="1" sz="1125">
              <a:solidFill>
                <a:srgbClr val="3B82F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004" name="Google Shape;1004;p4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576748" y="1445750"/>
            <a:ext cx="5191977" cy="256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4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528800" y="4130800"/>
            <a:ext cx="5287875" cy="238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1" name="Google Shape;1011;p49"/>
          <p:cNvGrpSpPr/>
          <p:nvPr/>
        </p:nvGrpSpPr>
        <p:grpSpPr>
          <a:xfrm>
            <a:off x="390049" y="158115"/>
            <a:ext cx="11430000" cy="973455"/>
            <a:chOff x="390049" y="158115"/>
            <a:chExt cx="11430000" cy="973455"/>
          </a:xfrm>
        </p:grpSpPr>
        <p:sp>
          <p:nvSpPr>
            <p:cNvPr id="1012" name="Google Shape;1012;p49"/>
            <p:cNvSpPr txBox="1"/>
            <p:nvPr/>
          </p:nvSpPr>
          <p:spPr>
            <a:xfrm>
              <a:off x="390049" y="158115"/>
              <a:ext cx="2857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50">
                  <a:solidFill>
                    <a:srgbClr val="3B82F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EXPERIMENT 5 | PPO SEED</a:t>
              </a:r>
              <a:endParaRPr b="1" sz="125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13" name="Google Shape;1013;p49"/>
            <p:cNvSpPr txBox="1"/>
            <p:nvPr/>
          </p:nvSpPr>
          <p:spPr>
            <a:xfrm>
              <a:off x="390049" y="560070"/>
              <a:ext cx="1143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2925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실험 목적: Seed </a:t>
              </a:r>
              <a:r>
                <a:rPr b="1" lang="ko" sz="2925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변화에 따른 성능 분석 </a:t>
              </a:r>
              <a:endParaRPr b="1" sz="2925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014" name="Google Shape;1014;p49"/>
          <p:cNvGrpSpPr/>
          <p:nvPr/>
        </p:nvGrpSpPr>
        <p:grpSpPr>
          <a:xfrm>
            <a:off x="562451" y="1507331"/>
            <a:ext cx="10210241" cy="4307665"/>
            <a:chOff x="562451" y="1507331"/>
            <a:chExt cx="10210241" cy="4307665"/>
          </a:xfrm>
        </p:grpSpPr>
        <p:pic>
          <p:nvPicPr>
            <p:cNvPr id="1015" name="Google Shape;1015;p49"/>
            <p:cNvPicPr preferRelativeResize="0"/>
            <p:nvPr/>
          </p:nvPicPr>
          <p:blipFill rotWithShape="1">
            <a:blip r:embed="rId4">
              <a:alphaModFix/>
            </a:blip>
            <a:srcRect b="0" l="17393" r="17393" t="0"/>
            <a:stretch/>
          </p:blipFill>
          <p:spPr>
            <a:xfrm>
              <a:off x="1191292" y="1507331"/>
              <a:ext cx="9581400" cy="62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6" name="Google Shape;1016;p49"/>
            <p:cNvPicPr preferRelativeResize="0"/>
            <p:nvPr/>
          </p:nvPicPr>
          <p:blipFill rotWithShape="1">
            <a:blip r:embed="rId5">
              <a:alphaModFix/>
            </a:blip>
            <a:srcRect b="0" l="16710" r="16717" t="0"/>
            <a:stretch/>
          </p:blipFill>
          <p:spPr>
            <a:xfrm>
              <a:off x="1191292" y="2427446"/>
              <a:ext cx="9581400" cy="62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7" name="Google Shape;1017;p49"/>
            <p:cNvPicPr preferRelativeResize="0"/>
            <p:nvPr/>
          </p:nvPicPr>
          <p:blipFill rotWithShape="1">
            <a:blip r:embed="rId6">
              <a:alphaModFix/>
            </a:blip>
            <a:srcRect b="0" l="16710" r="16717" t="0"/>
            <a:stretch/>
          </p:blipFill>
          <p:spPr>
            <a:xfrm>
              <a:off x="1191292" y="3347466"/>
              <a:ext cx="9581400" cy="62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8" name="Google Shape;1018;p49"/>
            <p:cNvPicPr preferRelativeResize="0"/>
            <p:nvPr/>
          </p:nvPicPr>
          <p:blipFill rotWithShape="1">
            <a:blip r:embed="rId7">
              <a:alphaModFix/>
            </a:blip>
            <a:srcRect b="0" l="16710" r="16717" t="0"/>
            <a:stretch/>
          </p:blipFill>
          <p:spPr>
            <a:xfrm>
              <a:off x="1191292" y="4267581"/>
              <a:ext cx="9581400" cy="62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9" name="Google Shape;1019;p49"/>
            <p:cNvPicPr preferRelativeResize="0"/>
            <p:nvPr/>
          </p:nvPicPr>
          <p:blipFill rotWithShape="1">
            <a:blip r:embed="rId6">
              <a:alphaModFix/>
            </a:blip>
            <a:srcRect b="0" l="16710" r="16717" t="0"/>
            <a:stretch/>
          </p:blipFill>
          <p:spPr>
            <a:xfrm>
              <a:off x="1191292" y="5187696"/>
              <a:ext cx="9581400" cy="62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0" name="Google Shape;1020;p49"/>
            <p:cNvSpPr/>
            <p:nvPr/>
          </p:nvSpPr>
          <p:spPr>
            <a:xfrm>
              <a:off x="785717" y="1768697"/>
              <a:ext cx="12300" cy="39420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21" name="Google Shape;1021;p49"/>
            <p:cNvPicPr preferRelativeResize="0"/>
            <p:nvPr/>
          </p:nvPicPr>
          <p:blipFill rotWithShape="1">
            <a:blip r:embed="rId8">
              <a:alphaModFix/>
            </a:blip>
            <a:srcRect b="0" l="2616" r="2606" t="0"/>
            <a:stretch/>
          </p:blipFill>
          <p:spPr>
            <a:xfrm>
              <a:off x="562451" y="1585722"/>
              <a:ext cx="446100" cy="47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2" name="Google Shape;1022;p49"/>
            <p:cNvPicPr preferRelativeResize="0"/>
            <p:nvPr/>
          </p:nvPicPr>
          <p:blipFill rotWithShape="1">
            <a:blip r:embed="rId9">
              <a:alphaModFix/>
            </a:blip>
            <a:srcRect b="0" l="1296" r="1296" t="0"/>
            <a:stretch/>
          </p:blipFill>
          <p:spPr>
            <a:xfrm>
              <a:off x="562451" y="2505837"/>
              <a:ext cx="446100" cy="47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3" name="Google Shape;1023;p49"/>
            <p:cNvPicPr preferRelativeResize="0"/>
            <p:nvPr/>
          </p:nvPicPr>
          <p:blipFill rotWithShape="1">
            <a:blip r:embed="rId10">
              <a:alphaModFix/>
            </a:blip>
            <a:srcRect b="0" l="1296" r="1296" t="0"/>
            <a:stretch/>
          </p:blipFill>
          <p:spPr>
            <a:xfrm>
              <a:off x="562451" y="3425952"/>
              <a:ext cx="446100" cy="47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4" name="Google Shape;1024;p49"/>
            <p:cNvPicPr preferRelativeResize="0"/>
            <p:nvPr/>
          </p:nvPicPr>
          <p:blipFill rotWithShape="1">
            <a:blip r:embed="rId11">
              <a:alphaModFix/>
            </a:blip>
            <a:srcRect b="0" l="1296" r="1296" t="0"/>
            <a:stretch/>
          </p:blipFill>
          <p:spPr>
            <a:xfrm>
              <a:off x="562451" y="4346067"/>
              <a:ext cx="446100" cy="47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5" name="Google Shape;1025;p49"/>
            <p:cNvPicPr preferRelativeResize="0"/>
            <p:nvPr/>
          </p:nvPicPr>
          <p:blipFill rotWithShape="1">
            <a:blip r:embed="rId12">
              <a:alphaModFix/>
            </a:blip>
            <a:srcRect b="0" l="1296" r="1296" t="0"/>
            <a:stretch/>
          </p:blipFill>
          <p:spPr>
            <a:xfrm>
              <a:off x="562451" y="5266182"/>
              <a:ext cx="446100" cy="470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26" name="Google Shape;1026;p49"/>
            <p:cNvGrpSpPr/>
            <p:nvPr/>
          </p:nvGrpSpPr>
          <p:grpSpPr>
            <a:xfrm>
              <a:off x="1996440" y="1683734"/>
              <a:ext cx="7772781" cy="255122"/>
              <a:chOff x="1996440" y="1683734"/>
              <a:chExt cx="7772781" cy="255122"/>
            </a:xfrm>
          </p:grpSpPr>
          <p:sp>
            <p:nvSpPr>
              <p:cNvPr id="1027" name="Google Shape;1027;p49"/>
              <p:cNvSpPr txBox="1"/>
              <p:nvPr/>
            </p:nvSpPr>
            <p:spPr>
              <a:xfrm>
                <a:off x="1996440" y="1683734"/>
                <a:ext cx="2600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463">
                    <a:solidFill>
                      <a:srgbClr val="1E293B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Seed 의존성 검증 목적</a:t>
                </a:r>
                <a:endParaRPr b="1" sz="1463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028" name="Google Shape;1028;p49"/>
              <p:cNvSpPr/>
              <p:nvPr/>
            </p:nvSpPr>
            <p:spPr>
              <a:xfrm>
                <a:off x="4796123" y="1703356"/>
                <a:ext cx="12300" cy="235500"/>
              </a:xfrm>
              <a:prstGeom prst="rect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49"/>
              <p:cNvSpPr txBox="1"/>
              <p:nvPr/>
            </p:nvSpPr>
            <p:spPr>
              <a:xfrm>
                <a:off x="5006721" y="1690306"/>
                <a:ext cx="4762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ko" sz="1366">
                    <a:solidFill>
                      <a:srgbClr val="475569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PPO가 초기 난수에 얼마나 민감한지 정량 측정</a:t>
                </a:r>
                <a:endParaRPr b="0" sz="1366">
                  <a:solidFill>
                    <a:srgbClr val="475569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1030" name="Google Shape;1030;p49"/>
            <p:cNvGrpSpPr/>
            <p:nvPr/>
          </p:nvGrpSpPr>
          <p:grpSpPr>
            <a:xfrm>
              <a:off x="1996440" y="2603849"/>
              <a:ext cx="7772781" cy="255122"/>
              <a:chOff x="1996440" y="2603849"/>
              <a:chExt cx="7772781" cy="255122"/>
            </a:xfrm>
          </p:grpSpPr>
          <p:sp>
            <p:nvSpPr>
              <p:cNvPr id="1031" name="Google Shape;1031;p49"/>
              <p:cNvSpPr txBox="1"/>
              <p:nvPr/>
            </p:nvSpPr>
            <p:spPr>
              <a:xfrm>
                <a:off x="1996440" y="2603849"/>
                <a:ext cx="2600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463">
                    <a:solidFill>
                      <a:srgbClr val="1E293B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Best 3 구 vs Worst 3 구 비교</a:t>
                </a:r>
                <a:endParaRPr b="1" sz="1463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032" name="Google Shape;1032;p49"/>
              <p:cNvSpPr/>
              <p:nvPr/>
            </p:nvSpPr>
            <p:spPr>
              <a:xfrm>
                <a:off x="4796123" y="2623471"/>
                <a:ext cx="12300" cy="235500"/>
              </a:xfrm>
              <a:prstGeom prst="rect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49"/>
              <p:cNvSpPr txBox="1"/>
              <p:nvPr/>
            </p:nvSpPr>
            <p:spPr>
              <a:xfrm>
                <a:off x="5006721" y="2610422"/>
                <a:ext cx="4762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ko" sz="1366">
                    <a:solidFill>
                      <a:srgbClr val="475569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학습 우수·저조 권역 각 3개 구 선정 대조 실험</a:t>
                </a:r>
                <a:endParaRPr b="0" sz="1366">
                  <a:solidFill>
                    <a:srgbClr val="475569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1034" name="Google Shape;1034;p49"/>
            <p:cNvGrpSpPr/>
            <p:nvPr/>
          </p:nvGrpSpPr>
          <p:grpSpPr>
            <a:xfrm>
              <a:off x="1996440" y="3523964"/>
              <a:ext cx="7772781" cy="255121"/>
              <a:chOff x="1996440" y="3523964"/>
              <a:chExt cx="7772781" cy="255121"/>
            </a:xfrm>
          </p:grpSpPr>
          <p:sp>
            <p:nvSpPr>
              <p:cNvPr id="1035" name="Google Shape;1035;p49"/>
              <p:cNvSpPr txBox="1"/>
              <p:nvPr/>
            </p:nvSpPr>
            <p:spPr>
              <a:xfrm>
                <a:off x="1996440" y="3523964"/>
                <a:ext cx="2600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463">
                    <a:solidFill>
                      <a:srgbClr val="1E293B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18 run 실험 설계</a:t>
                </a:r>
                <a:endParaRPr b="1" sz="1463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036" name="Google Shape;1036;p49"/>
              <p:cNvSpPr/>
              <p:nvPr/>
            </p:nvSpPr>
            <p:spPr>
              <a:xfrm>
                <a:off x="4796123" y="3543586"/>
                <a:ext cx="12300" cy="235500"/>
              </a:xfrm>
              <a:prstGeom prst="rect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49"/>
              <p:cNvSpPr txBox="1"/>
              <p:nvPr/>
            </p:nvSpPr>
            <p:spPr>
              <a:xfrm>
                <a:off x="5006721" y="3530537"/>
                <a:ext cx="4762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ko" sz="1366">
                    <a:solidFill>
                      <a:srgbClr val="475569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seed {42, 123, 777} × 6개 구 = 총 18 run 동일 조건</a:t>
                </a:r>
                <a:endParaRPr b="0" sz="1366">
                  <a:solidFill>
                    <a:srgbClr val="475569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1038" name="Google Shape;1038;p49"/>
            <p:cNvGrpSpPr/>
            <p:nvPr/>
          </p:nvGrpSpPr>
          <p:grpSpPr>
            <a:xfrm>
              <a:off x="1996440" y="4444079"/>
              <a:ext cx="7772781" cy="255121"/>
              <a:chOff x="1996440" y="4444079"/>
              <a:chExt cx="7772781" cy="255121"/>
            </a:xfrm>
          </p:grpSpPr>
          <p:sp>
            <p:nvSpPr>
              <p:cNvPr id="1039" name="Google Shape;1039;p49"/>
              <p:cNvSpPr txBox="1"/>
              <p:nvPr/>
            </p:nvSpPr>
            <p:spPr>
              <a:xfrm>
                <a:off x="1996440" y="4444079"/>
                <a:ext cx="2600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463">
                    <a:solidFill>
                      <a:srgbClr val="1E293B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재현성 및 수렴 안정성 측정</a:t>
                </a:r>
                <a:endParaRPr b="1" sz="1463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040" name="Google Shape;1040;p49"/>
              <p:cNvSpPr/>
              <p:nvPr/>
            </p:nvSpPr>
            <p:spPr>
              <a:xfrm>
                <a:off x="4796123" y="4463701"/>
                <a:ext cx="12300" cy="235500"/>
              </a:xfrm>
              <a:prstGeom prst="rect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49"/>
              <p:cNvSpPr txBox="1"/>
              <p:nvPr/>
            </p:nvSpPr>
            <p:spPr>
              <a:xfrm>
                <a:off x="5006721" y="4450652"/>
                <a:ext cx="4762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ko" sz="1366">
                    <a:solidFill>
                      <a:srgbClr val="475569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구별 3-seed 표준편차로 학습 재현성 정량 평가</a:t>
                </a:r>
                <a:endParaRPr b="0" sz="1366">
                  <a:solidFill>
                    <a:srgbClr val="475569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1042" name="Google Shape;1042;p49"/>
            <p:cNvGrpSpPr/>
            <p:nvPr/>
          </p:nvGrpSpPr>
          <p:grpSpPr>
            <a:xfrm>
              <a:off x="1996440" y="5364194"/>
              <a:ext cx="7772781" cy="255122"/>
              <a:chOff x="1996440" y="5364194"/>
              <a:chExt cx="7772781" cy="255122"/>
            </a:xfrm>
          </p:grpSpPr>
          <p:sp>
            <p:nvSpPr>
              <p:cNvPr id="1043" name="Google Shape;1043;p49"/>
              <p:cNvSpPr txBox="1"/>
              <p:nvPr/>
            </p:nvSpPr>
            <p:spPr>
              <a:xfrm>
                <a:off x="1996440" y="5364194"/>
                <a:ext cx="2600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463">
                    <a:solidFill>
                      <a:srgbClr val="1E293B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포화 구조 문제 규명</a:t>
                </a:r>
                <a:endParaRPr b="1" sz="1463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044" name="Google Shape;1044;p49"/>
              <p:cNvSpPr/>
              <p:nvPr/>
            </p:nvSpPr>
            <p:spPr>
              <a:xfrm>
                <a:off x="4796123" y="5383816"/>
                <a:ext cx="12300" cy="235500"/>
              </a:xfrm>
              <a:prstGeom prst="rect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49"/>
              <p:cNvSpPr txBox="1"/>
              <p:nvPr/>
            </p:nvSpPr>
            <p:spPr>
              <a:xfrm>
                <a:off x="5006721" y="5370767"/>
                <a:ext cx="4762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ko" sz="1366">
                    <a:solidFill>
                      <a:srgbClr val="475569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추월 실패가 seed 문제인지 구조적 수요 포화인지 판별</a:t>
                </a:r>
                <a:endParaRPr b="0" sz="1366">
                  <a:solidFill>
                    <a:srgbClr val="475569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sp>
        <p:nvSpPr>
          <p:cNvPr id="1046" name="Google Shape;1046;p49"/>
          <p:cNvSpPr txBox="1"/>
          <p:nvPr/>
        </p:nvSpPr>
        <p:spPr>
          <a:xfrm>
            <a:off x="1190625" y="619125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75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하이퍼파라미터 고정 조건:</a:t>
            </a:r>
            <a:r>
              <a:rPr b="0" lang="ko" sz="1275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 lr=0.0001, clip_range=0.1, top-K=12 전 run 동일 적용</a:t>
            </a:r>
            <a:endParaRPr b="0" sz="1275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52" name="Google Shape;105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865" y="1460748"/>
            <a:ext cx="6217723" cy="747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3" name="Google Shape;105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865" y="2317998"/>
            <a:ext cx="6217723" cy="747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4" name="Google Shape;1054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865" y="3168253"/>
            <a:ext cx="6217723" cy="747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5" name="Google Shape;1055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865" y="4025503"/>
            <a:ext cx="6217723" cy="747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6" name="Google Shape;1056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7865" y="4875907"/>
            <a:ext cx="6217723" cy="747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7" name="Google Shape;1057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7865" y="5733157"/>
            <a:ext cx="6217723" cy="747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8" name="Google Shape;1058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24788" y="1364605"/>
            <a:ext cx="4815651" cy="512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9" name="Google Shape;1059;p5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16929" y="2983111"/>
            <a:ext cx="1231222" cy="10971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0" name="Google Shape;1060;p5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29132" y="3038029"/>
            <a:ext cx="1133743" cy="1007986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50"/>
          <p:cNvSpPr/>
          <p:nvPr/>
        </p:nvSpPr>
        <p:spPr>
          <a:xfrm>
            <a:off x="390069" y="603498"/>
            <a:ext cx="10601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150"/>
              <a:buFont typeface="Noto Sans KR"/>
              <a:buNone/>
            </a:pPr>
            <a:r>
              <a:rPr b="1" lang="ko" sz="3150">
                <a:solidFill>
                  <a:srgbClr val="21212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50"/>
          <p:cNvSpPr/>
          <p:nvPr/>
        </p:nvSpPr>
        <p:spPr>
          <a:xfrm>
            <a:off x="528194" y="1633976"/>
            <a:ext cx="34905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25"/>
              <a:buFont typeface="Noto Sans KR"/>
              <a:buNone/>
            </a:pPr>
            <a:r>
              <a:rPr b="1" i="0" lang="ko" sz="1725" u="none" cap="none" strike="noStrike">
                <a:solidFill>
                  <a:srgbClr val="212121"/>
                </a:solidFill>
                <a:latin typeface="Noto Sans KR"/>
                <a:ea typeface="Noto Sans KR"/>
                <a:cs typeface="Noto Sans KR"/>
                <a:sym typeface="Noto Sans KR"/>
              </a:rPr>
              <a:t>Best 3구: seed 안정성 최고 수준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50"/>
          <p:cNvSpPr/>
          <p:nvPr/>
        </p:nvSpPr>
        <p:spPr>
          <a:xfrm>
            <a:off x="538430" y="1900833"/>
            <a:ext cx="80475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75"/>
              <a:buFont typeface="Noto Sans KR"/>
              <a:buNone/>
            </a:pPr>
            <a:r>
              <a:rPr b="0" i="0" lang="ko" sz="1275" u="none" cap="none" strike="noStrike">
                <a:solidFill>
                  <a:srgbClr val="424242"/>
                </a:solidFill>
                <a:latin typeface="Noto Sans KR"/>
                <a:ea typeface="Noto Sans KR"/>
                <a:cs typeface="Noto Sans KR"/>
                <a:sym typeface="Noto Sans KR"/>
              </a:rPr>
              <a:t>• 노원·마포 std ≤ 1.2, 3 seed 모두 휴리스틱 추월 재현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50"/>
          <p:cNvSpPr/>
          <p:nvPr/>
        </p:nvSpPr>
        <p:spPr>
          <a:xfrm>
            <a:off x="528194" y="2470675"/>
            <a:ext cx="3361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25"/>
              <a:buFont typeface="Noto Sans KR"/>
              <a:buNone/>
            </a:pPr>
            <a:r>
              <a:rPr b="1" i="0" lang="ko" sz="1725" u="none" cap="none" strike="noStrike">
                <a:solidFill>
                  <a:srgbClr val="212121"/>
                </a:solidFill>
                <a:latin typeface="Noto Sans KR"/>
                <a:ea typeface="Noto Sans KR"/>
                <a:cs typeface="Noto Sans KR"/>
                <a:sym typeface="Noto Sans KR"/>
              </a:rPr>
              <a:t>Worst 3구: seed 무관 추월 실패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50"/>
          <p:cNvSpPr/>
          <p:nvPr/>
        </p:nvSpPr>
        <p:spPr>
          <a:xfrm>
            <a:off x="538430" y="2744242"/>
            <a:ext cx="78531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75"/>
              <a:buFont typeface="Noto Sans KR"/>
              <a:buNone/>
            </a:pPr>
            <a:r>
              <a:rPr b="0" i="0" lang="ko" sz="1275" u="none" cap="none" strike="noStrike">
                <a:solidFill>
                  <a:srgbClr val="424242"/>
                </a:solidFill>
                <a:latin typeface="Noto Sans KR"/>
                <a:ea typeface="Noto Sans KR"/>
                <a:cs typeface="Noto Sans KR"/>
                <a:sym typeface="Noto Sans KR"/>
              </a:rPr>
              <a:t>• 강서·영등포, 모든 seed에서 추월 불가 → 수요 포화가 본질 원인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50"/>
          <p:cNvSpPr/>
          <p:nvPr/>
        </p:nvSpPr>
        <p:spPr>
          <a:xfrm>
            <a:off x="528188" y="3300392"/>
            <a:ext cx="53673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25"/>
              <a:buFont typeface="Noto Sans KR"/>
              <a:buNone/>
            </a:pPr>
            <a:r>
              <a:rPr b="1" i="0" lang="ko" sz="1725" u="none" cap="none" strike="noStrike">
                <a:solidFill>
                  <a:srgbClr val="212121"/>
                </a:solidFill>
                <a:latin typeface="Noto Sans KR"/>
                <a:ea typeface="Noto Sans KR"/>
                <a:cs typeface="Noto Sans KR"/>
                <a:sym typeface="Noto Sans KR"/>
              </a:rPr>
              <a:t>포화구 학습곡선: 초반 정체 패턴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50"/>
          <p:cNvSpPr/>
          <p:nvPr/>
        </p:nvSpPr>
        <p:spPr>
          <a:xfrm>
            <a:off x="538430" y="3587800"/>
            <a:ext cx="83712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75"/>
              <a:buFont typeface="Noto Sans KR"/>
              <a:buNone/>
            </a:pPr>
            <a:r>
              <a:rPr b="0" i="0" lang="ko" sz="1275" u="none" cap="none" strike="noStrike">
                <a:solidFill>
                  <a:srgbClr val="424242"/>
                </a:solidFill>
                <a:latin typeface="Noto Sans KR"/>
                <a:ea typeface="Noto Sans KR"/>
                <a:cs typeface="Noto Sans KR"/>
                <a:sym typeface="Noto Sans KR"/>
              </a:rPr>
              <a:t>• 강서·영등포는 20~60k 초반 best 후 학습 연장해도 개선 없음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50"/>
          <p:cNvSpPr/>
          <p:nvPr/>
        </p:nvSpPr>
        <p:spPr>
          <a:xfrm>
            <a:off x="528188" y="4130258"/>
            <a:ext cx="56298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25"/>
              <a:buFont typeface="Noto Sans KR"/>
              <a:buNone/>
            </a:pPr>
            <a:r>
              <a:rPr b="1" i="0" lang="ko" sz="1725" u="none" cap="none" strike="noStrike">
                <a:solidFill>
                  <a:srgbClr val="212121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 문제 아닌 환경 구조 문제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50"/>
          <p:cNvSpPr/>
          <p:nvPr/>
        </p:nvSpPr>
        <p:spPr>
          <a:xfrm>
            <a:off x="538430" y="4424512"/>
            <a:ext cx="8954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75"/>
              <a:buFont typeface="Noto Sans KR"/>
              <a:buNone/>
            </a:pPr>
            <a:r>
              <a:rPr b="0" i="0" lang="ko" sz="1275" u="none" cap="none" strike="noStrike">
                <a:solidFill>
                  <a:srgbClr val="424242"/>
                </a:solidFill>
                <a:latin typeface="Noto Sans KR"/>
                <a:ea typeface="Noto Sans KR"/>
                <a:cs typeface="Noto Sans KR"/>
                <a:sym typeface="Noto Sans KR"/>
              </a:rPr>
              <a:t>• Worst 3 실패는 seed·하이퍼파라미터가 아닌 트럭 용량·수요 포화 병목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50"/>
          <p:cNvSpPr/>
          <p:nvPr/>
        </p:nvSpPr>
        <p:spPr>
          <a:xfrm>
            <a:off x="528188" y="4946431"/>
            <a:ext cx="6594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25"/>
              <a:buFont typeface="Noto Sans KR"/>
              <a:buNone/>
            </a:pPr>
            <a:r>
              <a:rPr b="1" i="0" lang="ko" sz="1725" u="none" cap="none" strike="noStrike">
                <a:solidFill>
                  <a:srgbClr val="212121"/>
                </a:solidFill>
                <a:latin typeface="Noto Sans KR"/>
                <a:ea typeface="Noto Sans KR"/>
                <a:cs typeface="Noto Sans KR"/>
                <a:sym typeface="Noto Sans KR"/>
              </a:rPr>
              <a:t>Best 3구 전체 통합 평가 확장 권장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50"/>
          <p:cNvSpPr/>
          <p:nvPr/>
        </p:nvSpPr>
        <p:spPr>
          <a:xfrm>
            <a:off x="538427" y="5220000"/>
            <a:ext cx="44757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75"/>
              <a:buFont typeface="Noto Sans KR"/>
              <a:buNone/>
            </a:pPr>
            <a:r>
              <a:rPr b="0" i="0" lang="ko" sz="1275" u="none" cap="none" strike="noStrike">
                <a:solidFill>
                  <a:srgbClr val="424242"/>
                </a:solidFill>
                <a:latin typeface="Noto Sans KR"/>
                <a:ea typeface="Noto Sans KR"/>
                <a:cs typeface="Noto Sans KR"/>
                <a:sym typeface="Noto Sans KR"/>
              </a:rPr>
              <a:t>• 재현성 확보된 노원·마포·구로는 25구 통합 실험으로 확장 적합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50"/>
          <p:cNvSpPr/>
          <p:nvPr/>
        </p:nvSpPr>
        <p:spPr>
          <a:xfrm>
            <a:off x="528195" y="5776150"/>
            <a:ext cx="42402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25"/>
              <a:buFont typeface="Noto Sans KR"/>
              <a:buNone/>
            </a:pPr>
            <a:r>
              <a:rPr b="1" i="0" lang="ko" sz="1725" u="none" cap="none" strike="noStrike">
                <a:solidFill>
                  <a:srgbClr val="212121"/>
                </a:solidFill>
                <a:latin typeface="Noto Sans KR"/>
                <a:ea typeface="Noto Sans KR"/>
                <a:cs typeface="Noto Sans KR"/>
                <a:sym typeface="Noto Sans KR"/>
              </a:rPr>
              <a:t>Worst 3구: 멀티에이전트·하이브리드 필요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50"/>
          <p:cNvSpPr/>
          <p:nvPr/>
        </p:nvSpPr>
        <p:spPr>
          <a:xfrm>
            <a:off x="508120" y="6077225"/>
            <a:ext cx="50640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75"/>
              <a:buFont typeface="Noto Sans KR"/>
              <a:buNone/>
            </a:pPr>
            <a:r>
              <a:rPr b="0" i="0" lang="ko" sz="1275" u="none" cap="none" strike="noStrike">
                <a:solidFill>
                  <a:srgbClr val="424242"/>
                </a:solidFill>
                <a:latin typeface="Noto Sans KR"/>
                <a:ea typeface="Noto Sans KR"/>
                <a:cs typeface="Noto Sans KR"/>
                <a:sym typeface="Noto Sans KR"/>
              </a:rPr>
              <a:t>• 단일 PPO 한계 명확 → Multi-agent 또는 휴리스틱 하이브리드 설계 권고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50"/>
          <p:cNvSpPr/>
          <p:nvPr/>
        </p:nvSpPr>
        <p:spPr>
          <a:xfrm>
            <a:off x="8424340" y="4258717"/>
            <a:ext cx="3001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725"/>
              <a:buFont typeface="Noto Sans KR"/>
              <a:buNone/>
            </a:pPr>
            <a:r>
              <a:rPr b="1" i="0" lang="ko" sz="1725" u="none" cap="none" strike="noStrike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차트 및 그래프 영역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50"/>
          <p:cNvSpPr/>
          <p:nvPr/>
        </p:nvSpPr>
        <p:spPr>
          <a:xfrm>
            <a:off x="8765743" y="4553694"/>
            <a:ext cx="1924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500"/>
              <a:buFont typeface="Noto Sans KR"/>
              <a:buNone/>
            </a:pPr>
            <a:r>
              <a:rPr b="0" i="0" lang="ko" sz="1500" u="none" cap="none" strike="noStrik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(텍스트 없음)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6" name="Google Shape;1076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78250" y="1490474"/>
            <a:ext cx="4635525" cy="253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5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924800" y="4028350"/>
            <a:ext cx="2449199" cy="128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5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407500" y="4094726"/>
            <a:ext cx="2332951" cy="121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5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978250" y="5308225"/>
            <a:ext cx="2332951" cy="121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5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407500" y="5323000"/>
            <a:ext cx="2332951" cy="116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50"/>
          <p:cNvSpPr txBox="1"/>
          <p:nvPr/>
        </p:nvSpPr>
        <p:spPr>
          <a:xfrm>
            <a:off x="390049" y="158115"/>
            <a:ext cx="285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 5 | PPO SEED</a:t>
            </a:r>
            <a:endParaRPr b="1" sz="1250">
              <a:solidFill>
                <a:srgbClr val="3B82F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51"/>
          <p:cNvSpPr/>
          <p:nvPr/>
        </p:nvSpPr>
        <p:spPr>
          <a:xfrm>
            <a:off x="658368" y="45720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ko" sz="125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DISCUSSION</a:t>
            </a:r>
            <a:endParaRPr/>
          </a:p>
        </p:txBody>
      </p:sp>
      <p:sp>
        <p:nvSpPr>
          <p:cNvPr id="1088" name="Google Shape;1088;p51"/>
          <p:cNvSpPr/>
          <p:nvPr/>
        </p:nvSpPr>
        <p:spPr>
          <a:xfrm>
            <a:off x="10070287" y="457200"/>
            <a:ext cx="146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51"/>
          <p:cNvSpPr/>
          <p:nvPr/>
        </p:nvSpPr>
        <p:spPr>
          <a:xfrm>
            <a:off x="658368" y="749808"/>
            <a:ext cx="97776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" sz="28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실험 결과에 대한 생각</a:t>
            </a:r>
            <a:endParaRPr/>
          </a:p>
        </p:txBody>
      </p:sp>
      <p:sp>
        <p:nvSpPr>
          <p:cNvPr id="1090" name="Google Shape;1090;p51"/>
          <p:cNvSpPr/>
          <p:nvPr/>
        </p:nvSpPr>
        <p:spPr>
          <a:xfrm>
            <a:off x="658375" y="1360000"/>
            <a:ext cx="10684200" cy="8901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Top-K 후보 도입 + Forecast feature 추가 — 이 두 설계 결정이 성능 향상의 핵심 동력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ko" sz="1250" u="none" cap="none" strike="noStrike">
                <a:solidFill>
                  <a:srgbClr val="5EC8FF"/>
                </a:solidFill>
                <a:latin typeface="Arial"/>
                <a:ea typeface="Arial"/>
                <a:cs typeface="Arial"/>
                <a:sym typeface="Arial"/>
              </a:rPr>
              <a:t>알고리즘 교체가 아닌 State · Action 구조 재설계로 전 알고리즘 Baseline(−448.3) 초과 달성</a:t>
            </a:r>
            <a:endParaRPr/>
          </a:p>
        </p:txBody>
      </p:sp>
      <p:sp>
        <p:nvSpPr>
          <p:cNvPr id="1091" name="Google Shape;1091;p51"/>
          <p:cNvSpPr/>
          <p:nvPr/>
        </p:nvSpPr>
        <p:spPr>
          <a:xfrm>
            <a:off x="658375" y="2530000"/>
            <a:ext cx="5199900" cy="2199900"/>
          </a:xfrm>
          <a:prstGeom prst="roundRect">
            <a:avLst>
              <a:gd fmla="val 5000" name="adj"/>
            </a:avLst>
          </a:prstGeom>
          <a:solidFill>
            <a:srgbClr val="F5F5F7"/>
          </a:solidFill>
          <a:ln>
            <a:noFill/>
          </a:ln>
          <a:effectLst>
            <a:outerShdw blurRad="114300" rotWithShape="0" algn="bl" dir="5400000" dist="381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51"/>
          <p:cNvSpPr/>
          <p:nvPr/>
        </p:nvSpPr>
        <p:spPr>
          <a:xfrm>
            <a:off x="838368" y="2690000"/>
            <a:ext cx="900000" cy="270000"/>
          </a:xfrm>
          <a:prstGeom prst="roundRect">
            <a:avLst>
              <a:gd fmla="val 5000" name="adj"/>
            </a:avLst>
          </a:prstGeom>
          <a:solidFill>
            <a:srgbClr val="007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ko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/>
          </a:p>
        </p:txBody>
      </p:sp>
      <p:sp>
        <p:nvSpPr>
          <p:cNvPr id="1093" name="Google Shape;1093;p51"/>
          <p:cNvSpPr/>
          <p:nvPr/>
        </p:nvSpPr>
        <p:spPr>
          <a:xfrm>
            <a:off x="838368" y="3132721"/>
            <a:ext cx="483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ko" sz="135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Top-K 도입 — 탐색 공간 문제 해결</a:t>
            </a:r>
            <a:endParaRPr/>
          </a:p>
        </p:txBody>
      </p:sp>
      <p:sp>
        <p:nvSpPr>
          <p:cNvPr id="1094" name="Google Shape;1094;p51"/>
          <p:cNvSpPr/>
          <p:nvPr/>
        </p:nvSpPr>
        <p:spPr>
          <a:xfrm>
            <a:off x="838368" y="3547426"/>
            <a:ext cx="4839900" cy="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300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  <a:t>146개 전체 정류소 탐색 → 점수 기반 상위 12개 후보로 축소. 이 전제 없이는 어떤 알고리즘도 안정적 학습 불가. K=3~12 Ablation에서 K 축소할수록 Best-Final Gap 감소 확인.</a:t>
            </a:r>
            <a:endParaRPr sz="1600"/>
          </a:p>
        </p:txBody>
      </p:sp>
      <p:sp>
        <p:nvSpPr>
          <p:cNvPr id="1095" name="Google Shape;1095;p51"/>
          <p:cNvSpPr/>
          <p:nvPr/>
        </p:nvSpPr>
        <p:spPr>
          <a:xfrm>
            <a:off x="6108375" y="2530000"/>
            <a:ext cx="5199900" cy="2199900"/>
          </a:xfrm>
          <a:prstGeom prst="roundRect">
            <a:avLst>
              <a:gd fmla="val 5000" name="adj"/>
            </a:avLst>
          </a:prstGeom>
          <a:solidFill>
            <a:srgbClr val="F5F5F7"/>
          </a:solidFill>
          <a:ln>
            <a:noFill/>
          </a:ln>
          <a:effectLst>
            <a:outerShdw blurRad="114300" rotWithShape="0" algn="bl" dir="5400000" dist="381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51"/>
          <p:cNvSpPr/>
          <p:nvPr/>
        </p:nvSpPr>
        <p:spPr>
          <a:xfrm>
            <a:off x="6288368" y="2690000"/>
            <a:ext cx="900000" cy="270000"/>
          </a:xfrm>
          <a:prstGeom prst="roundRect">
            <a:avLst>
              <a:gd fmla="val 5000" name="adj"/>
            </a:avLst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ko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/>
          </a:p>
        </p:txBody>
      </p:sp>
      <p:sp>
        <p:nvSpPr>
          <p:cNvPr id="1097" name="Google Shape;1097;p51"/>
          <p:cNvSpPr/>
          <p:nvPr/>
        </p:nvSpPr>
        <p:spPr>
          <a:xfrm>
            <a:off x="6288368" y="3132721"/>
            <a:ext cx="4665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ko" sz="135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Forecast 추가 — 반응적 → 선제적 전략</a:t>
            </a:r>
            <a:endParaRPr/>
          </a:p>
        </p:txBody>
      </p:sp>
      <p:sp>
        <p:nvSpPr>
          <p:cNvPr id="1098" name="Google Shape;1098;p51"/>
          <p:cNvSpPr/>
          <p:nvPr/>
        </p:nvSpPr>
        <p:spPr>
          <a:xfrm>
            <a:off x="6288368" y="3547426"/>
            <a:ext cx="4665000" cy="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300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  <a:t>현재 재고만 관측 → 1시간 후 예측 순수요(pred_net_1h) 포함. 미래 불균형 위험을 사전 감지해 선제적 재배치 학습 가능. 수요예측 feature 포함 시 에이전트 조기 수렴 패턴 확인.</a:t>
            </a:r>
            <a:endParaRPr sz="1600"/>
          </a:p>
        </p:txBody>
      </p:sp>
      <p:sp>
        <p:nvSpPr>
          <p:cNvPr id="1099" name="Google Shape;1099;p51"/>
          <p:cNvSpPr/>
          <p:nvPr/>
        </p:nvSpPr>
        <p:spPr>
          <a:xfrm>
            <a:off x="658368" y="4570000"/>
            <a:ext cx="5199900" cy="2079900"/>
          </a:xfrm>
          <a:prstGeom prst="roundRect">
            <a:avLst>
              <a:gd fmla="val 5000" name="adj"/>
            </a:avLst>
          </a:prstGeom>
          <a:solidFill>
            <a:srgbClr val="F5F5F7"/>
          </a:solidFill>
          <a:ln>
            <a:noFill/>
          </a:ln>
          <a:effectLst>
            <a:outerShdw blurRad="114300" rotWithShape="0" algn="bl" dir="5400000" dist="381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51"/>
          <p:cNvSpPr/>
          <p:nvPr/>
        </p:nvSpPr>
        <p:spPr>
          <a:xfrm>
            <a:off x="838368" y="4730000"/>
            <a:ext cx="483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8E44AD"/>
                </a:solidFill>
                <a:latin typeface="Arial"/>
                <a:ea typeface="Arial"/>
                <a:cs typeface="Arial"/>
                <a:sym typeface="Arial"/>
              </a:rPr>
              <a:t>두 설계의 상승 효과</a:t>
            </a:r>
            <a:endParaRPr/>
          </a:p>
        </p:txBody>
      </p:sp>
      <p:sp>
        <p:nvSpPr>
          <p:cNvPr id="1101" name="Google Shape;1101;p51"/>
          <p:cNvSpPr/>
          <p:nvPr/>
        </p:nvSpPr>
        <p:spPr>
          <a:xfrm>
            <a:off x="838368" y="5134706"/>
            <a:ext cx="48399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300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  <a:t>Top-K로 탐색 효율을 확보하고 Forecast로 예측 기반 의사결정까지 더하자 모든 알고리즘이 Baseline을 유의미하게 넘어섰다. 결국 알고리즘 선택보다 올바른 문제 정의와 State · Action 설계가 선행되어야 함을 입증.</a:t>
            </a:r>
            <a:endParaRPr sz="1600"/>
          </a:p>
        </p:txBody>
      </p:sp>
      <p:sp>
        <p:nvSpPr>
          <p:cNvPr id="1102" name="Google Shape;1102;p51"/>
          <p:cNvSpPr/>
          <p:nvPr/>
        </p:nvSpPr>
        <p:spPr>
          <a:xfrm>
            <a:off x="6108375" y="4570000"/>
            <a:ext cx="5199900" cy="2079900"/>
          </a:xfrm>
          <a:prstGeom prst="roundRect">
            <a:avLst>
              <a:gd fmla="val 5000" name="adj"/>
            </a:avLst>
          </a:prstGeom>
          <a:solidFill>
            <a:srgbClr val="F5F5F7"/>
          </a:solidFill>
          <a:ln>
            <a:noFill/>
          </a:ln>
          <a:effectLst>
            <a:outerShdw blurRad="114300" rotWithShape="0" algn="bl" dir="5400000" dist="381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51"/>
          <p:cNvSpPr/>
          <p:nvPr/>
        </p:nvSpPr>
        <p:spPr>
          <a:xfrm>
            <a:off x="6288368" y="4730000"/>
            <a:ext cx="4665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알고리즘 차이는 설계 기반 위의 세부 조정</a:t>
            </a:r>
            <a:endParaRPr/>
          </a:p>
        </p:txBody>
      </p:sp>
      <p:sp>
        <p:nvSpPr>
          <p:cNvPr id="1104" name="Google Shape;1104;p51"/>
          <p:cNvSpPr/>
          <p:nvPr/>
        </p:nvSpPr>
        <p:spPr>
          <a:xfrm>
            <a:off x="6288368" y="5134706"/>
            <a:ext cx="46650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300" u="none" cap="none" strike="noStrike">
                <a:solidFill>
                  <a:srgbClr val="424245"/>
                </a:solidFill>
                <a:latin typeface="Arial"/>
                <a:ea typeface="Arial"/>
                <a:cs typeface="Arial"/>
                <a:sym typeface="Arial"/>
              </a:rPr>
              <a:t>공통 기반(Top-K + Forecast)이 주어진 상황에서 알고리즘별 특성 차이가 드러남. A2C는 안정성(std 1.0), REINFORCE는 최대 Delta(+34.5) 우위. DQN · PPO의 한계도 설계 원칙 충족 후 명확히 진단 가능했다.</a:t>
            </a:r>
            <a:endParaRPr sz="1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52"/>
          <p:cNvSpPr/>
          <p:nvPr/>
        </p:nvSpPr>
        <p:spPr>
          <a:xfrm>
            <a:off x="502920" y="347472"/>
            <a:ext cx="5486400" cy="25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18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1" sz="1018">
              <a:solidFill>
                <a:srgbClr val="0071E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52"/>
          <p:cNvSpPr/>
          <p:nvPr/>
        </p:nvSpPr>
        <p:spPr>
          <a:xfrm>
            <a:off x="502920" y="621792"/>
            <a:ext cx="11155800" cy="77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활용방안: 따릉이 확장성 및 실서비스 조건</a:t>
            </a:r>
            <a:endParaRPr b="1" sz="32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1" name="Google Shape;1111;p52"/>
          <p:cNvGrpSpPr/>
          <p:nvPr/>
        </p:nvGrpSpPr>
        <p:grpSpPr>
          <a:xfrm>
            <a:off x="502920" y="1619250"/>
            <a:ext cx="11137500" cy="1143000"/>
            <a:chOff x="502920" y="1619250"/>
            <a:chExt cx="11137500" cy="1143000"/>
          </a:xfrm>
        </p:grpSpPr>
        <p:sp>
          <p:nvSpPr>
            <p:cNvPr id="1112" name="Google Shape;1112;p52"/>
            <p:cNvSpPr/>
            <p:nvPr/>
          </p:nvSpPr>
          <p:spPr>
            <a:xfrm>
              <a:off x="502920" y="1619250"/>
              <a:ext cx="11137500" cy="1143000"/>
            </a:xfrm>
            <a:prstGeom prst="roundRect">
              <a:avLst>
                <a:gd fmla="val 6666" name="adj"/>
              </a:avLst>
            </a:prstGeom>
            <a:solidFill>
              <a:srgbClr val="F5F6F8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52"/>
            <p:cNvSpPr/>
            <p:nvPr/>
          </p:nvSpPr>
          <p:spPr>
            <a:xfrm>
              <a:off x="502920" y="1619250"/>
              <a:ext cx="640200" cy="1143000"/>
            </a:xfrm>
            <a:prstGeom prst="roundRect">
              <a:avLst>
                <a:gd fmla="val 11904" name="adj"/>
              </a:avLst>
            </a:prstGeom>
            <a:solidFill>
              <a:srgbClr val="2EA84E"/>
            </a:solidFill>
            <a:ln cap="flat" cmpd="sng" w="9525">
              <a:solidFill>
                <a:srgbClr val="2EA8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52"/>
            <p:cNvSpPr txBox="1"/>
            <p:nvPr/>
          </p:nvSpPr>
          <p:spPr>
            <a:xfrm>
              <a:off x="502920" y="1619250"/>
              <a:ext cx="640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52"/>
            <p:cNvSpPr txBox="1"/>
            <p:nvPr/>
          </p:nvSpPr>
          <p:spPr>
            <a:xfrm>
              <a:off x="1298448" y="1619250"/>
              <a:ext cx="10058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따릉이 운영 보조</a:t>
              </a:r>
              <a:endParaRPr b="1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6B7B8D"/>
                  </a:solidFill>
                  <a:latin typeface="Arial"/>
                  <a:ea typeface="Arial"/>
                  <a:cs typeface="Arial"/>
                  <a:sym typeface="Arial"/>
                </a:rPr>
                <a:t>다음 1시간 수요를 반영해 어떤 정류소를 우선 방문할지 후보를 제안한다. 사람 운영자가 최종 판단하는 '재배치 우선순위 추천 도구'로 활용 가능. 현재는 simulator 기반 의사결정 보조 단계다.</a:t>
              </a:r>
              <a:endParaRPr b="0" sz="1100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6" name="Google Shape;1116;p52"/>
          <p:cNvGrpSpPr/>
          <p:nvPr/>
        </p:nvGrpSpPr>
        <p:grpSpPr>
          <a:xfrm>
            <a:off x="502920" y="2905125"/>
            <a:ext cx="11137500" cy="1143000"/>
            <a:chOff x="502920" y="2905125"/>
            <a:chExt cx="11137500" cy="1143000"/>
          </a:xfrm>
        </p:grpSpPr>
        <p:sp>
          <p:nvSpPr>
            <p:cNvPr id="1117" name="Google Shape;1117;p52"/>
            <p:cNvSpPr/>
            <p:nvPr/>
          </p:nvSpPr>
          <p:spPr>
            <a:xfrm>
              <a:off x="502920" y="2905125"/>
              <a:ext cx="11137500" cy="1143000"/>
            </a:xfrm>
            <a:prstGeom prst="roundRect">
              <a:avLst>
                <a:gd fmla="val 6666" name="adj"/>
              </a:avLst>
            </a:prstGeom>
            <a:solidFill>
              <a:srgbClr val="F5F6F8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52"/>
            <p:cNvSpPr/>
            <p:nvPr/>
          </p:nvSpPr>
          <p:spPr>
            <a:xfrm>
              <a:off x="502920" y="2905125"/>
              <a:ext cx="640200" cy="1143000"/>
            </a:xfrm>
            <a:prstGeom prst="roundRect">
              <a:avLst>
                <a:gd fmla="val 11904" name="adj"/>
              </a:avLst>
            </a:prstGeom>
            <a:solidFill>
              <a:srgbClr val="0071E3"/>
            </a:solidFill>
            <a:ln cap="flat" cmpd="sng" w="9525">
              <a:solidFill>
                <a:srgbClr val="0071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52"/>
            <p:cNvSpPr txBox="1"/>
            <p:nvPr/>
          </p:nvSpPr>
          <p:spPr>
            <a:xfrm>
              <a:off x="502920" y="2905125"/>
              <a:ext cx="640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52"/>
            <p:cNvSpPr txBox="1"/>
            <p:nvPr/>
          </p:nvSpPr>
          <p:spPr>
            <a:xfrm>
              <a:off x="1298448" y="2905125"/>
              <a:ext cx="10058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공공데이터 확장 사례</a:t>
              </a:r>
              <a:endParaRPr b="1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6B7B8D"/>
                  </a:solidFill>
                  <a:latin typeface="Arial"/>
                  <a:ea typeface="Arial"/>
                  <a:cs typeface="Arial"/>
                  <a:sym typeface="Arial"/>
                </a:rPr>
                <a:t>공영주차장 혼잡 완화, 전기차 충전소 대기 관리, 공공자전거·킥보드 재배치, 버스·택시 수요 대응. 공통점: 수요가 시간에 따라 변하고, 현재 배치가 미래 비용을 바꾼다.</a:t>
              </a:r>
              <a:endParaRPr b="0" sz="1100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1" name="Google Shape;1121;p52"/>
          <p:cNvGrpSpPr/>
          <p:nvPr/>
        </p:nvGrpSpPr>
        <p:grpSpPr>
          <a:xfrm>
            <a:off x="502920" y="4191000"/>
            <a:ext cx="11137500" cy="1143000"/>
            <a:chOff x="502920" y="4191000"/>
            <a:chExt cx="11137500" cy="1143000"/>
          </a:xfrm>
        </p:grpSpPr>
        <p:sp>
          <p:nvSpPr>
            <p:cNvPr id="1122" name="Google Shape;1122;p52"/>
            <p:cNvSpPr/>
            <p:nvPr/>
          </p:nvSpPr>
          <p:spPr>
            <a:xfrm>
              <a:off x="502920" y="4191000"/>
              <a:ext cx="11137500" cy="1143000"/>
            </a:xfrm>
            <a:prstGeom prst="roundRect">
              <a:avLst>
                <a:gd fmla="val 6666" name="adj"/>
              </a:avLst>
            </a:prstGeom>
            <a:solidFill>
              <a:srgbClr val="F5F6F8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52"/>
            <p:cNvSpPr/>
            <p:nvPr/>
          </p:nvSpPr>
          <p:spPr>
            <a:xfrm>
              <a:off x="502920" y="4191000"/>
              <a:ext cx="640200" cy="1143000"/>
            </a:xfrm>
            <a:prstGeom prst="roundRect">
              <a:avLst>
                <a:gd fmla="val 11904" name="adj"/>
              </a:avLst>
            </a:prstGeom>
            <a:solidFill>
              <a:srgbClr val="EA580C"/>
            </a:solidFill>
            <a:ln cap="flat" cmpd="sng" w="9525">
              <a:solidFill>
                <a:srgbClr val="EA58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52"/>
            <p:cNvSpPr txBox="1"/>
            <p:nvPr/>
          </p:nvSpPr>
          <p:spPr>
            <a:xfrm>
              <a:off x="502920" y="4191000"/>
              <a:ext cx="640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52"/>
            <p:cNvSpPr txBox="1"/>
            <p:nvPr/>
          </p:nvSpPr>
          <p:spPr>
            <a:xfrm>
              <a:off x="1298448" y="4191000"/>
              <a:ext cx="10058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실서비스 전 조건</a:t>
              </a:r>
              <a:endParaRPr b="1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6B7B8D"/>
                  </a:solidFill>
                  <a:latin typeface="Arial"/>
                  <a:ea typeface="Arial"/>
                  <a:cs typeface="Arial"/>
                  <a:sym typeface="Arial"/>
                </a:rPr>
                <a:t>실시간 재고 API, 차량 수/기사 근무 시간, 도로 이동 시간, 안전/교통 규칙, 정책 설명 가능성(XAI) 등 현재 시뮬레이션 기반에서 위 조건들의 추가 검증이 필요하다.</a:t>
              </a:r>
              <a:endParaRPr b="0" sz="1100">
                <a:solidFill>
                  <a:srgbClr val="6B7B8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6" name="Google Shape;1126;p52"/>
          <p:cNvSpPr/>
          <p:nvPr/>
        </p:nvSpPr>
        <p:spPr>
          <a:xfrm>
            <a:off x="502920" y="5715000"/>
            <a:ext cx="11137500" cy="762000"/>
          </a:xfrm>
          <a:prstGeom prst="roundRect">
            <a:avLst>
              <a:gd fmla="val 10000" name="adj"/>
            </a:avLst>
          </a:prstGeom>
          <a:solidFill>
            <a:srgbClr val="0F20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52"/>
          <p:cNvSpPr txBox="1"/>
          <p:nvPr/>
        </p:nvSpPr>
        <p:spPr>
          <a:xfrm>
            <a:off x="713232" y="5715000"/>
            <a:ext cx="1069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활용 범위: 공유자원 배치 · 혼잡 완화 · 재고·인력 재배치 — ‘예측 후 순차적으로 움직여야 하는’ 공공서비스 문제 전반에 응용 가능</a:t>
            </a:r>
            <a:endParaRPr b="1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53"/>
          <p:cNvSpPr/>
          <p:nvPr/>
        </p:nvSpPr>
        <p:spPr>
          <a:xfrm>
            <a:off x="402275" y="158082"/>
            <a:ext cx="381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WRAP-UP</a:t>
            </a:r>
            <a:endParaRPr b="1" sz="1250">
              <a:solidFill>
                <a:srgbClr val="3B82F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3" name="Google Shape;1133;p53"/>
          <p:cNvSpPr/>
          <p:nvPr/>
        </p:nvSpPr>
        <p:spPr>
          <a:xfrm>
            <a:off x="390069" y="560202"/>
            <a:ext cx="1143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925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결론 및 참고문헌</a:t>
            </a:r>
            <a:endParaRPr b="1" sz="2925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134" name="Google Shape;1134;p53"/>
          <p:cNvGrpSpPr/>
          <p:nvPr/>
        </p:nvGrpSpPr>
        <p:grpSpPr>
          <a:xfrm>
            <a:off x="581025" y="1507284"/>
            <a:ext cx="10191629" cy="3387635"/>
            <a:chOff x="581025" y="1507284"/>
            <a:chExt cx="10191629" cy="3387635"/>
          </a:xfrm>
        </p:grpSpPr>
        <p:sp>
          <p:nvSpPr>
            <p:cNvPr id="1135" name="Google Shape;1135;p53"/>
            <p:cNvSpPr/>
            <p:nvPr/>
          </p:nvSpPr>
          <p:spPr>
            <a:xfrm>
              <a:off x="1191254" y="1507284"/>
              <a:ext cx="9581400" cy="627300"/>
            </a:xfrm>
            <a:prstGeom prst="roundRect">
              <a:avLst>
                <a:gd fmla="val 1518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53"/>
            <p:cNvSpPr/>
            <p:nvPr/>
          </p:nvSpPr>
          <p:spPr>
            <a:xfrm>
              <a:off x="1191254" y="2427399"/>
              <a:ext cx="9581400" cy="627300"/>
            </a:xfrm>
            <a:prstGeom prst="roundRect">
              <a:avLst>
                <a:gd fmla="val 1518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53"/>
            <p:cNvSpPr/>
            <p:nvPr/>
          </p:nvSpPr>
          <p:spPr>
            <a:xfrm>
              <a:off x="1191254" y="3347504"/>
              <a:ext cx="9581400" cy="627300"/>
            </a:xfrm>
            <a:prstGeom prst="roundRect">
              <a:avLst>
                <a:gd fmla="val 1518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53"/>
            <p:cNvSpPr/>
            <p:nvPr/>
          </p:nvSpPr>
          <p:spPr>
            <a:xfrm>
              <a:off x="1191254" y="4267619"/>
              <a:ext cx="9581400" cy="627300"/>
            </a:xfrm>
            <a:prstGeom prst="roundRect">
              <a:avLst>
                <a:gd fmla="val 1518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53"/>
            <p:cNvSpPr/>
            <p:nvPr/>
          </p:nvSpPr>
          <p:spPr>
            <a:xfrm>
              <a:off x="785679" y="1768716"/>
              <a:ext cx="12300" cy="29955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53"/>
            <p:cNvSpPr/>
            <p:nvPr/>
          </p:nvSpPr>
          <p:spPr>
            <a:xfrm>
              <a:off x="581025" y="1581150"/>
              <a:ext cx="419100" cy="419100"/>
            </a:xfrm>
            <a:prstGeom prst="ellipse">
              <a:avLst/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53"/>
            <p:cNvSpPr txBox="1"/>
            <p:nvPr/>
          </p:nvSpPr>
          <p:spPr>
            <a:xfrm>
              <a:off x="581025" y="158115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142" name="Google Shape;1142;p53"/>
            <p:cNvSpPr/>
            <p:nvPr/>
          </p:nvSpPr>
          <p:spPr>
            <a:xfrm>
              <a:off x="581025" y="2505075"/>
              <a:ext cx="419100" cy="419100"/>
            </a:xfrm>
            <a:prstGeom prst="ellipse">
              <a:avLst/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53"/>
            <p:cNvSpPr txBox="1"/>
            <p:nvPr/>
          </p:nvSpPr>
          <p:spPr>
            <a:xfrm>
              <a:off x="581025" y="2505075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144" name="Google Shape;1144;p53"/>
            <p:cNvSpPr/>
            <p:nvPr/>
          </p:nvSpPr>
          <p:spPr>
            <a:xfrm>
              <a:off x="581025" y="3429000"/>
              <a:ext cx="419100" cy="419100"/>
            </a:xfrm>
            <a:prstGeom prst="ellipse">
              <a:avLst/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53"/>
            <p:cNvSpPr txBox="1"/>
            <p:nvPr/>
          </p:nvSpPr>
          <p:spPr>
            <a:xfrm>
              <a:off x="581025" y="34290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146" name="Google Shape;1146;p53"/>
            <p:cNvSpPr/>
            <p:nvPr/>
          </p:nvSpPr>
          <p:spPr>
            <a:xfrm>
              <a:off x="581025" y="4352925"/>
              <a:ext cx="419100" cy="419100"/>
            </a:xfrm>
            <a:prstGeom prst="ellipse">
              <a:avLst/>
            </a:prstGeom>
            <a:solidFill>
              <a:srgbClr val="D946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53"/>
            <p:cNvSpPr txBox="1"/>
            <p:nvPr/>
          </p:nvSpPr>
          <p:spPr>
            <a:xfrm>
              <a:off x="581025" y="4352925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!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1148" name="Google Shape;1148;p53"/>
            <p:cNvGrpSpPr/>
            <p:nvPr/>
          </p:nvGrpSpPr>
          <p:grpSpPr>
            <a:xfrm>
              <a:off x="1428750" y="1609725"/>
              <a:ext cx="9096375" cy="419100"/>
              <a:chOff x="1428750" y="1609725"/>
              <a:chExt cx="9096375" cy="419100"/>
            </a:xfrm>
          </p:grpSpPr>
          <p:sp>
            <p:nvSpPr>
              <p:cNvPr id="1149" name="Google Shape;1149;p53"/>
              <p:cNvSpPr txBox="1"/>
              <p:nvPr/>
            </p:nvSpPr>
            <p:spPr>
              <a:xfrm>
                <a:off x="1428750" y="1609725"/>
                <a:ext cx="2857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460">
                    <a:solidFill>
                      <a:srgbClr val="1E293B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순차 의사결정 문제 정의</a:t>
                </a:r>
                <a:endParaRPr b="1" sz="1460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150" name="Google Shape;1150;p53"/>
              <p:cNvSpPr/>
              <p:nvPr/>
            </p:nvSpPr>
            <p:spPr>
              <a:xfrm>
                <a:off x="4791075" y="1695450"/>
                <a:ext cx="12300" cy="235200"/>
              </a:xfrm>
              <a:prstGeom prst="rect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53"/>
              <p:cNvSpPr txBox="1"/>
              <p:nvPr/>
            </p:nvSpPr>
            <p:spPr>
              <a:xfrm>
                <a:off x="5000625" y="1685925"/>
                <a:ext cx="5524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ko" sz="1360">
                    <a:solidFill>
                      <a:srgbClr val="475569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따릉이 재배치는 정류소 재고와 미래 수요가 함께 변하는 순차 의사결정 문제다.</a:t>
                </a:r>
                <a:endParaRPr b="0" sz="1360">
                  <a:solidFill>
                    <a:srgbClr val="475569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1152" name="Google Shape;1152;p53"/>
            <p:cNvGrpSpPr/>
            <p:nvPr/>
          </p:nvGrpSpPr>
          <p:grpSpPr>
            <a:xfrm>
              <a:off x="1428750" y="2524125"/>
              <a:ext cx="9096375" cy="419100"/>
              <a:chOff x="1428750" y="2524125"/>
              <a:chExt cx="9096375" cy="419100"/>
            </a:xfrm>
          </p:grpSpPr>
          <p:sp>
            <p:nvSpPr>
              <p:cNvPr id="1153" name="Google Shape;1153;p53"/>
              <p:cNvSpPr txBox="1"/>
              <p:nvPr/>
            </p:nvSpPr>
            <p:spPr>
              <a:xfrm>
                <a:off x="1428750" y="2524125"/>
                <a:ext cx="2857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460">
                    <a:solidFill>
                      <a:srgbClr val="1E293B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핵심 설계 및 문제 축소</a:t>
                </a:r>
                <a:endParaRPr b="1" sz="1460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154" name="Google Shape;1154;p53"/>
              <p:cNvSpPr/>
              <p:nvPr/>
            </p:nvSpPr>
            <p:spPr>
              <a:xfrm>
                <a:off x="4791075" y="2619375"/>
                <a:ext cx="12300" cy="235200"/>
              </a:xfrm>
              <a:prstGeom prst="rect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53"/>
              <p:cNvSpPr txBox="1"/>
              <p:nvPr/>
            </p:nvSpPr>
            <p:spPr>
              <a:xfrm>
                <a:off x="5000625" y="2609850"/>
                <a:ext cx="5524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ko" sz="1360">
                    <a:solidFill>
                      <a:srgbClr val="475569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ML 수요예측 State 제공 및 Top-K 행동 구조로 RL 탐색 크기 축소</a:t>
                </a:r>
                <a:endParaRPr b="0" sz="1360">
                  <a:solidFill>
                    <a:srgbClr val="475569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1156" name="Google Shape;1156;p53"/>
            <p:cNvGrpSpPr/>
            <p:nvPr/>
          </p:nvGrpSpPr>
          <p:grpSpPr>
            <a:xfrm>
              <a:off x="1428750" y="3448050"/>
              <a:ext cx="9096375" cy="419100"/>
              <a:chOff x="1428750" y="3448050"/>
              <a:chExt cx="9096375" cy="419100"/>
            </a:xfrm>
          </p:grpSpPr>
          <p:sp>
            <p:nvSpPr>
              <p:cNvPr id="1157" name="Google Shape;1157;p53"/>
              <p:cNvSpPr txBox="1"/>
              <p:nvPr/>
            </p:nvSpPr>
            <p:spPr>
              <a:xfrm>
                <a:off x="1428750" y="3448050"/>
                <a:ext cx="2857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460">
                    <a:solidFill>
                      <a:srgbClr val="1E293B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알고리즘별 안정성 평가</a:t>
                </a:r>
                <a:endParaRPr b="1" sz="1460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158" name="Google Shape;1158;p53"/>
              <p:cNvSpPr/>
              <p:nvPr/>
            </p:nvSpPr>
            <p:spPr>
              <a:xfrm>
                <a:off x="4791075" y="3543300"/>
                <a:ext cx="12300" cy="235200"/>
              </a:xfrm>
              <a:prstGeom prst="rect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53"/>
              <p:cNvSpPr txBox="1"/>
              <p:nvPr/>
            </p:nvSpPr>
            <p:spPr>
              <a:xfrm>
                <a:off x="5000625" y="3524250"/>
                <a:ext cx="5524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ko" sz="1360">
                    <a:solidFill>
                      <a:srgbClr val="475569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Delta · Best-Final gap · seed std 복합 지표를 통한 안정성 분석</a:t>
                </a:r>
                <a:endParaRPr b="0" sz="1360">
                  <a:solidFill>
                    <a:srgbClr val="475569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1160" name="Google Shape;1160;p53"/>
            <p:cNvGrpSpPr/>
            <p:nvPr/>
          </p:nvGrpSpPr>
          <p:grpSpPr>
            <a:xfrm>
              <a:off x="1428750" y="4371975"/>
              <a:ext cx="9096375" cy="419100"/>
              <a:chOff x="1428750" y="4371975"/>
              <a:chExt cx="9096375" cy="419100"/>
            </a:xfrm>
          </p:grpSpPr>
          <p:sp>
            <p:nvSpPr>
              <p:cNvPr id="1161" name="Google Shape;1161;p53"/>
              <p:cNvSpPr txBox="1"/>
              <p:nvPr/>
            </p:nvSpPr>
            <p:spPr>
              <a:xfrm>
                <a:off x="1428750" y="4371975"/>
                <a:ext cx="2857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460">
                    <a:solidFill>
                      <a:srgbClr val="D946E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핵심 메시지</a:t>
                </a:r>
                <a:endParaRPr b="1" sz="1460">
                  <a:solidFill>
                    <a:srgbClr val="D946E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162" name="Google Shape;1162;p53"/>
              <p:cNvSpPr/>
              <p:nvPr/>
            </p:nvSpPr>
            <p:spPr>
              <a:xfrm>
                <a:off x="4791075" y="4457700"/>
                <a:ext cx="12300" cy="235200"/>
              </a:xfrm>
              <a:prstGeom prst="rect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53"/>
              <p:cNvSpPr txBox="1"/>
              <p:nvPr/>
            </p:nvSpPr>
            <p:spPr>
              <a:xfrm>
                <a:off x="5000625" y="4448175"/>
                <a:ext cx="5524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360">
                    <a:solidFill>
                      <a:srgbClr val="475569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단순 알고리즘 실험을 넘어, RL용 MDP와 평가 프로토콜 구축이 핵심</a:t>
                </a:r>
                <a:endParaRPr b="1" sz="1360">
                  <a:solidFill>
                    <a:srgbClr val="475569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1164" name="Google Shape;1164;p53"/>
          <p:cNvGrpSpPr/>
          <p:nvPr/>
        </p:nvGrpSpPr>
        <p:grpSpPr>
          <a:xfrm>
            <a:off x="762000" y="5143500"/>
            <a:ext cx="10668000" cy="1428900"/>
            <a:chOff x="762000" y="5143500"/>
            <a:chExt cx="10668000" cy="1428900"/>
          </a:xfrm>
        </p:grpSpPr>
        <p:sp>
          <p:nvSpPr>
            <p:cNvPr id="1165" name="Google Shape;1165;p53"/>
            <p:cNvSpPr/>
            <p:nvPr/>
          </p:nvSpPr>
          <p:spPr>
            <a:xfrm>
              <a:off x="762000" y="5143500"/>
              <a:ext cx="10668000" cy="1428900"/>
            </a:xfrm>
            <a:prstGeom prst="roundRect">
              <a:avLst>
                <a:gd fmla="val 6666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53"/>
            <p:cNvSpPr txBox="1"/>
            <p:nvPr/>
          </p:nvSpPr>
          <p:spPr>
            <a:xfrm>
              <a:off x="952500" y="5238750"/>
              <a:ext cx="10287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79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▶ 참고문헌</a:t>
              </a:r>
              <a:endParaRPr b="1" sz="879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4401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334155"/>
                </a:buClr>
                <a:buSzPts val="879"/>
                <a:buFont typeface="Arial"/>
                <a:buChar char="●"/>
              </a:pPr>
              <a:r>
                <a:rPr b="0" lang="ko" sz="879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Liang et al. (2024) — BSS dynamic rebalancing MDP 정의 → 3p/6p 근거</a:t>
              </a:r>
              <a:endParaRPr b="0" sz="879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4401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879"/>
                <a:buFont typeface="Arial"/>
                <a:buChar char="●"/>
              </a:pPr>
              <a:r>
                <a:rPr b="0" lang="ko" sz="879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KDD 2018 demand prediction — hourly station-level rentals/returns → 5p/6p State 근거</a:t>
              </a:r>
              <a:endParaRPr b="0" sz="879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4401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879"/>
                <a:buFont typeface="Arial"/>
                <a:buChar char="●"/>
              </a:pPr>
              <a:r>
                <a:rPr b="0" lang="ko" sz="879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PPO bike rebalancing / data-driven rebalancing studies → 7p Hybrid 구조 근거</a:t>
              </a:r>
              <a:endParaRPr b="0" sz="879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4401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879"/>
                <a:buFont typeface="Arial"/>
                <a:buChar char="●"/>
              </a:pPr>
              <a:r>
                <a:rPr b="0" lang="ko" sz="879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Dulac-Arnold et al. (2015), Action Elimination (2018) → 4p/6p Top-K 근거</a:t>
              </a:r>
              <a:endParaRPr b="0" sz="879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4401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879"/>
                <a:buFont typeface="Arial"/>
                <a:buChar char="●"/>
              </a:pPr>
              <a:r>
                <a:rPr b="0" lang="ko" sz="879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Schulman et al. (2017) — PPO clipped surrogate objective → 8p/13p PPO 안정화 근거</a:t>
              </a:r>
              <a:endParaRPr b="0" sz="879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4401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879"/>
                <a:buFont typeface="Arial"/>
                <a:buChar char="●"/>
              </a:pPr>
              <a:r>
                <a:rPr b="0" lang="ko" sz="879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Henderson et al. (2018) — RL seed variance → 4p/10p seed 평가 근거</a:t>
              </a:r>
              <a:endParaRPr b="0" sz="879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4401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879"/>
                <a:buFont typeface="Arial"/>
                <a:buChar char="●"/>
              </a:pPr>
              <a:r>
                <a:rPr b="0" lang="ko" sz="879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Sutton &amp; Barto (2018) — MDP, return, TD/MC 기본 개념 → 3p/8p 용어 근거</a:t>
              </a:r>
              <a:endParaRPr b="0" sz="879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54"/>
          <p:cNvSpPr txBox="1"/>
          <p:nvPr/>
        </p:nvSpPr>
        <p:spPr>
          <a:xfrm>
            <a:off x="657225" y="45720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END OF DOCUMENT</a:t>
            </a:r>
            <a:endParaRPr b="1" sz="1250">
              <a:solidFill>
                <a:srgbClr val="0071E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54"/>
          <p:cNvSpPr txBox="1"/>
          <p:nvPr/>
        </p:nvSpPr>
        <p:spPr>
          <a:xfrm>
            <a:off x="657225" y="2548275"/>
            <a:ext cx="9525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800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감사합니다</a:t>
            </a:r>
            <a:endParaRPr b="1" sz="4800">
              <a:solidFill>
                <a:srgbClr val="1D1D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8" name="Google Shape;117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905500"/>
            <a:ext cx="121920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